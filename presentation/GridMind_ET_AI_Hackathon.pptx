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case" id="{1f06ddc0-a7ac-9274-7eec-8e5f12e614d4}">
          <p14:sldIdLst>
            <p14:sldId id="256"/>
            <p14:sldId id="257"/>
            <p14:sldId id="258"/>
          </p14:sldIdLst>
        </p14:section>
        <p14:section name="The design" id="{c3a172be-c13d-7e65-b295-b5d0cf285f92}">
          <p14:sldIdLst>
            <p14:sldId id="259"/>
            <p14:sldId id="260"/>
            <p14:sldId id="261"/>
            <p14:sldId id="262"/>
            <p14:sldId id="263"/>
            <p14:sldId id="264"/>
          </p14:sldIdLst>
        </p14:section>
        <p14:section name="Evidence" id="{c9e4d1f6-c501-4e74-9bd8-ee03d3552002}">
          <p14:sldIdLst>
            <p14:sldId id="265"/>
            <p14:sldId id="266"/>
            <p14:sldId id="267"/>
          </p14:sldIdLst>
        </p14:section>
        <p14:section name="The claim" id="{0dde6b79-11bc-bc82-9390-3dd72908aeb4}">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GridMind runs a renewable portfolio on a 15-minute loop. An LLM-driven agent chooses the strategy, a solver computes the megawatts, and code checks safety before anything executes. We claim D2 / F3 and the deck shows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scenario from the problem statement, made concrete: a fictional Karnataka utility, Deccan Renewables. The user is the shift dispatch manager at the control room desk. Every one of the eight disturbances shown is something the demo can inject.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stresses that this is not classical single-objective optimisation. The operator has four groups of actions and at least six goals that conflict. The penalties on the right are the assumptions we configured for the case; they are what make a wrong call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the whole architecture hangs on. It is how we get agentic behaviour and demonstrable reliability at once: reasoning is the model's job, arithmetic is the solver's job, and safety is plain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Sense: the simulator and forecaster give the current state and an 8-hour view with uncertainty bands. Reason: the monitor decides whether anything needs a re-plan, the strategy agent picks an operating mode and calls its three tools. Gate: every candidate plan passes deterministic guardrails; if it fails twice, a safe-mode heuristic takes over. Act: only the first interval is executed, everything is logged, and the explainer writes the briefing shown on the dashboard. The full component table is in 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model usage to be explicit. Three components use the LLM, and all three are about judgement and language. The four shaded rows are deterministic. The rule-based stand-in is also how the system runs fully offline. Solver: PuLP with CBC.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the solution should make the optimality criteria clear and show how actions are chosen when objectives conflict. The table answers the first half: six named modes, each a weight vector and a reserve floor. The ladder answers the second half: penalties are ordered so that protecting critical load always beats holding reserve, which beats avoiding a contract shortfall, which beats any market price. Battery wear is priced at ₹500 per MWh of throughput, so the batteries only cycle when the price spread justifies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of uncertainty handling. Forecast cones instead of point forecasts. Monte Carlo scoring of each candidate plan so the agent compares tail risk, not just expected cost. And rolling re-planning: only the first interval of each 8-hour plan is ever executed. The nine disturbance types cover every example in the problem statement. This slide is the basis of the F2 and F3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reliability argument behind D2. On the left, the hard checks every plan passes before it reaches the executor. On the right, the fallback ladder: the system degrades in steps and always ends in a known-safe dispatch. Human oversight sits on top: the operator can pause, step through intervals, require approval, or override a setpoint, and overrides are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dashboard here. Run the preset day in the Control Room, pause after each event, and open Agent Reasoning to show the mode chosen, the tool calls made and the plans compared. Then open the Decision Log to show the audit entry for that interval. Offer to inject an event of the judges' choosing from the Event Injector.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strategies face the same summer weather and the same injected disturbances. The rule baseline is a conventional if-then dispatch. The fixed-weight solver is the same optimiser with one static objective. GridMind adds the agent layer that changes mode and weights as the day unfolds. Be direct about the breakdown: the large gap is rules versus optimisation; the agent's incremental gain on cost is small on this day. Presenter check before the session: confirm whether these figures were produced with the live model or the rule-based stand-in, and say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for 'high degree of demonstrable reliability'. Thirty days back to back, 21 random disturbances, and not one hard-constraint violation or megawatt-hour of critical load lost. Note what is and is not zero: contract shortfall is not zero, because shortfall is a priced trade-off, not a hard constraint. The run takes about six minutes and anyone can reproduce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penalises both over- and under-estimation, so state the claim and the reasoning plainly. D2 because inputs are structured and reliability is demonstrated, not asserted. F3 because the system does everything F1 and F2 require and also simulates the portfolio over time under varying inputs. We stop short of D3 because nothing in the system reads images, audio or other unstructured sensor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for the judges: the eight evaluation parameters from the brief, each with the one piece of evidence that answers it. Use this slide to take questions; each card points back to an earlier slide or a dashboard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the judges ask. The brief lists grid frequency and maintenance actions among possible inputs and actions; we chose not to cover them, and we do not claim them. Everything shown runs on a simulator built from real historical weather for the eight sites and modelled price and demand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things the brief asks every submission to include, a working demo and a detailed structural architecture, and restate the claim. Then take questions; the evaluation slide is the best one to return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11094415"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2011680"/>
            <a:ext cx="11094415"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4" name="Text 0"/>
          <p:cNvSpPr/>
          <p:nvPr>
            <p:ph idx="102" type="body" hasCustomPrompt="1"/>
          </p:nvPr>
        </p:nvSpPr>
        <p:spPr>
          <a:xfrm>
            <a:off x="548640" y="3337560"/>
            <a:ext cx="8412480" cy="1005840"/>
          </a:xfrm>
          <a:prstGeom prst="rect">
            <a:avLst/>
          </a:prstGeom>
          <a:noFill/>
          <a:ln/>
        </p:spPr>
        <p:txBody>
          <a:bodyPr wrap="square" rtlCol="0"/>
          <a:lstStyle>
            <a:lvl1pPr indent="0" marL="0">
              <a:buNone/>
              <a:defRPr lang="en-US" sz="2400" dirty="0">
                <a:solidFill>
                  <a:schemeClr val="bg1"/>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GridMind · ET AI Hackathon: Agentic Edition · Problem 4</a:t>
            </a:r>
            <a:endParaRPr lang="en-US" sz="1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11094415" cy="320040"/>
          </a:xfrm>
          <a:prstGeom prst="rect">
            <a:avLst/>
          </a:prstGeom>
          <a:noFill/>
          <a:ln/>
        </p:spPr>
        <p:txBody>
          <a:bodyPr wrap="square" rtlCol="0"/>
          <a:lstStyle>
            <a:lvl1pPr indent="0" marL="0">
              <a:buNone/>
              <a:defRPr lang="en-US" sz="1300" b="1" spc="200" kern="0" dirty="0">
                <a:solidFill>
                  <a:schemeClr val="tx1"/>
                </a:solidFill>
              </a:defRPr>
            </a:lvl1pPr>
          </a:lstStyle>
          <a:p>
            <a:pPr indent="0" marL="0">
              <a:buNone/>
            </a:pPr>
            <a:endParaRPr lang="en-US" sz="1300" dirty="0"/>
          </a:p>
        </p:txBody>
      </p:sp>
      <p:sp>
        <p:nvSpPr>
          <p:cNvPr id="3" name="Text 0"/>
          <p:cNvSpPr/>
          <p:nvPr>
            <p:ph idx="101" type="title" hasCustomPrompt="1"/>
          </p:nvPr>
        </p:nvSpPr>
        <p:spPr>
          <a:xfrm>
            <a:off x="548640" y="1554480"/>
            <a:ext cx="11094415" cy="27432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4754880"/>
            <a:ext cx="9326880" cy="1188720"/>
          </a:xfrm>
          <a:prstGeom prst="rect">
            <a:avLst/>
          </a:prstGeom>
          <a:noFill/>
          <a:ln/>
        </p:spPr>
        <p:txBody>
          <a:bodyPr wrap="square" rtlCol="0"/>
          <a:lstStyle>
            <a:lvl1pPr indent="0" marL="0">
              <a:buNone/>
              <a:defRPr lang="en-US" sz="1800" dirty="0">
                <a:solidFill>
                  <a:schemeClr val="tx1"/>
                </a:solidFill>
              </a:defRPr>
            </a:lvl1pPr>
          </a:lstStyle>
          <a:p>
            <a:pPr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11094415"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1371600"/>
            <a:ext cx="10241280" cy="23774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11094415" cy="320040"/>
          </a:xfrm>
          <a:prstGeom prst="rect">
            <a:avLst/>
          </a:prstGeom>
          <a:noFill/>
          <a:ln/>
        </p:spPr>
        <p:txBody>
          <a:bodyPr wrap="square" lIns="0" tIns="0" rIns="0" bIns="0" rtlCol="0"/>
          <a:lstStyle/>
          <a:p>
            <a:pPr indent="0" marL="0">
              <a:buNone/>
            </a:pPr>
            <a:r>
              <a:rPr lang="en-US" sz="1300" b="1" spc="200" kern="0" dirty="0">
                <a:solidFill>
                  <a:schemeClr val="accent1"/>
                </a:solidFill>
              </a:rPr>
              <a:t>ET AI HACKATHON: AGENTIC EDITION · PROBLEM 4, UTILITIES</a:t>
            </a:r>
            <a:endParaRPr lang="en-US" sz="1300" dirty="0"/>
          </a:p>
        </p:txBody>
      </p:sp>
      <p:sp>
        <p:nvSpPr>
          <p:cNvPr id="3" name="Text 0"/>
          <p:cNvSpPr/>
          <p:nvPr>
            <p:ph idx="101" type="title" hasCustomPrompt="1"/>
          </p:nvPr>
        </p:nvSpPr>
        <p:spPr>
          <a:xfrm>
            <a:off x="548640" y="2011680"/>
            <a:ext cx="11094415" cy="1188720"/>
          </a:xfrm>
          <a:prstGeom prst="rect">
            <a:avLst/>
          </a:prstGeom>
          <a:noFill/>
          <a:ln/>
        </p:spPr>
        <p:txBody>
          <a:bodyPr wrap="square" lIns="0" tIns="0" rIns="0" bIns="0" rtlCol="0" anchor="t"/>
          <a:lstStyle/>
          <a:p>
            <a:pPr algn="l" indent="0" marL="0">
              <a:buNone/>
            </a:pPr>
            <a:r>
              <a:rPr lang="en-US" sz="6600" b="1" dirty="0">
                <a:solidFill>
                  <a:schemeClr val="bg1"/>
                </a:solidFill>
              </a:rPr>
              <a:t>GridMind</a:t>
            </a:r>
            <a:endParaRPr lang="en-US" sz="6600" dirty="0"/>
          </a:p>
        </p:txBody>
      </p:sp>
      <p:sp>
        <p:nvSpPr>
          <p:cNvPr id="4" name="Text 0"/>
          <p:cNvSpPr/>
          <p:nvPr>
            <p:ph idx="102" type="body" hasCustomPrompt="1"/>
          </p:nvPr>
        </p:nvSpPr>
        <p:spPr>
          <a:xfrm>
            <a:off x="548640" y="3337560"/>
            <a:ext cx="8412480" cy="1005840"/>
          </a:xfrm>
          <a:prstGeom prst="rect">
            <a:avLst/>
          </a:prstGeom>
          <a:noFill/>
          <a:ln/>
        </p:spPr>
        <p:txBody>
          <a:bodyPr wrap="square" lIns="0" tIns="0" rIns="0" bIns="0" rtlCol="0" anchor="t"/>
          <a:lstStyle/>
          <a:p>
            <a:pPr indent="0" marL="0">
              <a:buNone/>
            </a:pPr>
            <a:r>
              <a:rPr lang="en-US" sz="2400" dirty="0">
                <a:solidFill>
                  <a:schemeClr val="bg1"/>
                </a:solidFill>
              </a:rPr>
              <a:t>An agentic orchestrator for a solar, wind and battery portfolio, re-planned every 15 minutes</a:t>
            </a:r>
            <a:endParaRPr lang="en-US" sz="2400" dirty="0"/>
          </a:p>
        </p:txBody>
      </p:sp>
      <p:sp>
        <p:nvSpPr>
          <p:cNvPr id="5" name="text-1"/>
          <p:cNvSpPr txBox="1"/>
          <p:nvPr/>
        </p:nvSpPr>
        <p:spPr>
          <a:xfrm>
            <a:off x="548640" y="5440680"/>
            <a:ext cx="6400800" cy="365760"/>
          </a:xfrm>
          <a:prstGeom prst="rect">
            <a:avLst/>
          </a:prstGeom>
          <a:noFill/>
          <a:ln/>
        </p:spPr>
        <p:txBody>
          <a:bodyPr wrap="square" lIns="0" tIns="0" rIns="0" bIns="0" rtlCol="0" anchor="t"/>
          <a:lstStyle/>
          <a:p>
            <a:pPr indent="0" marL="0">
              <a:buNone/>
            </a:pPr>
            <a:r>
              <a:rPr lang="en-US" sz="1800" dirty="0">
                <a:solidFill>
                  <a:schemeClr val="bg1"/>
                </a:solidFill>
              </a:rPr>
              <a:t>[Team name] · [Team members]</a:t>
            </a:r>
            <a:endParaRPr lang="en-US" sz="1800" dirty="0"/>
          </a:p>
        </p:txBody>
      </p:sp>
      <p:sp>
        <p:nvSpPr>
          <p:cNvPr id="6" name="text-2"/>
          <p:cNvSpPr txBox="1"/>
          <p:nvPr/>
        </p:nvSpPr>
        <p:spPr>
          <a:xfrm>
            <a:off x="548640" y="5852160"/>
            <a:ext cx="6858000" cy="320040"/>
          </a:xfrm>
          <a:prstGeom prst="rect">
            <a:avLst/>
          </a:prstGeom>
          <a:noFill/>
          <a:ln/>
        </p:spPr>
        <p:txBody>
          <a:bodyPr wrap="square" lIns="0" tIns="0" rIns="0" bIns="0" rtlCol="0" anchor="t"/>
          <a:lstStyle/>
          <a:p>
            <a:pPr indent="0" marL="0">
              <a:buNone/>
            </a:pPr>
            <a:r>
              <a:rPr lang="en-US" sz="1400" dirty="0">
                <a:solidFill>
                  <a:schemeClr val="accent6"/>
                </a:solidFill>
              </a:rPr>
              <a:t>Case client: Deccan Renewables Pvt. Ltd., Karnataka (fictional)</a:t>
            </a:r>
            <a:endParaRPr lang="en-US" sz="1400" dirty="0"/>
          </a:p>
        </p:txBody>
      </p:sp>
      <p:sp>
        <p:nvSpPr>
          <p:cNvPr id="7" name="claim-pill"/>
          <p:cNvSpPr/>
          <p:nvPr/>
        </p:nvSpPr>
        <p:spPr>
          <a:xfrm>
            <a:off x="7802575" y="5532120"/>
            <a:ext cx="3840480" cy="594360"/>
          </a:xfrm>
          <a:prstGeom prst="roundRect">
            <a:avLst>
              <a:gd name="adj" fmla="val 12308"/>
            </a:avLst>
          </a:prstGeom>
          <a:solidFill>
            <a:schemeClr val="accent1"/>
          </a:solidFill>
          <a:ln/>
        </p:spPr>
        <p:txBody>
          <a:bodyPr wrap="square" lIns="0" tIns="0" rIns="0" bIns="0" rtlCol="0" anchor="ctr"/>
          <a:lstStyle/>
          <a:p>
            <a:pPr algn="ctr" indent="0" marL="0">
              <a:buNone/>
            </a:pPr>
            <a:r>
              <a:rPr lang="en-US" sz="1800" b="1" dirty="0">
                <a:solidFill>
                  <a:schemeClr val="tx1"/>
                </a:solidFill>
              </a:rPr>
              <a:t>Self-assessed position: D2 / F3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THE CASE</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A portfolio that changes every 15 minutes</a:t>
            </a:r>
            <a:endParaRPr lang="en-US" sz="3400" dirty="0"/>
          </a:p>
        </p:txBody>
      </p:sp>
      <p:sp>
        <p:nvSpPr>
          <p:cNvPr id="5" name="card-3"/>
          <p:cNvSpPr/>
          <p:nvPr/>
        </p:nvSpPr>
        <p:spPr>
          <a:xfrm>
            <a:off x="548640" y="1737360"/>
            <a:ext cx="2567864" cy="1783080"/>
          </a:xfrm>
          <a:prstGeom prst="roundRect">
            <a:avLst>
              <a:gd name="adj" fmla="val 4103"/>
            </a:avLst>
          </a:prstGeom>
          <a:solidFill>
            <a:schemeClr val="bg2"/>
          </a:solidFill>
          <a:ln/>
        </p:spPr>
      </p:sp>
      <p:sp>
        <p:nvSpPr>
          <p:cNvPr id="6" name="text-4"/>
          <p:cNvSpPr txBox="1"/>
          <p:nvPr/>
        </p:nvSpPr>
        <p:spPr>
          <a:xfrm>
            <a:off x="777240" y="1920240"/>
            <a:ext cx="2110664" cy="640080"/>
          </a:xfrm>
          <a:prstGeom prst="rect">
            <a:avLst/>
          </a:prstGeom>
          <a:noFill/>
          <a:ln/>
        </p:spPr>
        <p:txBody>
          <a:bodyPr wrap="square" lIns="0" tIns="0" rIns="0" bIns="0" rtlCol="0" anchor="t"/>
          <a:lstStyle/>
          <a:p>
            <a:pPr indent="0" marL="0">
              <a:buNone/>
            </a:pPr>
            <a:r>
              <a:rPr lang="en-US" sz="3400" b="1" dirty="0">
                <a:solidFill>
                  <a:schemeClr val="tx1"/>
                </a:solidFill>
                <a:latin typeface="+mj-lt" pitchFamily="34" charset="0"/>
                <a:ea typeface="+mj-lt" pitchFamily="34" charset="-122"/>
                <a:cs typeface="+mj-lt" pitchFamily="34" charset="-120"/>
              </a:rPr>
              <a:t>740 MW</a:t>
            </a:r>
            <a:endParaRPr lang="en-US" sz="3400" dirty="0"/>
          </a:p>
        </p:txBody>
      </p:sp>
      <p:sp>
        <p:nvSpPr>
          <p:cNvPr id="7" name="text-5"/>
          <p:cNvSpPr txBox="1"/>
          <p:nvPr/>
        </p:nvSpPr>
        <p:spPr>
          <a:xfrm>
            <a:off x="777240" y="2578608"/>
            <a:ext cx="2110664" cy="822960"/>
          </a:xfrm>
          <a:prstGeom prst="rect">
            <a:avLst/>
          </a:prstGeom>
          <a:noFill/>
          <a:ln/>
        </p:spPr>
        <p:txBody>
          <a:bodyPr wrap="square" lIns="0" tIns="0" rIns="0" bIns="0" rtlCol="0" anchor="t"/>
          <a:lstStyle/>
          <a:p>
            <a:pPr indent="0" marL="0">
              <a:buNone/>
            </a:pPr>
            <a:r>
              <a:rPr lang="en-US" sz="1400" dirty="0">
                <a:solidFill>
                  <a:schemeClr val="tx2"/>
                </a:solidFill>
              </a:rPr>
              <a:t>Generation: 5 solar parks and 3 wind farms across Karnataka</a:t>
            </a:r>
            <a:endParaRPr lang="en-US" sz="1400" dirty="0"/>
          </a:p>
        </p:txBody>
      </p:sp>
      <p:sp>
        <p:nvSpPr>
          <p:cNvPr id="8" name="card-6"/>
          <p:cNvSpPr/>
          <p:nvPr/>
        </p:nvSpPr>
        <p:spPr>
          <a:xfrm>
            <a:off x="3390824" y="1737360"/>
            <a:ext cx="2567864" cy="1783080"/>
          </a:xfrm>
          <a:prstGeom prst="roundRect">
            <a:avLst>
              <a:gd name="adj" fmla="val 4103"/>
            </a:avLst>
          </a:prstGeom>
          <a:solidFill>
            <a:schemeClr val="bg2"/>
          </a:solidFill>
          <a:ln/>
        </p:spPr>
      </p:sp>
      <p:sp>
        <p:nvSpPr>
          <p:cNvPr id="9" name="text-7"/>
          <p:cNvSpPr txBox="1"/>
          <p:nvPr/>
        </p:nvSpPr>
        <p:spPr>
          <a:xfrm>
            <a:off x="3619424" y="1920240"/>
            <a:ext cx="2110664" cy="640080"/>
          </a:xfrm>
          <a:prstGeom prst="rect">
            <a:avLst/>
          </a:prstGeom>
          <a:noFill/>
          <a:ln/>
        </p:spPr>
        <p:txBody>
          <a:bodyPr wrap="square" lIns="0" tIns="0" rIns="0" bIns="0" rtlCol="0" anchor="t"/>
          <a:lstStyle/>
          <a:p>
            <a:pPr indent="0" marL="0">
              <a:buNone/>
            </a:pPr>
            <a:r>
              <a:rPr lang="en-US" sz="3400" b="1" dirty="0">
                <a:solidFill>
                  <a:schemeClr val="tx1"/>
                </a:solidFill>
                <a:latin typeface="+mj-lt" pitchFamily="34" charset="0"/>
                <a:ea typeface="+mj-lt" pitchFamily="34" charset="-122"/>
                <a:cs typeface="+mj-lt" pitchFamily="34" charset="-120"/>
              </a:rPr>
              <a:t>400 MWh</a:t>
            </a:r>
            <a:endParaRPr lang="en-US" sz="3400" dirty="0"/>
          </a:p>
        </p:txBody>
      </p:sp>
      <p:sp>
        <p:nvSpPr>
          <p:cNvPr id="10" name="text-8"/>
          <p:cNvSpPr txBox="1"/>
          <p:nvPr/>
        </p:nvSpPr>
        <p:spPr>
          <a:xfrm>
            <a:off x="3619424" y="2578608"/>
            <a:ext cx="2110664" cy="822960"/>
          </a:xfrm>
          <a:prstGeom prst="rect">
            <a:avLst/>
          </a:prstGeom>
          <a:noFill/>
          <a:ln/>
        </p:spPr>
        <p:txBody>
          <a:bodyPr wrap="square" lIns="0" tIns="0" rIns="0" bIns="0" rtlCol="0" anchor="t"/>
          <a:lstStyle/>
          <a:p>
            <a:pPr indent="0" marL="0">
              <a:buNone/>
            </a:pPr>
            <a:r>
              <a:rPr lang="en-US" sz="1400" dirty="0">
                <a:solidFill>
                  <a:schemeClr val="tx2"/>
                </a:solidFill>
              </a:rPr>
              <a:t>Storage: 2 batteries, 100 MW combined, 4-hour duration</a:t>
            </a:r>
            <a:endParaRPr lang="en-US" sz="1400" dirty="0"/>
          </a:p>
        </p:txBody>
      </p:sp>
      <p:sp>
        <p:nvSpPr>
          <p:cNvPr id="11" name="card-9"/>
          <p:cNvSpPr/>
          <p:nvPr/>
        </p:nvSpPr>
        <p:spPr>
          <a:xfrm>
            <a:off x="6233008" y="1737360"/>
            <a:ext cx="2567864" cy="1783080"/>
          </a:xfrm>
          <a:prstGeom prst="roundRect">
            <a:avLst>
              <a:gd name="adj" fmla="val 4103"/>
            </a:avLst>
          </a:prstGeom>
          <a:solidFill>
            <a:schemeClr val="bg2"/>
          </a:solidFill>
          <a:ln/>
        </p:spPr>
      </p:sp>
      <p:sp>
        <p:nvSpPr>
          <p:cNvPr id="12" name="text-10"/>
          <p:cNvSpPr txBox="1"/>
          <p:nvPr/>
        </p:nvSpPr>
        <p:spPr>
          <a:xfrm>
            <a:off x="6461608" y="1920240"/>
            <a:ext cx="2110664" cy="640080"/>
          </a:xfrm>
          <a:prstGeom prst="rect">
            <a:avLst/>
          </a:prstGeom>
          <a:noFill/>
          <a:ln/>
        </p:spPr>
        <p:txBody>
          <a:bodyPr wrap="square" lIns="0" tIns="0" rIns="0" bIns="0" rtlCol="0" anchor="t"/>
          <a:lstStyle/>
          <a:p>
            <a:pPr indent="0" marL="0">
              <a:buNone/>
            </a:pPr>
            <a:r>
              <a:rPr lang="en-US" sz="3400" b="1" dirty="0">
                <a:solidFill>
                  <a:schemeClr val="tx1"/>
                </a:solidFill>
                <a:latin typeface="+mj-lt" pitchFamily="34" charset="0"/>
                <a:ea typeface="+mj-lt" pitchFamily="34" charset="-122"/>
                <a:cs typeface="+mj-lt" pitchFamily="34" charset="-120"/>
              </a:rPr>
              <a:t>300 MW</a:t>
            </a:r>
            <a:endParaRPr lang="en-US" sz="3400" dirty="0"/>
          </a:p>
        </p:txBody>
      </p:sp>
      <p:sp>
        <p:nvSpPr>
          <p:cNvPr id="13" name="text-11"/>
          <p:cNvSpPr txBox="1"/>
          <p:nvPr/>
        </p:nvSpPr>
        <p:spPr>
          <a:xfrm>
            <a:off x="6461608" y="2578608"/>
            <a:ext cx="2110664" cy="822960"/>
          </a:xfrm>
          <a:prstGeom prst="rect">
            <a:avLst/>
          </a:prstGeom>
          <a:noFill/>
          <a:ln/>
        </p:spPr>
        <p:txBody>
          <a:bodyPr wrap="square" lIns="0" tIns="0" rIns="0" bIns="0" rtlCol="0" anchor="t"/>
          <a:lstStyle/>
          <a:p>
            <a:pPr indent="0" marL="0">
              <a:buNone/>
            </a:pPr>
            <a:r>
              <a:rPr lang="en-US" sz="1400" dirty="0">
                <a:solidFill>
                  <a:schemeClr val="tx2"/>
                </a:solidFill>
              </a:rPr>
              <a:t>Contracted load: steel, data centre, textile and cement customers</a:t>
            </a:r>
            <a:endParaRPr lang="en-US" sz="1400" dirty="0"/>
          </a:p>
        </p:txBody>
      </p:sp>
      <p:sp>
        <p:nvSpPr>
          <p:cNvPr id="14" name="card-12"/>
          <p:cNvSpPr/>
          <p:nvPr/>
        </p:nvSpPr>
        <p:spPr>
          <a:xfrm>
            <a:off x="9075191" y="1737360"/>
            <a:ext cx="2567864" cy="1783080"/>
          </a:xfrm>
          <a:prstGeom prst="roundRect">
            <a:avLst>
              <a:gd name="adj" fmla="val 4103"/>
            </a:avLst>
          </a:prstGeom>
          <a:solidFill>
            <a:schemeClr val="bg2"/>
          </a:solidFill>
          <a:ln/>
        </p:spPr>
      </p:sp>
      <p:sp>
        <p:nvSpPr>
          <p:cNvPr id="15" name="text-13"/>
          <p:cNvSpPr txBox="1"/>
          <p:nvPr/>
        </p:nvSpPr>
        <p:spPr>
          <a:xfrm>
            <a:off x="9303791" y="1920240"/>
            <a:ext cx="2110664" cy="640080"/>
          </a:xfrm>
          <a:prstGeom prst="rect">
            <a:avLst/>
          </a:prstGeom>
          <a:noFill/>
          <a:ln/>
        </p:spPr>
        <p:txBody>
          <a:bodyPr wrap="square" lIns="0" tIns="0" rIns="0" bIns="0" rtlCol="0" anchor="t"/>
          <a:lstStyle/>
          <a:p>
            <a:pPr indent="0" marL="0">
              <a:buNone/>
            </a:pPr>
            <a:r>
              <a:rPr lang="en-US" sz="3400" b="1" dirty="0">
                <a:solidFill>
                  <a:schemeClr val="tx1"/>
                </a:solidFill>
                <a:latin typeface="+mj-lt" pitchFamily="34" charset="0"/>
                <a:ea typeface="+mj-lt" pitchFamily="34" charset="-122"/>
                <a:cs typeface="+mj-lt" pitchFamily="34" charset="-120"/>
              </a:rPr>
              <a:t>150 / 200</a:t>
            </a:r>
            <a:endParaRPr lang="en-US" sz="3400" dirty="0"/>
          </a:p>
        </p:txBody>
      </p:sp>
      <p:sp>
        <p:nvSpPr>
          <p:cNvPr id="16" name="text-14"/>
          <p:cNvSpPr txBox="1"/>
          <p:nvPr/>
        </p:nvSpPr>
        <p:spPr>
          <a:xfrm>
            <a:off x="9303791" y="2578608"/>
            <a:ext cx="2110664" cy="822960"/>
          </a:xfrm>
          <a:prstGeom prst="rect">
            <a:avLst/>
          </a:prstGeom>
          <a:noFill/>
          <a:ln/>
        </p:spPr>
        <p:txBody>
          <a:bodyPr wrap="square" lIns="0" tIns="0" rIns="0" bIns="0" rtlCol="0" anchor="t"/>
          <a:lstStyle/>
          <a:p>
            <a:pPr indent="0" marL="0">
              <a:buNone/>
            </a:pPr>
            <a:r>
              <a:rPr lang="en-US" sz="1400" dirty="0">
                <a:solidFill>
                  <a:schemeClr val="tx2"/>
                </a:solidFill>
              </a:rPr>
              <a:t>Grid limits in MW: import from and export to the market</a:t>
            </a:r>
            <a:endParaRPr lang="en-US" sz="1400" dirty="0"/>
          </a:p>
        </p:txBody>
      </p:sp>
      <p:sp>
        <p:nvSpPr>
          <p:cNvPr id="17" name="text-15"/>
          <p:cNvSpPr txBox="1"/>
          <p:nvPr/>
        </p:nvSpPr>
        <p:spPr>
          <a:xfrm>
            <a:off x="548640" y="3840480"/>
            <a:ext cx="11094415" cy="365760"/>
          </a:xfrm>
          <a:prstGeom prst="rect">
            <a:avLst/>
          </a:prstGeom>
          <a:noFill/>
          <a:ln/>
        </p:spPr>
        <p:txBody>
          <a:bodyPr wrap="square" lIns="0" tIns="0" rIns="0" bIns="0" rtlCol="0" anchor="t"/>
          <a:lstStyle/>
          <a:p>
            <a:pPr indent="0" marL="0">
              <a:buNone/>
            </a:pPr>
            <a:r>
              <a:rPr lang="en-US" sz="1800" b="1" dirty="0">
                <a:solidFill>
                  <a:schemeClr val="tx1"/>
                </a:solidFill>
              </a:rPr>
              <a:t>What changes mid-shift</a:t>
            </a:r>
            <a:endParaRPr lang="en-US" sz="1800" dirty="0"/>
          </a:p>
        </p:txBody>
      </p:sp>
      <p:sp>
        <p:nvSpPr>
          <p:cNvPr id="18" name="pill-16"/>
          <p:cNvSpPr/>
          <p:nvPr/>
        </p:nvSpPr>
        <p:spPr>
          <a:xfrm>
            <a:off x="548640" y="434340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Clouds cut solar output</a:t>
            </a:r>
            <a:endParaRPr lang="en-US" sz="1400" dirty="0"/>
          </a:p>
        </p:txBody>
      </p:sp>
      <p:sp>
        <p:nvSpPr>
          <p:cNvPr id="19" name="pill-17"/>
          <p:cNvSpPr/>
          <p:nvPr/>
        </p:nvSpPr>
        <p:spPr>
          <a:xfrm>
            <a:off x="3390824" y="434340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Wind surges or drops</a:t>
            </a:r>
            <a:endParaRPr lang="en-US" sz="1400" dirty="0"/>
          </a:p>
        </p:txBody>
      </p:sp>
      <p:sp>
        <p:nvSpPr>
          <p:cNvPr id="20" name="pill-18"/>
          <p:cNvSpPr/>
          <p:nvPr/>
        </p:nvSpPr>
        <p:spPr>
          <a:xfrm>
            <a:off x="6233008" y="434340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Market prices spike</a:t>
            </a:r>
            <a:endParaRPr lang="en-US" sz="1400" dirty="0"/>
          </a:p>
        </p:txBody>
      </p:sp>
      <p:sp>
        <p:nvSpPr>
          <p:cNvPr id="21" name="pill-19"/>
          <p:cNvSpPr/>
          <p:nvPr/>
        </p:nvSpPr>
        <p:spPr>
          <a:xfrm>
            <a:off x="9075191" y="434340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A battery trips offline</a:t>
            </a:r>
            <a:endParaRPr lang="en-US" sz="1400" dirty="0"/>
          </a:p>
        </p:txBody>
      </p:sp>
      <p:sp>
        <p:nvSpPr>
          <p:cNvPr id="22" name="pill-20"/>
          <p:cNvSpPr/>
          <p:nvPr/>
        </p:nvSpPr>
        <p:spPr>
          <a:xfrm>
            <a:off x="548640" y="498348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A transmission line derates</a:t>
            </a:r>
            <a:endParaRPr lang="en-US" sz="1400" dirty="0"/>
          </a:p>
        </p:txBody>
      </p:sp>
      <p:sp>
        <p:nvSpPr>
          <p:cNvPr id="23" name="pill-21"/>
          <p:cNvSpPr/>
          <p:nvPr/>
        </p:nvSpPr>
        <p:spPr>
          <a:xfrm>
            <a:off x="3390824" y="498348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Industrial demand jumps</a:t>
            </a:r>
            <a:endParaRPr lang="en-US" sz="1400" dirty="0"/>
          </a:p>
        </p:txBody>
      </p:sp>
      <p:sp>
        <p:nvSpPr>
          <p:cNvPr id="24" name="pill-22"/>
          <p:cNvSpPr/>
          <p:nvPr/>
        </p:nvSpPr>
        <p:spPr>
          <a:xfrm>
            <a:off x="6233008" y="498348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Forecasts are revised</a:t>
            </a:r>
            <a:endParaRPr lang="en-US" sz="1400" dirty="0"/>
          </a:p>
        </p:txBody>
      </p:sp>
      <p:sp>
        <p:nvSpPr>
          <p:cNvPr id="25" name="pill-23"/>
          <p:cNvSpPr/>
          <p:nvPr/>
        </p:nvSpPr>
        <p:spPr>
          <a:xfrm>
            <a:off x="9075191" y="4983480"/>
            <a:ext cx="2567864"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dirty="0">
                <a:solidFill>
                  <a:schemeClr val="tx1"/>
                </a:solidFill>
              </a:rPr>
              <a:t>A storm alert arrives</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THE DECISION</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Four levers, and goals that pull against each other</a:t>
            </a:r>
            <a:endParaRPr lang="en-US" sz="3400" dirty="0"/>
          </a:p>
        </p:txBody>
      </p:sp>
      <p:sp>
        <p:nvSpPr>
          <p:cNvPr id="5" name="card-24"/>
          <p:cNvSpPr/>
          <p:nvPr/>
        </p:nvSpPr>
        <p:spPr>
          <a:xfrm>
            <a:off x="548640" y="1737360"/>
            <a:ext cx="3200400" cy="1463040"/>
          </a:xfrm>
          <a:prstGeom prst="roundRect">
            <a:avLst>
              <a:gd name="adj" fmla="val 5000"/>
            </a:avLst>
          </a:prstGeom>
          <a:solidFill>
            <a:schemeClr val="bg2"/>
          </a:solidFill>
          <a:ln/>
        </p:spPr>
      </p:sp>
      <p:sp>
        <p:nvSpPr>
          <p:cNvPr id="6" name="text-25"/>
          <p:cNvSpPr txBox="1"/>
          <p:nvPr/>
        </p:nvSpPr>
        <p:spPr>
          <a:xfrm>
            <a:off x="777240" y="19202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Batteries</a:t>
            </a:r>
            <a:endParaRPr lang="en-US" sz="1800" dirty="0"/>
          </a:p>
        </p:txBody>
      </p:sp>
      <p:sp>
        <p:nvSpPr>
          <p:cNvPr id="7" name="text-26"/>
          <p:cNvSpPr txBox="1"/>
          <p:nvPr/>
        </p:nvSpPr>
        <p:spPr>
          <a:xfrm>
            <a:off x="777240" y="2331720"/>
            <a:ext cx="2743200" cy="731520"/>
          </a:xfrm>
          <a:prstGeom prst="rect">
            <a:avLst/>
          </a:prstGeom>
          <a:noFill/>
          <a:ln/>
        </p:spPr>
        <p:txBody>
          <a:bodyPr wrap="square" lIns="0" tIns="0" rIns="0" bIns="0" rtlCol="0" anchor="t"/>
          <a:lstStyle/>
          <a:p>
            <a:pPr indent="0" marL="0">
              <a:buNone/>
            </a:pPr>
            <a:r>
              <a:rPr lang="en-US" sz="1400" dirty="0">
                <a:solidFill>
                  <a:schemeClr val="tx2"/>
                </a:solidFill>
              </a:rPr>
              <a:t>Charge, discharge, or hold a reserve for an emergency</a:t>
            </a:r>
            <a:endParaRPr lang="en-US" sz="1400" dirty="0"/>
          </a:p>
        </p:txBody>
      </p:sp>
      <p:sp>
        <p:nvSpPr>
          <p:cNvPr id="8" name="card-27"/>
          <p:cNvSpPr/>
          <p:nvPr/>
        </p:nvSpPr>
        <p:spPr>
          <a:xfrm>
            <a:off x="4023360" y="1737360"/>
            <a:ext cx="3200400" cy="1463040"/>
          </a:xfrm>
          <a:prstGeom prst="roundRect">
            <a:avLst>
              <a:gd name="adj" fmla="val 5000"/>
            </a:avLst>
          </a:prstGeom>
          <a:solidFill>
            <a:schemeClr val="bg2"/>
          </a:solidFill>
          <a:ln/>
        </p:spPr>
      </p:sp>
      <p:sp>
        <p:nvSpPr>
          <p:cNvPr id="9" name="text-28"/>
          <p:cNvSpPr txBox="1"/>
          <p:nvPr/>
        </p:nvSpPr>
        <p:spPr>
          <a:xfrm>
            <a:off x="4251960" y="19202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Market</a:t>
            </a:r>
            <a:endParaRPr lang="en-US" sz="1800" dirty="0"/>
          </a:p>
        </p:txBody>
      </p:sp>
      <p:sp>
        <p:nvSpPr>
          <p:cNvPr id="10" name="text-29"/>
          <p:cNvSpPr txBox="1"/>
          <p:nvPr/>
        </p:nvSpPr>
        <p:spPr>
          <a:xfrm>
            <a:off x="4251960" y="2331720"/>
            <a:ext cx="2743200" cy="731520"/>
          </a:xfrm>
          <a:prstGeom prst="rect">
            <a:avLst/>
          </a:prstGeom>
          <a:noFill/>
          <a:ln/>
        </p:spPr>
        <p:txBody>
          <a:bodyPr wrap="square" lIns="0" tIns="0" rIns="0" bIns="0" rtlCol="0" anchor="t"/>
          <a:lstStyle/>
          <a:p>
            <a:pPr indent="0" marL="0">
              <a:buNone/>
            </a:pPr>
            <a:r>
              <a:rPr lang="en-US" sz="1400" dirty="0">
                <a:solidFill>
                  <a:schemeClr val="tx2"/>
                </a:solidFill>
              </a:rPr>
              <a:t>Buy from the grid, sell to it, or wait for a better price</a:t>
            </a:r>
            <a:endParaRPr lang="en-US" sz="1400" dirty="0"/>
          </a:p>
        </p:txBody>
      </p:sp>
      <p:sp>
        <p:nvSpPr>
          <p:cNvPr id="11" name="card-30"/>
          <p:cNvSpPr/>
          <p:nvPr/>
        </p:nvSpPr>
        <p:spPr>
          <a:xfrm>
            <a:off x="548640" y="3474720"/>
            <a:ext cx="3200400" cy="1463040"/>
          </a:xfrm>
          <a:prstGeom prst="roundRect">
            <a:avLst>
              <a:gd name="adj" fmla="val 5000"/>
            </a:avLst>
          </a:prstGeom>
          <a:solidFill>
            <a:schemeClr val="bg2"/>
          </a:solidFill>
          <a:ln/>
        </p:spPr>
      </p:sp>
      <p:sp>
        <p:nvSpPr>
          <p:cNvPr id="12" name="text-31"/>
          <p:cNvSpPr txBox="1"/>
          <p:nvPr/>
        </p:nvSpPr>
        <p:spPr>
          <a:xfrm>
            <a:off x="777240" y="3657600"/>
            <a:ext cx="2743200" cy="365760"/>
          </a:xfrm>
          <a:prstGeom prst="rect">
            <a:avLst/>
          </a:prstGeom>
          <a:noFill/>
          <a:ln/>
        </p:spPr>
        <p:txBody>
          <a:bodyPr wrap="square" lIns="0" tIns="0" rIns="0" bIns="0" rtlCol="0" anchor="t"/>
          <a:lstStyle/>
          <a:p>
            <a:pPr indent="0" marL="0">
              <a:buNone/>
            </a:pPr>
            <a:r>
              <a:rPr lang="en-US" sz="1800" b="1" dirty="0">
                <a:solidFill>
                  <a:schemeClr val="tx1"/>
                </a:solidFill>
              </a:rPr>
              <a:t>Renewables</a:t>
            </a:r>
            <a:endParaRPr lang="en-US" sz="1800" dirty="0"/>
          </a:p>
        </p:txBody>
      </p:sp>
      <p:sp>
        <p:nvSpPr>
          <p:cNvPr id="13" name="text-32"/>
          <p:cNvSpPr txBox="1"/>
          <p:nvPr/>
        </p:nvSpPr>
        <p:spPr>
          <a:xfrm>
            <a:off x="777240" y="4069080"/>
            <a:ext cx="2743200" cy="731520"/>
          </a:xfrm>
          <a:prstGeom prst="rect">
            <a:avLst/>
          </a:prstGeom>
          <a:noFill/>
          <a:ln/>
        </p:spPr>
        <p:txBody>
          <a:bodyPr wrap="square" lIns="0" tIns="0" rIns="0" bIns="0" rtlCol="0" anchor="t"/>
          <a:lstStyle/>
          <a:p>
            <a:pPr indent="0" marL="0">
              <a:buNone/>
            </a:pPr>
            <a:r>
              <a:rPr lang="en-US" sz="1400" dirty="0">
                <a:solidFill>
                  <a:schemeClr val="tx2"/>
                </a:solidFill>
              </a:rPr>
              <a:t>Use all of it, or curtail solar and wind when it cannot be moved</a:t>
            </a:r>
            <a:endParaRPr lang="en-US" sz="1400" dirty="0"/>
          </a:p>
        </p:txBody>
      </p:sp>
      <p:sp>
        <p:nvSpPr>
          <p:cNvPr id="14" name="card-33"/>
          <p:cNvSpPr/>
          <p:nvPr/>
        </p:nvSpPr>
        <p:spPr>
          <a:xfrm>
            <a:off x="4023360" y="3474720"/>
            <a:ext cx="3200400" cy="1463040"/>
          </a:xfrm>
          <a:prstGeom prst="roundRect">
            <a:avLst>
              <a:gd name="adj" fmla="val 5000"/>
            </a:avLst>
          </a:prstGeom>
          <a:solidFill>
            <a:schemeClr val="bg2"/>
          </a:solidFill>
          <a:ln/>
        </p:spPr>
      </p:sp>
      <p:sp>
        <p:nvSpPr>
          <p:cNvPr id="15" name="text-34"/>
          <p:cNvSpPr txBox="1"/>
          <p:nvPr/>
        </p:nvSpPr>
        <p:spPr>
          <a:xfrm>
            <a:off x="4251960" y="3657600"/>
            <a:ext cx="2743200" cy="365760"/>
          </a:xfrm>
          <a:prstGeom prst="rect">
            <a:avLst/>
          </a:prstGeom>
          <a:noFill/>
          <a:ln/>
        </p:spPr>
        <p:txBody>
          <a:bodyPr wrap="square" lIns="0" tIns="0" rIns="0" bIns="0" rtlCol="0" anchor="t"/>
          <a:lstStyle/>
          <a:p>
            <a:pPr indent="0" marL="0">
              <a:buNone/>
            </a:pPr>
            <a:r>
              <a:rPr lang="en-US" sz="1800" b="1" dirty="0">
                <a:solidFill>
                  <a:schemeClr val="tx1"/>
                </a:solidFill>
              </a:rPr>
              <a:t>Demand</a:t>
            </a:r>
            <a:endParaRPr lang="en-US" sz="1800" dirty="0"/>
          </a:p>
        </p:txBody>
      </p:sp>
      <p:sp>
        <p:nvSpPr>
          <p:cNvPr id="16" name="text-35"/>
          <p:cNvSpPr txBox="1"/>
          <p:nvPr/>
        </p:nvSpPr>
        <p:spPr>
          <a:xfrm>
            <a:off x="4251960" y="4069080"/>
            <a:ext cx="2743200" cy="731520"/>
          </a:xfrm>
          <a:prstGeom prst="rect">
            <a:avLst/>
          </a:prstGeom>
          <a:noFill/>
          <a:ln/>
        </p:spPr>
        <p:txBody>
          <a:bodyPr wrap="square" lIns="0" tIns="0" rIns="0" bIns="0" rtlCol="0" anchor="t"/>
          <a:lstStyle/>
          <a:p>
            <a:pPr indent="0" marL="0">
              <a:buNone/>
            </a:pPr>
            <a:r>
              <a:rPr lang="en-US" sz="1400" dirty="0">
                <a:solidFill>
                  <a:schemeClr val="tx2"/>
                </a:solidFill>
              </a:rPr>
              <a:t>Call paid demand response; never shed a customer's critical load</a:t>
            </a:r>
            <a:endParaRPr lang="en-US" sz="1400" dirty="0"/>
          </a:p>
        </p:txBody>
      </p:sp>
      <p:sp>
        <p:nvSpPr>
          <p:cNvPr id="17" name="text-36"/>
          <p:cNvSpPr txBox="1"/>
          <p:nvPr/>
        </p:nvSpPr>
        <p:spPr>
          <a:xfrm>
            <a:off x="7589520" y="1737360"/>
            <a:ext cx="4053535" cy="320040"/>
          </a:xfrm>
          <a:prstGeom prst="rect">
            <a:avLst/>
          </a:prstGeom>
          <a:noFill/>
          <a:ln/>
        </p:spPr>
        <p:txBody>
          <a:bodyPr wrap="square" lIns="0" tIns="0" rIns="0" bIns="0" rtlCol="0" anchor="t"/>
          <a:lstStyle/>
          <a:p>
            <a:pPr indent="0" marL="0">
              <a:buNone/>
            </a:pPr>
            <a:r>
              <a:rPr lang="en-US" sz="1800" b="1" dirty="0">
                <a:solidFill>
                  <a:schemeClr val="accent2"/>
                </a:solidFill>
              </a:rPr>
              <a:t>Minimise</a:t>
            </a:r>
            <a:endParaRPr lang="en-US" sz="1800" dirty="0"/>
          </a:p>
        </p:txBody>
      </p:sp>
      <p:sp>
        <p:nvSpPr>
          <p:cNvPr id="18" name="text-37"/>
          <p:cNvSpPr txBox="1"/>
          <p:nvPr/>
        </p:nvSpPr>
        <p:spPr>
          <a:xfrm>
            <a:off x="7589520" y="2103120"/>
            <a:ext cx="4053535" cy="548640"/>
          </a:xfrm>
          <a:prstGeom prst="rect">
            <a:avLst/>
          </a:prstGeom>
          <a:noFill/>
          <a:ln/>
        </p:spPr>
        <p:txBody>
          <a:bodyPr wrap="square" lIns="0" tIns="0" rIns="0" bIns="0" rtlCol="0" anchor="t"/>
          <a:lstStyle/>
          <a:p>
            <a:pPr indent="0" marL="0">
              <a:buNone/>
            </a:pPr>
            <a:r>
              <a:rPr lang="en-US" sz="1400" dirty="0">
                <a:solidFill>
                  <a:schemeClr val="tx2"/>
                </a:solidFill>
              </a:rPr>
              <a:t>Electricity cost, carbon emissions, renewable curtailment, battery wear</a:t>
            </a:r>
            <a:endParaRPr lang="en-US" sz="1400" dirty="0"/>
          </a:p>
        </p:txBody>
      </p:sp>
      <p:sp>
        <p:nvSpPr>
          <p:cNvPr id="19" name="text-38"/>
          <p:cNvSpPr txBox="1"/>
          <p:nvPr/>
        </p:nvSpPr>
        <p:spPr>
          <a:xfrm>
            <a:off x="7589520" y="2834640"/>
            <a:ext cx="4053535" cy="320040"/>
          </a:xfrm>
          <a:prstGeom prst="rect">
            <a:avLst/>
          </a:prstGeom>
          <a:noFill/>
          <a:ln/>
        </p:spPr>
        <p:txBody>
          <a:bodyPr wrap="square" lIns="0" tIns="0" rIns="0" bIns="0" rtlCol="0" anchor="t"/>
          <a:lstStyle/>
          <a:p>
            <a:pPr indent="0" marL="0">
              <a:buNone/>
            </a:pPr>
            <a:r>
              <a:rPr lang="en-US" sz="1800" b="1" dirty="0">
                <a:solidFill>
                  <a:schemeClr val="accent2"/>
                </a:solidFill>
              </a:rPr>
              <a:t>Maximise</a:t>
            </a:r>
            <a:endParaRPr lang="en-US" sz="1800" dirty="0"/>
          </a:p>
        </p:txBody>
      </p:sp>
      <p:sp>
        <p:nvSpPr>
          <p:cNvPr id="20" name="text-39"/>
          <p:cNvSpPr txBox="1"/>
          <p:nvPr/>
        </p:nvSpPr>
        <p:spPr>
          <a:xfrm>
            <a:off x="7589520" y="3200400"/>
            <a:ext cx="4053535" cy="548640"/>
          </a:xfrm>
          <a:prstGeom prst="rect">
            <a:avLst/>
          </a:prstGeom>
          <a:noFill/>
          <a:ln/>
        </p:spPr>
        <p:txBody>
          <a:bodyPr wrap="square" lIns="0" tIns="0" rIns="0" bIns="0" rtlCol="0" anchor="t"/>
          <a:lstStyle/>
          <a:p>
            <a:pPr indent="0" marL="0">
              <a:buNone/>
            </a:pPr>
            <a:r>
              <a:rPr lang="en-US" sz="1400" dirty="0">
                <a:solidFill>
                  <a:schemeClr val="tx2"/>
                </a:solidFill>
              </a:rPr>
              <a:t>Reliability of contracted supply, renewable utilisation, margin</a:t>
            </a:r>
            <a:endParaRPr lang="en-US" sz="1400" dirty="0"/>
          </a:p>
        </p:txBody>
      </p:sp>
      <p:sp>
        <p:nvSpPr>
          <p:cNvPr id="21" name="card-40"/>
          <p:cNvSpPr/>
          <p:nvPr/>
        </p:nvSpPr>
        <p:spPr>
          <a:xfrm>
            <a:off x="7589520" y="3931920"/>
            <a:ext cx="4053535" cy="1280160"/>
          </a:xfrm>
          <a:prstGeom prst="roundRect">
            <a:avLst>
              <a:gd name="adj" fmla="val 5714"/>
            </a:avLst>
          </a:prstGeom>
          <a:solidFill>
            <a:schemeClr val="tx1"/>
          </a:solidFill>
          <a:ln/>
        </p:spPr>
      </p:sp>
      <p:sp>
        <p:nvSpPr>
          <p:cNvPr id="22" name="text-41"/>
          <p:cNvSpPr txBox="1"/>
          <p:nvPr/>
        </p:nvSpPr>
        <p:spPr>
          <a:xfrm>
            <a:off x="7818120" y="4069080"/>
            <a:ext cx="3596335" cy="320040"/>
          </a:xfrm>
          <a:prstGeom prst="rect">
            <a:avLst/>
          </a:prstGeom>
          <a:noFill/>
          <a:ln/>
        </p:spPr>
        <p:txBody>
          <a:bodyPr wrap="square" lIns="0" tIns="0" rIns="0" bIns="0" rtlCol="0" anchor="t"/>
          <a:lstStyle/>
          <a:p>
            <a:pPr indent="0" marL="0">
              <a:buNone/>
            </a:pPr>
            <a:r>
              <a:rPr lang="en-US" sz="1600" b="1" dirty="0">
                <a:solidFill>
                  <a:schemeClr val="accent1"/>
                </a:solidFill>
              </a:rPr>
              <a:t>What a wrong call costs</a:t>
            </a:r>
            <a:endParaRPr lang="en-US" sz="1600" dirty="0"/>
          </a:p>
        </p:txBody>
      </p:sp>
      <p:sp>
        <p:nvSpPr>
          <p:cNvPr id="23" name="text-42"/>
          <p:cNvSpPr txBox="1"/>
          <p:nvPr/>
        </p:nvSpPr>
        <p:spPr>
          <a:xfrm>
            <a:off x="7818120" y="4434840"/>
            <a:ext cx="3596335" cy="685800"/>
          </a:xfrm>
          <a:prstGeom prst="rect">
            <a:avLst/>
          </a:prstGeom>
          <a:noFill/>
          <a:ln/>
        </p:spPr>
        <p:txBody>
          <a:bodyPr wrap="square" lIns="0" tIns="0" rIns="0" bIns="0" rtlCol="0" anchor="t"/>
          <a:lstStyle/>
          <a:p>
            <a:pPr indent="0" marL="0">
              <a:buNone/>
            </a:pPr>
            <a:r>
              <a:rPr lang="en-US" sz="1400" dirty="0">
                <a:solidFill>
                  <a:schemeClr val="bg1"/>
                </a:solidFill>
              </a:rPr>
              <a:t>₹15,000 per MWh of contract shortfall. ₹1,00,000 per MWh of lost critical load.</a:t>
            </a:r>
            <a:endParaRPr lang="en-US" sz="1400" dirty="0"/>
          </a:p>
        </p:txBody>
      </p:sp>
      <p:sp>
        <p:nvSpPr>
          <p:cNvPr id="24" name="text-43"/>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dirty="0">
                <a:solidFill>
                  <a:schemeClr val="accent4"/>
                </a:solidFill>
              </a:rPr>
              <a:t>Penalty rates are case assumptions set in config.</a:t>
            </a:r>
            <a:endParaRPr lang="en-US" sz="12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11094415" cy="320040"/>
          </a:xfrm>
          <a:prstGeom prst="rect">
            <a:avLst/>
          </a:prstGeom>
          <a:noFill/>
          <a:ln/>
        </p:spPr>
        <p:txBody>
          <a:bodyPr wrap="square" lIns="0" tIns="0" rIns="0" bIns="0" rtlCol="0"/>
          <a:lstStyle/>
          <a:p>
            <a:pPr indent="0" marL="0">
              <a:buNone/>
            </a:pPr>
            <a:r>
              <a:rPr lang="en-US" sz="1300" b="1" spc="200" kern="0" dirty="0">
                <a:solidFill>
                  <a:schemeClr val="tx1"/>
                </a:solidFill>
              </a:rPr>
              <a:t>THE DESIGN PRINCIPLE</a:t>
            </a:r>
            <a:endParaRPr lang="en-US" sz="1300" dirty="0"/>
          </a:p>
        </p:txBody>
      </p:sp>
      <p:sp>
        <p:nvSpPr>
          <p:cNvPr id="3" name="Text 0"/>
          <p:cNvSpPr/>
          <p:nvPr>
            <p:ph idx="101" type="title" hasCustomPrompt="1"/>
          </p:nvPr>
        </p:nvSpPr>
        <p:spPr>
          <a:xfrm>
            <a:off x="548640" y="1554480"/>
            <a:ext cx="11094415" cy="2743200"/>
          </a:xfrm>
          <a:prstGeom prst="rect">
            <a:avLst/>
          </a:prstGeom>
          <a:noFill/>
          <a:ln/>
        </p:spPr>
        <p:txBody>
          <a:bodyPr wrap="square" lIns="0" tIns="0" rIns="0" bIns="0" rtlCol="0" anchor="t"/>
          <a:lstStyle/>
          <a:p>
            <a:pPr algn="l" indent="0" marL="0">
              <a:spcAft>
                <a:spcPts val="1400"/>
              </a:spcAft>
              <a:buNone/>
            </a:pPr>
            <a:r>
              <a:rPr lang="en-US" sz="3600" b="1" dirty="0">
                <a:solidFill>
                  <a:schemeClr val="tx1"/>
                </a:solidFill>
              </a:rPr>
              <a:t>The agent decides how to run the portfolio.</a:t>
            </a:r>
            <a:endParaRPr lang="en-US" sz="3600" dirty="0"/>
          </a:p>
          <a:p>
            <a:pPr algn="l" indent="0" marL="0">
              <a:spcAft>
                <a:spcPts val="1400"/>
              </a:spcAft>
              <a:buNone/>
            </a:pPr>
            <a:r>
              <a:rPr lang="en-US" sz="3600" b="1" dirty="0">
                <a:solidFill>
                  <a:schemeClr val="tx1"/>
                </a:solidFill>
              </a:rPr>
              <a:t>A solver decides the megawatts.</a:t>
            </a:r>
            <a:endParaRPr lang="en-US" sz="3600" dirty="0"/>
          </a:p>
          <a:p>
            <a:pPr algn="l" indent="0" marL="0">
              <a:buNone/>
            </a:pPr>
            <a:r>
              <a:rPr lang="en-US" sz="3600" b="1" dirty="0">
                <a:solidFill>
                  <a:schemeClr val="tx1"/>
                </a:solidFill>
              </a:rPr>
              <a:t>Code decides whether it is safe to execute.</a:t>
            </a:r>
            <a:endParaRPr lang="en-US" sz="3600" dirty="0"/>
          </a:p>
        </p:txBody>
      </p:sp>
      <p:sp>
        <p:nvSpPr>
          <p:cNvPr id="4" name="Text 0"/>
          <p:cNvSpPr/>
          <p:nvPr>
            <p:ph idx="102" type="body" hasCustomPrompt="1"/>
          </p:nvPr>
        </p:nvSpPr>
        <p:spPr>
          <a:xfrm>
            <a:off x="548640" y="4754880"/>
            <a:ext cx="9326880" cy="1188720"/>
          </a:xfrm>
          <a:prstGeom prst="rect">
            <a:avLst/>
          </a:prstGeom>
          <a:noFill/>
          <a:ln/>
        </p:spPr>
        <p:txBody>
          <a:bodyPr wrap="square" lIns="0" tIns="0" rIns="0" bIns="0" rtlCol="0" anchor="t"/>
          <a:lstStyle/>
          <a:p>
            <a:pPr indent="0" marL="0">
              <a:buNone/>
            </a:pPr>
            <a:r>
              <a:rPr lang="en-US" sz="1800" dirty="0">
                <a:solidFill>
                  <a:schemeClr val="tx1"/>
                </a:solidFill>
              </a:rPr>
              <a:t>The language model never produces a dispatch number. It chooses an operating mode, sets the trade-off weights, compares candidate plans and explains the result to the operator.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ARCHITECTURE · PROCESS FLOW</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One closed loop, run every 15 minutes</a:t>
            </a:r>
            <a:endParaRPr lang="en-US" sz="3400" dirty="0"/>
          </a:p>
        </p:txBody>
      </p:sp>
      <p:sp>
        <p:nvSpPr>
          <p:cNvPr id="5" name="card-44"/>
          <p:cNvSpPr/>
          <p:nvPr/>
        </p:nvSpPr>
        <p:spPr>
          <a:xfrm>
            <a:off x="548640" y="1737360"/>
            <a:ext cx="2468880" cy="3520440"/>
          </a:xfrm>
          <a:prstGeom prst="roundRect">
            <a:avLst>
              <a:gd name="adj" fmla="val 2963"/>
            </a:avLst>
          </a:prstGeom>
          <a:solidFill>
            <a:schemeClr val="bg2"/>
          </a:solidFill>
          <a:ln/>
        </p:spPr>
      </p:sp>
      <p:sp>
        <p:nvSpPr>
          <p:cNvPr id="6" name="text-45"/>
          <p:cNvSpPr txBox="1"/>
          <p:nvPr/>
        </p:nvSpPr>
        <p:spPr>
          <a:xfrm>
            <a:off x="749808" y="1901952"/>
            <a:ext cx="2066544"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STEP 1</a:t>
            </a:r>
            <a:endParaRPr lang="en-US" sz="1100" dirty="0"/>
          </a:p>
        </p:txBody>
      </p:sp>
      <p:sp>
        <p:nvSpPr>
          <p:cNvPr id="7" name="text-46"/>
          <p:cNvSpPr txBox="1"/>
          <p:nvPr/>
        </p:nvSpPr>
        <p:spPr>
          <a:xfrm>
            <a:off x="749808" y="2148840"/>
            <a:ext cx="2066544" cy="365760"/>
          </a:xfrm>
          <a:prstGeom prst="rect">
            <a:avLst/>
          </a:prstGeom>
          <a:noFill/>
          <a:ln/>
        </p:spPr>
        <p:txBody>
          <a:bodyPr wrap="square" lIns="0" tIns="0" rIns="0" bIns="0" rtlCol="0" anchor="t"/>
          <a:lstStyle/>
          <a:p>
            <a:pPr indent="0" marL="0">
              <a:buNone/>
            </a:pPr>
            <a:r>
              <a:rPr lang="en-US" sz="2000" b="1" dirty="0">
                <a:solidFill>
                  <a:schemeClr val="tx1"/>
                </a:solidFill>
              </a:rPr>
              <a:t>Sense</a:t>
            </a:r>
            <a:endParaRPr lang="en-US" sz="2000" dirty="0"/>
          </a:p>
        </p:txBody>
      </p:sp>
      <p:sp>
        <p:nvSpPr>
          <p:cNvPr id="8" name="text-47"/>
          <p:cNvSpPr txBox="1"/>
          <p:nvPr/>
        </p:nvSpPr>
        <p:spPr>
          <a:xfrm>
            <a:off x="749808" y="2651760"/>
            <a:ext cx="2066544" cy="256032"/>
          </a:xfrm>
          <a:prstGeom prst="rect">
            <a:avLst/>
          </a:prstGeom>
          <a:noFill/>
          <a:ln/>
        </p:spPr>
        <p:txBody>
          <a:bodyPr wrap="square" lIns="0" tIns="0" rIns="0" bIns="0" rtlCol="0" anchor="t"/>
          <a:lstStyle/>
          <a:p>
            <a:pPr indent="0" marL="0">
              <a:buNone/>
            </a:pPr>
            <a:r>
              <a:rPr lang="en-US" sz="1400" b="1" dirty="0">
                <a:solidFill>
                  <a:schemeClr val="tx1"/>
                </a:solidFill>
              </a:rPr>
              <a:t>Simulator</a:t>
            </a:r>
            <a:endParaRPr lang="en-US" sz="1400" dirty="0"/>
          </a:p>
        </p:txBody>
      </p:sp>
      <p:sp>
        <p:nvSpPr>
          <p:cNvPr id="9" name="text-48"/>
          <p:cNvSpPr txBox="1"/>
          <p:nvPr/>
        </p:nvSpPr>
        <p:spPr>
          <a:xfrm>
            <a:off x="749808" y="2926080"/>
            <a:ext cx="2066544" cy="502920"/>
          </a:xfrm>
          <a:prstGeom prst="rect">
            <a:avLst/>
          </a:prstGeom>
          <a:noFill/>
          <a:ln/>
        </p:spPr>
        <p:txBody>
          <a:bodyPr wrap="square" lIns="0" tIns="0" rIns="0" bIns="0" rtlCol="0" anchor="t"/>
          <a:lstStyle/>
          <a:p>
            <a:pPr indent="0" marL="0">
              <a:buNone/>
            </a:pPr>
            <a:r>
              <a:rPr lang="en-US" sz="1400" dirty="0">
                <a:solidFill>
                  <a:schemeClr val="tx2"/>
                </a:solidFill>
              </a:rPr>
              <a:t>Steps every asset by 15 minutes</a:t>
            </a:r>
            <a:endParaRPr lang="en-US" sz="1400" dirty="0"/>
          </a:p>
        </p:txBody>
      </p:sp>
      <p:sp>
        <p:nvSpPr>
          <p:cNvPr id="10" name="text-49"/>
          <p:cNvSpPr txBox="1"/>
          <p:nvPr/>
        </p:nvSpPr>
        <p:spPr>
          <a:xfrm>
            <a:off x="749808" y="3502152"/>
            <a:ext cx="2066544" cy="256032"/>
          </a:xfrm>
          <a:prstGeom prst="rect">
            <a:avLst/>
          </a:prstGeom>
          <a:noFill/>
          <a:ln/>
        </p:spPr>
        <p:txBody>
          <a:bodyPr wrap="square" lIns="0" tIns="0" rIns="0" bIns="0" rtlCol="0" anchor="t"/>
          <a:lstStyle/>
          <a:p>
            <a:pPr indent="0" marL="0">
              <a:buNone/>
            </a:pPr>
            <a:r>
              <a:rPr lang="en-US" sz="1400" b="1" dirty="0">
                <a:solidFill>
                  <a:schemeClr val="tx1"/>
                </a:solidFill>
              </a:rPr>
              <a:t>Forecaster</a:t>
            </a:r>
            <a:endParaRPr lang="en-US" sz="1400" dirty="0"/>
          </a:p>
        </p:txBody>
      </p:sp>
      <p:sp>
        <p:nvSpPr>
          <p:cNvPr id="11" name="text-50"/>
          <p:cNvSpPr txBox="1"/>
          <p:nvPr/>
        </p:nvSpPr>
        <p:spPr>
          <a:xfrm>
            <a:off x="749808" y="3776472"/>
            <a:ext cx="2066544" cy="502920"/>
          </a:xfrm>
          <a:prstGeom prst="rect">
            <a:avLst/>
          </a:prstGeom>
          <a:noFill/>
          <a:ln/>
        </p:spPr>
        <p:txBody>
          <a:bodyPr wrap="square" lIns="0" tIns="0" rIns="0" bIns="0" rtlCol="0" anchor="t"/>
          <a:lstStyle/>
          <a:p>
            <a:pPr indent="0" marL="0">
              <a:buNone/>
            </a:pPr>
            <a:r>
              <a:rPr lang="en-US" sz="1400" dirty="0">
                <a:solidFill>
                  <a:schemeClr val="tx2"/>
                </a:solidFill>
              </a:rPr>
              <a:t>P10, P50, P90 for the next 8 hours</a:t>
            </a:r>
            <a:endParaRPr lang="en-US" sz="1400" dirty="0"/>
          </a:p>
        </p:txBody>
      </p:sp>
      <p:sp>
        <p:nvSpPr>
          <p:cNvPr id="12" name="text-51"/>
          <p:cNvSpPr txBox="1"/>
          <p:nvPr/>
        </p:nvSpPr>
        <p:spPr>
          <a:xfrm>
            <a:off x="749808" y="4352544"/>
            <a:ext cx="2066544" cy="256032"/>
          </a:xfrm>
          <a:prstGeom prst="rect">
            <a:avLst/>
          </a:prstGeom>
          <a:noFill/>
          <a:ln/>
        </p:spPr>
        <p:txBody>
          <a:bodyPr wrap="square" lIns="0" tIns="0" rIns="0" bIns="0" rtlCol="0" anchor="t"/>
          <a:lstStyle/>
          <a:p>
            <a:pPr indent="0" marL="0">
              <a:buNone/>
            </a:pPr>
            <a:r>
              <a:rPr lang="en-US" sz="1400" b="1" dirty="0">
                <a:solidFill>
                  <a:schemeClr val="tx1"/>
                </a:solidFill>
              </a:rPr>
              <a:t>Event engine</a:t>
            </a:r>
            <a:endParaRPr lang="en-US" sz="1400" dirty="0"/>
          </a:p>
        </p:txBody>
      </p:sp>
      <p:sp>
        <p:nvSpPr>
          <p:cNvPr id="13" name="text-52"/>
          <p:cNvSpPr txBox="1"/>
          <p:nvPr/>
        </p:nvSpPr>
        <p:spPr>
          <a:xfrm>
            <a:off x="749808" y="4626864"/>
            <a:ext cx="2066544" cy="502920"/>
          </a:xfrm>
          <a:prstGeom prst="rect">
            <a:avLst/>
          </a:prstGeom>
          <a:noFill/>
          <a:ln/>
        </p:spPr>
        <p:txBody>
          <a:bodyPr wrap="square" lIns="0" tIns="0" rIns="0" bIns="0" rtlCol="0" anchor="t"/>
          <a:lstStyle/>
          <a:p>
            <a:pPr indent="0" marL="0">
              <a:buNone/>
            </a:pPr>
            <a:r>
              <a:rPr lang="en-US" sz="1400" dirty="0">
                <a:solidFill>
                  <a:schemeClr val="tx2"/>
                </a:solidFill>
              </a:rPr>
              <a:t>Injects clouds, outages, price spikes</a:t>
            </a:r>
            <a:endParaRPr lang="en-US" sz="1400" dirty="0"/>
          </a:p>
        </p:txBody>
      </p:sp>
      <p:sp>
        <p:nvSpPr>
          <p:cNvPr id="14" name="arrow-53"/>
          <p:cNvSpPr/>
          <p:nvPr/>
        </p:nvSpPr>
        <p:spPr>
          <a:xfrm>
            <a:off x="3083509" y="3378708"/>
            <a:ext cx="274320" cy="237744"/>
          </a:xfrm>
          <a:prstGeom prst="rightArrow">
            <a:avLst/>
          </a:prstGeom>
          <a:solidFill>
            <a:schemeClr val="accent2"/>
          </a:solidFill>
          <a:ln/>
        </p:spPr>
      </p:sp>
      <p:sp>
        <p:nvSpPr>
          <p:cNvPr id="15" name="card-54"/>
          <p:cNvSpPr/>
          <p:nvPr/>
        </p:nvSpPr>
        <p:spPr>
          <a:xfrm>
            <a:off x="3423818" y="1737360"/>
            <a:ext cx="2468880" cy="3520440"/>
          </a:xfrm>
          <a:prstGeom prst="roundRect">
            <a:avLst>
              <a:gd name="adj" fmla="val 2963"/>
            </a:avLst>
          </a:prstGeom>
          <a:solidFill>
            <a:schemeClr val="bg2"/>
          </a:solidFill>
          <a:ln/>
        </p:spPr>
      </p:sp>
      <p:sp>
        <p:nvSpPr>
          <p:cNvPr id="16" name="text-55"/>
          <p:cNvSpPr txBox="1"/>
          <p:nvPr/>
        </p:nvSpPr>
        <p:spPr>
          <a:xfrm>
            <a:off x="3624986" y="1901952"/>
            <a:ext cx="2066544"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STEP 2</a:t>
            </a:r>
            <a:endParaRPr lang="en-US" sz="1100" dirty="0"/>
          </a:p>
        </p:txBody>
      </p:sp>
      <p:sp>
        <p:nvSpPr>
          <p:cNvPr id="17" name="text-56"/>
          <p:cNvSpPr txBox="1"/>
          <p:nvPr/>
        </p:nvSpPr>
        <p:spPr>
          <a:xfrm>
            <a:off x="3624986" y="2148840"/>
            <a:ext cx="2066544" cy="365760"/>
          </a:xfrm>
          <a:prstGeom prst="rect">
            <a:avLst/>
          </a:prstGeom>
          <a:noFill/>
          <a:ln/>
        </p:spPr>
        <p:txBody>
          <a:bodyPr wrap="square" lIns="0" tIns="0" rIns="0" bIns="0" rtlCol="0" anchor="t"/>
          <a:lstStyle/>
          <a:p>
            <a:pPr indent="0" marL="0">
              <a:buNone/>
            </a:pPr>
            <a:r>
              <a:rPr lang="en-US" sz="2000" b="1" dirty="0">
                <a:solidFill>
                  <a:schemeClr val="tx1"/>
                </a:solidFill>
              </a:rPr>
              <a:t>Reason</a:t>
            </a:r>
            <a:endParaRPr lang="en-US" sz="2000" dirty="0"/>
          </a:p>
        </p:txBody>
      </p:sp>
      <p:sp>
        <p:nvSpPr>
          <p:cNvPr id="18" name="text-57"/>
          <p:cNvSpPr txBox="1"/>
          <p:nvPr/>
        </p:nvSpPr>
        <p:spPr>
          <a:xfrm>
            <a:off x="3624986" y="2651760"/>
            <a:ext cx="2066544" cy="256032"/>
          </a:xfrm>
          <a:prstGeom prst="rect">
            <a:avLst/>
          </a:prstGeom>
          <a:noFill/>
          <a:ln/>
        </p:spPr>
        <p:txBody>
          <a:bodyPr wrap="square" lIns="0" tIns="0" rIns="0" bIns="0" rtlCol="0" anchor="t"/>
          <a:lstStyle/>
          <a:p>
            <a:pPr indent="0" marL="0">
              <a:buNone/>
            </a:pPr>
            <a:r>
              <a:rPr lang="en-US" sz="1400" b="1" dirty="0">
                <a:solidFill>
                  <a:schemeClr val="tx1"/>
                </a:solidFill>
              </a:rPr>
              <a:t>Monitor agent</a:t>
            </a:r>
            <a:endParaRPr lang="en-US" sz="1400" dirty="0"/>
          </a:p>
        </p:txBody>
      </p:sp>
      <p:sp>
        <p:nvSpPr>
          <p:cNvPr id="19" name="text-58"/>
          <p:cNvSpPr txBox="1"/>
          <p:nvPr/>
        </p:nvSpPr>
        <p:spPr>
          <a:xfrm>
            <a:off x="3624986" y="2926080"/>
            <a:ext cx="2066544" cy="502920"/>
          </a:xfrm>
          <a:prstGeom prst="rect">
            <a:avLst/>
          </a:prstGeom>
          <a:noFill/>
          <a:ln/>
        </p:spPr>
        <p:txBody>
          <a:bodyPr wrap="square" lIns="0" tIns="0" rIns="0" bIns="0" rtlCol="0" anchor="t"/>
          <a:lstStyle/>
          <a:p>
            <a:pPr indent="0" marL="0">
              <a:buNone/>
            </a:pPr>
            <a:r>
              <a:rPr lang="en-US" sz="1400" dirty="0">
                <a:solidFill>
                  <a:schemeClr val="tx2"/>
                </a:solidFill>
              </a:rPr>
              <a:t>Flags anomalies, triggers a re-plan</a:t>
            </a:r>
            <a:endParaRPr lang="en-US" sz="1400" dirty="0"/>
          </a:p>
        </p:txBody>
      </p:sp>
      <p:sp>
        <p:nvSpPr>
          <p:cNvPr id="20" name="text-59"/>
          <p:cNvSpPr txBox="1"/>
          <p:nvPr/>
        </p:nvSpPr>
        <p:spPr>
          <a:xfrm>
            <a:off x="3624986" y="3502152"/>
            <a:ext cx="2066544" cy="256032"/>
          </a:xfrm>
          <a:prstGeom prst="rect">
            <a:avLst/>
          </a:prstGeom>
          <a:noFill/>
          <a:ln/>
        </p:spPr>
        <p:txBody>
          <a:bodyPr wrap="square" lIns="0" tIns="0" rIns="0" bIns="0" rtlCol="0" anchor="t"/>
          <a:lstStyle/>
          <a:p>
            <a:pPr indent="0" marL="0">
              <a:buNone/>
            </a:pPr>
            <a:r>
              <a:rPr lang="en-US" sz="1400" b="1" dirty="0">
                <a:solidFill>
                  <a:schemeClr val="tx1"/>
                </a:solidFill>
              </a:rPr>
              <a:t>Strategy agent</a:t>
            </a:r>
            <a:endParaRPr lang="en-US" sz="1400" dirty="0"/>
          </a:p>
        </p:txBody>
      </p:sp>
      <p:sp>
        <p:nvSpPr>
          <p:cNvPr id="21" name="text-60"/>
          <p:cNvSpPr txBox="1"/>
          <p:nvPr/>
        </p:nvSpPr>
        <p:spPr>
          <a:xfrm>
            <a:off x="3624986" y="3776472"/>
            <a:ext cx="2066544" cy="502920"/>
          </a:xfrm>
          <a:prstGeom prst="rect">
            <a:avLst/>
          </a:prstGeom>
          <a:noFill/>
          <a:ln/>
        </p:spPr>
        <p:txBody>
          <a:bodyPr wrap="square" lIns="0" tIns="0" rIns="0" bIns="0" rtlCol="0" anchor="t"/>
          <a:lstStyle/>
          <a:p>
            <a:pPr indent="0" marL="0">
              <a:buNone/>
            </a:pPr>
            <a:r>
              <a:rPr lang="en-US" sz="1400" dirty="0">
                <a:solidFill>
                  <a:schemeClr val="tx2"/>
                </a:solidFill>
              </a:rPr>
              <a:t>Picks a mode and weights, calls tools</a:t>
            </a:r>
            <a:endParaRPr lang="en-US" sz="1400" dirty="0"/>
          </a:p>
        </p:txBody>
      </p:sp>
      <p:sp>
        <p:nvSpPr>
          <p:cNvPr id="22" name="text-61"/>
          <p:cNvSpPr txBox="1"/>
          <p:nvPr/>
        </p:nvSpPr>
        <p:spPr>
          <a:xfrm>
            <a:off x="3624986" y="4352544"/>
            <a:ext cx="2066544" cy="256032"/>
          </a:xfrm>
          <a:prstGeom prst="rect">
            <a:avLst/>
          </a:prstGeom>
          <a:noFill/>
          <a:ln/>
        </p:spPr>
        <p:txBody>
          <a:bodyPr wrap="square" lIns="0" tIns="0" rIns="0" bIns="0" rtlCol="0" anchor="t"/>
          <a:lstStyle/>
          <a:p>
            <a:pPr indent="0" marL="0">
              <a:buNone/>
            </a:pPr>
            <a:r>
              <a:rPr lang="en-US" sz="1400" b="1" dirty="0">
                <a:solidFill>
                  <a:schemeClr val="tx1"/>
                </a:solidFill>
              </a:rPr>
              <a:t>Tools</a:t>
            </a:r>
            <a:endParaRPr lang="en-US" sz="1400" dirty="0"/>
          </a:p>
        </p:txBody>
      </p:sp>
      <p:sp>
        <p:nvSpPr>
          <p:cNvPr id="23" name="text-62"/>
          <p:cNvSpPr txBox="1"/>
          <p:nvPr/>
        </p:nvSpPr>
        <p:spPr>
          <a:xfrm>
            <a:off x="3624986" y="4626864"/>
            <a:ext cx="2066544" cy="502920"/>
          </a:xfrm>
          <a:prstGeom prst="rect">
            <a:avLst/>
          </a:prstGeom>
          <a:noFill/>
          <a:ln/>
        </p:spPr>
        <p:txBody>
          <a:bodyPr wrap="square" lIns="0" tIns="0" rIns="0" bIns="0" rtlCol="0" anchor="t"/>
          <a:lstStyle/>
          <a:p>
            <a:pPr indent="0" marL="0">
              <a:buNone/>
            </a:pPr>
            <a:r>
              <a:rPr lang="en-US" sz="1400" dirty="0">
                <a:solidFill>
                  <a:schemeClr val="tx2"/>
                </a:solidFill>
              </a:rPr>
              <a:t>Solver, risk evaluator, plan comparison</a:t>
            </a:r>
            <a:endParaRPr lang="en-US" sz="1400" dirty="0"/>
          </a:p>
        </p:txBody>
      </p:sp>
      <p:sp>
        <p:nvSpPr>
          <p:cNvPr id="24" name="arrow-63"/>
          <p:cNvSpPr/>
          <p:nvPr/>
        </p:nvSpPr>
        <p:spPr>
          <a:xfrm>
            <a:off x="5958688" y="3378708"/>
            <a:ext cx="274320" cy="237744"/>
          </a:xfrm>
          <a:prstGeom prst="rightArrow">
            <a:avLst/>
          </a:prstGeom>
          <a:solidFill>
            <a:schemeClr val="accent2"/>
          </a:solidFill>
          <a:ln/>
        </p:spPr>
      </p:sp>
      <p:sp>
        <p:nvSpPr>
          <p:cNvPr id="25" name="card-64"/>
          <p:cNvSpPr/>
          <p:nvPr/>
        </p:nvSpPr>
        <p:spPr>
          <a:xfrm>
            <a:off x="6298997" y="1737360"/>
            <a:ext cx="2468880" cy="3520440"/>
          </a:xfrm>
          <a:prstGeom prst="roundRect">
            <a:avLst>
              <a:gd name="adj" fmla="val 2963"/>
            </a:avLst>
          </a:prstGeom>
          <a:solidFill>
            <a:schemeClr val="bg2"/>
          </a:solidFill>
          <a:ln/>
        </p:spPr>
      </p:sp>
      <p:sp>
        <p:nvSpPr>
          <p:cNvPr id="26" name="text-65"/>
          <p:cNvSpPr txBox="1"/>
          <p:nvPr/>
        </p:nvSpPr>
        <p:spPr>
          <a:xfrm>
            <a:off x="6500165" y="1901952"/>
            <a:ext cx="2066544"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STEP 3</a:t>
            </a:r>
            <a:endParaRPr lang="en-US" sz="1100" dirty="0"/>
          </a:p>
        </p:txBody>
      </p:sp>
      <p:sp>
        <p:nvSpPr>
          <p:cNvPr id="27" name="text-66"/>
          <p:cNvSpPr txBox="1"/>
          <p:nvPr/>
        </p:nvSpPr>
        <p:spPr>
          <a:xfrm>
            <a:off x="6500165" y="2148840"/>
            <a:ext cx="2066544" cy="365760"/>
          </a:xfrm>
          <a:prstGeom prst="rect">
            <a:avLst/>
          </a:prstGeom>
          <a:noFill/>
          <a:ln/>
        </p:spPr>
        <p:txBody>
          <a:bodyPr wrap="square" lIns="0" tIns="0" rIns="0" bIns="0" rtlCol="0" anchor="t"/>
          <a:lstStyle/>
          <a:p>
            <a:pPr indent="0" marL="0">
              <a:buNone/>
            </a:pPr>
            <a:r>
              <a:rPr lang="en-US" sz="2000" b="1" dirty="0">
                <a:solidFill>
                  <a:schemeClr val="tx1"/>
                </a:solidFill>
              </a:rPr>
              <a:t>Gate</a:t>
            </a:r>
            <a:endParaRPr lang="en-US" sz="2000" dirty="0"/>
          </a:p>
        </p:txBody>
      </p:sp>
      <p:sp>
        <p:nvSpPr>
          <p:cNvPr id="28" name="text-67"/>
          <p:cNvSpPr txBox="1"/>
          <p:nvPr/>
        </p:nvSpPr>
        <p:spPr>
          <a:xfrm>
            <a:off x="6500165" y="2651760"/>
            <a:ext cx="2066544" cy="256032"/>
          </a:xfrm>
          <a:prstGeom prst="rect">
            <a:avLst/>
          </a:prstGeom>
          <a:noFill/>
          <a:ln/>
        </p:spPr>
        <p:txBody>
          <a:bodyPr wrap="square" lIns="0" tIns="0" rIns="0" bIns="0" rtlCol="0" anchor="t"/>
          <a:lstStyle/>
          <a:p>
            <a:pPr indent="0" marL="0">
              <a:buNone/>
            </a:pPr>
            <a:r>
              <a:rPr lang="en-US" sz="1400" b="1" dirty="0">
                <a:solidFill>
                  <a:schemeClr val="tx1"/>
                </a:solidFill>
              </a:rPr>
              <a:t>Guardrails</a:t>
            </a:r>
            <a:endParaRPr lang="en-US" sz="1400" dirty="0"/>
          </a:p>
        </p:txBody>
      </p:sp>
      <p:sp>
        <p:nvSpPr>
          <p:cNvPr id="29" name="text-68"/>
          <p:cNvSpPr txBox="1"/>
          <p:nvPr/>
        </p:nvSpPr>
        <p:spPr>
          <a:xfrm>
            <a:off x="6500165" y="2926080"/>
            <a:ext cx="2066544" cy="502920"/>
          </a:xfrm>
          <a:prstGeom prst="rect">
            <a:avLst/>
          </a:prstGeom>
          <a:noFill/>
          <a:ln/>
        </p:spPr>
        <p:txBody>
          <a:bodyPr wrap="square" lIns="0" tIns="0" rIns="0" bIns="0" rtlCol="0" anchor="t"/>
          <a:lstStyle/>
          <a:p>
            <a:pPr indent="0" marL="0">
              <a:buNone/>
            </a:pPr>
            <a:r>
              <a:rPr lang="en-US" sz="1400" dirty="0">
                <a:solidFill>
                  <a:schemeClr val="tx2"/>
                </a:solidFill>
              </a:rPr>
              <a:t>Hard checks on every candidate plan</a:t>
            </a:r>
            <a:endParaRPr lang="en-US" sz="1400" dirty="0"/>
          </a:p>
        </p:txBody>
      </p:sp>
      <p:sp>
        <p:nvSpPr>
          <p:cNvPr id="30" name="text-69"/>
          <p:cNvSpPr txBox="1"/>
          <p:nvPr/>
        </p:nvSpPr>
        <p:spPr>
          <a:xfrm>
            <a:off x="6500165" y="3502152"/>
            <a:ext cx="2066544" cy="256032"/>
          </a:xfrm>
          <a:prstGeom prst="rect">
            <a:avLst/>
          </a:prstGeom>
          <a:noFill/>
          <a:ln/>
        </p:spPr>
        <p:txBody>
          <a:bodyPr wrap="square" lIns="0" tIns="0" rIns="0" bIns="0" rtlCol="0" anchor="t"/>
          <a:lstStyle/>
          <a:p>
            <a:pPr indent="0" marL="0">
              <a:buNone/>
            </a:pPr>
            <a:r>
              <a:rPr lang="en-US" sz="1400" b="1" dirty="0">
                <a:solidFill>
                  <a:schemeClr val="tx1"/>
                </a:solidFill>
              </a:rPr>
              <a:t>Recovery</a:t>
            </a:r>
            <a:endParaRPr lang="en-US" sz="1400" dirty="0"/>
          </a:p>
        </p:txBody>
      </p:sp>
      <p:sp>
        <p:nvSpPr>
          <p:cNvPr id="31" name="text-70"/>
          <p:cNvSpPr txBox="1"/>
          <p:nvPr/>
        </p:nvSpPr>
        <p:spPr>
          <a:xfrm>
            <a:off x="6500165" y="3776472"/>
            <a:ext cx="2066544" cy="502920"/>
          </a:xfrm>
          <a:prstGeom prst="rect">
            <a:avLst/>
          </a:prstGeom>
          <a:noFill/>
          <a:ln/>
        </p:spPr>
        <p:txBody>
          <a:bodyPr wrap="square" lIns="0" tIns="0" rIns="0" bIns="0" rtlCol="0" anchor="t"/>
          <a:lstStyle/>
          <a:p>
            <a:pPr indent="0" marL="0">
              <a:buNone/>
            </a:pPr>
            <a:r>
              <a:rPr lang="en-US" sz="1400" dirty="0">
                <a:solidFill>
                  <a:schemeClr val="tx2"/>
                </a:solidFill>
              </a:rPr>
              <a:t>Two re-solves, then safe-mode dispatch</a:t>
            </a:r>
            <a:endParaRPr lang="en-US" sz="1400" dirty="0"/>
          </a:p>
        </p:txBody>
      </p:sp>
      <p:sp>
        <p:nvSpPr>
          <p:cNvPr id="32" name="text-71"/>
          <p:cNvSpPr txBox="1"/>
          <p:nvPr/>
        </p:nvSpPr>
        <p:spPr>
          <a:xfrm>
            <a:off x="6500165" y="4352544"/>
            <a:ext cx="2066544" cy="256032"/>
          </a:xfrm>
          <a:prstGeom prst="rect">
            <a:avLst/>
          </a:prstGeom>
          <a:noFill/>
          <a:ln/>
        </p:spPr>
        <p:txBody>
          <a:bodyPr wrap="square" lIns="0" tIns="0" rIns="0" bIns="0" rtlCol="0" anchor="t"/>
          <a:lstStyle/>
          <a:p>
            <a:pPr indent="0" marL="0">
              <a:buNone/>
            </a:pPr>
            <a:r>
              <a:rPr lang="en-US" sz="1400" b="1" dirty="0">
                <a:solidFill>
                  <a:schemeClr val="tx1"/>
                </a:solidFill>
              </a:rPr>
              <a:t>Operator</a:t>
            </a:r>
            <a:endParaRPr lang="en-US" sz="1400" dirty="0"/>
          </a:p>
        </p:txBody>
      </p:sp>
      <p:sp>
        <p:nvSpPr>
          <p:cNvPr id="33" name="text-72"/>
          <p:cNvSpPr txBox="1"/>
          <p:nvPr/>
        </p:nvSpPr>
        <p:spPr>
          <a:xfrm>
            <a:off x="6500165" y="4626864"/>
            <a:ext cx="2066544" cy="502920"/>
          </a:xfrm>
          <a:prstGeom prst="rect">
            <a:avLst/>
          </a:prstGeom>
          <a:noFill/>
          <a:ln/>
        </p:spPr>
        <p:txBody>
          <a:bodyPr wrap="square" lIns="0" tIns="0" rIns="0" bIns="0" rtlCol="0" anchor="t"/>
          <a:lstStyle/>
          <a:p>
            <a:pPr indent="0" marL="0">
              <a:buNone/>
            </a:pPr>
            <a:r>
              <a:rPr lang="en-US" sz="1400" dirty="0">
                <a:solidFill>
                  <a:schemeClr val="tx2"/>
                </a:solidFill>
              </a:rPr>
              <a:t>Approves, pauses or overrides</a:t>
            </a:r>
            <a:endParaRPr lang="en-US" sz="1400" dirty="0"/>
          </a:p>
        </p:txBody>
      </p:sp>
      <p:sp>
        <p:nvSpPr>
          <p:cNvPr id="34" name="arrow-73"/>
          <p:cNvSpPr/>
          <p:nvPr/>
        </p:nvSpPr>
        <p:spPr>
          <a:xfrm>
            <a:off x="8833866" y="3378708"/>
            <a:ext cx="274320" cy="237744"/>
          </a:xfrm>
          <a:prstGeom prst="rightArrow">
            <a:avLst/>
          </a:prstGeom>
          <a:solidFill>
            <a:schemeClr val="accent2"/>
          </a:solidFill>
          <a:ln/>
        </p:spPr>
      </p:sp>
      <p:sp>
        <p:nvSpPr>
          <p:cNvPr id="35" name="card-74"/>
          <p:cNvSpPr/>
          <p:nvPr/>
        </p:nvSpPr>
        <p:spPr>
          <a:xfrm>
            <a:off x="9174175" y="1737360"/>
            <a:ext cx="2468880" cy="3520440"/>
          </a:xfrm>
          <a:prstGeom prst="roundRect">
            <a:avLst>
              <a:gd name="adj" fmla="val 2963"/>
            </a:avLst>
          </a:prstGeom>
          <a:solidFill>
            <a:schemeClr val="bg2"/>
          </a:solidFill>
          <a:ln/>
        </p:spPr>
      </p:sp>
      <p:sp>
        <p:nvSpPr>
          <p:cNvPr id="36" name="text-75"/>
          <p:cNvSpPr txBox="1"/>
          <p:nvPr/>
        </p:nvSpPr>
        <p:spPr>
          <a:xfrm>
            <a:off x="9375343" y="1901952"/>
            <a:ext cx="2066544"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STEP 4</a:t>
            </a:r>
            <a:endParaRPr lang="en-US" sz="1100" dirty="0"/>
          </a:p>
        </p:txBody>
      </p:sp>
      <p:sp>
        <p:nvSpPr>
          <p:cNvPr id="37" name="text-76"/>
          <p:cNvSpPr txBox="1"/>
          <p:nvPr/>
        </p:nvSpPr>
        <p:spPr>
          <a:xfrm>
            <a:off x="9375343" y="2148840"/>
            <a:ext cx="2066544" cy="365760"/>
          </a:xfrm>
          <a:prstGeom prst="rect">
            <a:avLst/>
          </a:prstGeom>
          <a:noFill/>
          <a:ln/>
        </p:spPr>
        <p:txBody>
          <a:bodyPr wrap="square" lIns="0" tIns="0" rIns="0" bIns="0" rtlCol="0" anchor="t"/>
          <a:lstStyle/>
          <a:p>
            <a:pPr indent="0" marL="0">
              <a:buNone/>
            </a:pPr>
            <a:r>
              <a:rPr lang="en-US" sz="2000" b="1" dirty="0">
                <a:solidFill>
                  <a:schemeClr val="tx1"/>
                </a:solidFill>
              </a:rPr>
              <a:t>Act and record</a:t>
            </a:r>
            <a:endParaRPr lang="en-US" sz="2000" dirty="0"/>
          </a:p>
        </p:txBody>
      </p:sp>
      <p:sp>
        <p:nvSpPr>
          <p:cNvPr id="38" name="text-77"/>
          <p:cNvSpPr txBox="1"/>
          <p:nvPr/>
        </p:nvSpPr>
        <p:spPr>
          <a:xfrm>
            <a:off x="9375343" y="2651760"/>
            <a:ext cx="2066544" cy="256032"/>
          </a:xfrm>
          <a:prstGeom prst="rect">
            <a:avLst/>
          </a:prstGeom>
          <a:noFill/>
          <a:ln/>
        </p:spPr>
        <p:txBody>
          <a:bodyPr wrap="square" lIns="0" tIns="0" rIns="0" bIns="0" rtlCol="0" anchor="t"/>
          <a:lstStyle/>
          <a:p>
            <a:pPr indent="0" marL="0">
              <a:buNone/>
            </a:pPr>
            <a:r>
              <a:rPr lang="en-US" sz="1400" b="1" dirty="0">
                <a:solidFill>
                  <a:schemeClr val="tx1"/>
                </a:solidFill>
              </a:rPr>
              <a:t>Executor</a:t>
            </a:r>
            <a:endParaRPr lang="en-US" sz="1400" dirty="0"/>
          </a:p>
        </p:txBody>
      </p:sp>
      <p:sp>
        <p:nvSpPr>
          <p:cNvPr id="39" name="text-78"/>
          <p:cNvSpPr txBox="1"/>
          <p:nvPr/>
        </p:nvSpPr>
        <p:spPr>
          <a:xfrm>
            <a:off x="9375343" y="2926080"/>
            <a:ext cx="2066544" cy="502920"/>
          </a:xfrm>
          <a:prstGeom prst="rect">
            <a:avLst/>
          </a:prstGeom>
          <a:noFill/>
          <a:ln/>
        </p:spPr>
        <p:txBody>
          <a:bodyPr wrap="square" lIns="0" tIns="0" rIns="0" bIns="0" rtlCol="0" anchor="t"/>
          <a:lstStyle/>
          <a:p>
            <a:pPr indent="0" marL="0">
              <a:buNone/>
            </a:pPr>
            <a:r>
              <a:rPr lang="en-US" sz="1400" dirty="0">
                <a:solidFill>
                  <a:schemeClr val="tx2"/>
                </a:solidFill>
              </a:rPr>
              <a:t>Applies only the first 15-minute step</a:t>
            </a:r>
            <a:endParaRPr lang="en-US" sz="1400" dirty="0"/>
          </a:p>
        </p:txBody>
      </p:sp>
      <p:sp>
        <p:nvSpPr>
          <p:cNvPr id="40" name="text-79"/>
          <p:cNvSpPr txBox="1"/>
          <p:nvPr/>
        </p:nvSpPr>
        <p:spPr>
          <a:xfrm>
            <a:off x="9375343" y="3502152"/>
            <a:ext cx="2066544" cy="256032"/>
          </a:xfrm>
          <a:prstGeom prst="rect">
            <a:avLst/>
          </a:prstGeom>
          <a:noFill/>
          <a:ln/>
        </p:spPr>
        <p:txBody>
          <a:bodyPr wrap="square" lIns="0" tIns="0" rIns="0" bIns="0" rtlCol="0" anchor="t"/>
          <a:lstStyle/>
          <a:p>
            <a:pPr indent="0" marL="0">
              <a:buNone/>
            </a:pPr>
            <a:r>
              <a:rPr lang="en-US" sz="1400" b="1" dirty="0">
                <a:solidFill>
                  <a:schemeClr val="tx1"/>
                </a:solidFill>
              </a:rPr>
              <a:t>Decision log</a:t>
            </a:r>
            <a:endParaRPr lang="en-US" sz="1400" dirty="0"/>
          </a:p>
        </p:txBody>
      </p:sp>
      <p:sp>
        <p:nvSpPr>
          <p:cNvPr id="41" name="text-80"/>
          <p:cNvSpPr txBox="1"/>
          <p:nvPr/>
        </p:nvSpPr>
        <p:spPr>
          <a:xfrm>
            <a:off x="9375343" y="3776472"/>
            <a:ext cx="2066544" cy="502920"/>
          </a:xfrm>
          <a:prstGeom prst="rect">
            <a:avLst/>
          </a:prstGeom>
          <a:noFill/>
          <a:ln/>
        </p:spPr>
        <p:txBody>
          <a:bodyPr wrap="square" lIns="0" tIns="0" rIns="0" bIns="0" rtlCol="0" anchor="t"/>
          <a:lstStyle/>
          <a:p>
            <a:pPr indent="0" marL="0">
              <a:buNone/>
            </a:pPr>
            <a:r>
              <a:rPr lang="en-US" sz="1400" dirty="0">
                <a:solidFill>
                  <a:schemeClr val="tx2"/>
                </a:solidFill>
              </a:rPr>
              <a:t>One audit entry per interval</a:t>
            </a:r>
            <a:endParaRPr lang="en-US" sz="1400" dirty="0"/>
          </a:p>
        </p:txBody>
      </p:sp>
      <p:sp>
        <p:nvSpPr>
          <p:cNvPr id="42" name="text-81"/>
          <p:cNvSpPr txBox="1"/>
          <p:nvPr/>
        </p:nvSpPr>
        <p:spPr>
          <a:xfrm>
            <a:off x="9375343" y="4352544"/>
            <a:ext cx="2066544" cy="256032"/>
          </a:xfrm>
          <a:prstGeom prst="rect">
            <a:avLst/>
          </a:prstGeom>
          <a:noFill/>
          <a:ln/>
        </p:spPr>
        <p:txBody>
          <a:bodyPr wrap="square" lIns="0" tIns="0" rIns="0" bIns="0" rtlCol="0" anchor="t"/>
          <a:lstStyle/>
          <a:p>
            <a:pPr indent="0" marL="0">
              <a:buNone/>
            </a:pPr>
            <a:r>
              <a:rPr lang="en-US" sz="1400" b="1" dirty="0">
                <a:solidFill>
                  <a:schemeClr val="tx1"/>
                </a:solidFill>
              </a:rPr>
              <a:t>Explainer agent</a:t>
            </a:r>
            <a:endParaRPr lang="en-US" sz="1400" dirty="0"/>
          </a:p>
        </p:txBody>
      </p:sp>
      <p:sp>
        <p:nvSpPr>
          <p:cNvPr id="43" name="text-82"/>
          <p:cNvSpPr txBox="1"/>
          <p:nvPr/>
        </p:nvSpPr>
        <p:spPr>
          <a:xfrm>
            <a:off x="9375343" y="4626864"/>
            <a:ext cx="2066544" cy="502920"/>
          </a:xfrm>
          <a:prstGeom prst="rect">
            <a:avLst/>
          </a:prstGeom>
          <a:noFill/>
          <a:ln/>
        </p:spPr>
        <p:txBody>
          <a:bodyPr wrap="square" lIns="0" tIns="0" rIns="0" bIns="0" rtlCol="0" anchor="t"/>
          <a:lstStyle/>
          <a:p>
            <a:pPr indent="0" marL="0">
              <a:buNone/>
            </a:pPr>
            <a:r>
              <a:rPr lang="en-US" sz="1400" dirty="0">
                <a:solidFill>
                  <a:schemeClr val="tx2"/>
                </a:solidFill>
              </a:rPr>
              <a:t>Writes the operator's shift briefing</a:t>
            </a:r>
            <a:endParaRPr lang="en-US" sz="1400" dirty="0"/>
          </a:p>
        </p:txBody>
      </p:sp>
      <p:sp>
        <p:nvSpPr>
          <p:cNvPr id="44" name="card-83"/>
          <p:cNvSpPr/>
          <p:nvPr/>
        </p:nvSpPr>
        <p:spPr>
          <a:xfrm>
            <a:off x="548640" y="5440680"/>
            <a:ext cx="11094415" cy="548640"/>
          </a:xfrm>
          <a:prstGeom prst="roundRect">
            <a:avLst>
              <a:gd name="adj" fmla="val 13333"/>
            </a:avLst>
          </a:prstGeom>
          <a:solidFill>
            <a:schemeClr val="tx1"/>
          </a:solidFill>
          <a:ln/>
        </p:spPr>
      </p:sp>
      <p:sp>
        <p:nvSpPr>
          <p:cNvPr id="45" name="text-84"/>
          <p:cNvSpPr txBox="1"/>
          <p:nvPr/>
        </p:nvSpPr>
        <p:spPr>
          <a:xfrm>
            <a:off x="777240" y="5440680"/>
            <a:ext cx="10637215" cy="548640"/>
          </a:xfrm>
          <a:prstGeom prst="rect">
            <a:avLst/>
          </a:prstGeom>
          <a:noFill/>
          <a:ln/>
        </p:spPr>
        <p:txBody>
          <a:bodyPr wrap="square" lIns="0" tIns="0" rIns="0" bIns="0" rtlCol="0" anchor="ctr"/>
          <a:lstStyle/>
          <a:p>
            <a:pPr indent="0" marL="0">
              <a:buNone/>
            </a:pPr>
            <a:r>
              <a:rPr lang="en-US" sz="1400" dirty="0">
                <a:solidFill>
                  <a:schemeClr val="bg1"/>
                </a:solidFill>
              </a:rPr>
              <a:t>The executed step changes the simulated grid state, fresh telemetry arrives, and the loop starts again at step 1.</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ARCHITECTURE · MODEL USAGE</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Where the model is used, and where it is not</a:t>
            </a:r>
            <a:endParaRPr lang="en-US" sz="3400" dirty="0"/>
          </a:p>
        </p:txBody>
      </p:sp>
      <p:graphicFrame>
        <p:nvGraphicFramePr>
          <p:cNvPr id="7" name="model-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377440"/>
                <a:gridCol w="6492240"/>
                <a:gridCol w="2224735"/>
              </a:tblGrid>
              <a:tr h="384048">
                <a:tc>
                  <a:txBody>
                    <a:bodyPr/>
                    <a:lstStyle/>
                    <a:p>
                      <a:pPr indent="0" marL="0">
                        <a:buNone/>
                      </a:pPr>
                      <a:r>
                        <a:rPr lang="en-US" sz="1400" b="1" dirty="0">
                          <a:solidFill>
                            <a:schemeClr val="bg1"/>
                          </a:solidFill>
                        </a:rPr>
                        <a:t>Component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Job</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Built as</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tx1"/>
                          </a:solidFill>
                        </a:rPr>
                        <a:t>Monitor agent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Turns telemetry deviations into a short situation summary</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b="1" dirty="0">
                          <a:solidFill>
                            <a:schemeClr val="accent2"/>
                          </a:solidFill>
                        </a:rPr>
                        <a:t>LLM + code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indent="0" marL="0">
                        <a:buNone/>
                      </a:pPr>
                      <a:r>
                        <a:rPr lang="en-US" sz="1400" dirty="0">
                          <a:solidFill>
                            <a:schemeClr val="tx1"/>
                          </a:solidFill>
                        </a:rPr>
                        <a:t>Strategy agent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Chooses the operating mode and weights, compares plans</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b="1" dirty="0">
                          <a:solidFill>
                            <a:schemeClr val="accent2"/>
                          </a:solidFill>
                        </a:rPr>
                        <a:t>LLM + code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indent="0" marL="0">
                        <a:buNone/>
                      </a:pPr>
                      <a:r>
                        <a:rPr lang="en-US" sz="1400" dirty="0">
                          <a:solidFill>
                            <a:schemeClr val="tx1"/>
                          </a:solidFill>
                        </a:rPr>
                        <a:t>Explainer agent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Writes what was done, why, and what would change it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b="1" dirty="0">
                          <a:solidFill>
                            <a:schemeClr val="accent2"/>
                          </a:solidFill>
                        </a:rPr>
                        <a:t>LLM + code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indent="0" marL="0">
                        <a:buNone/>
                      </a:pPr>
                      <a:r>
                        <a:rPr lang="en-US" sz="1400" dirty="0">
                          <a:solidFill>
                            <a:schemeClr val="tx1"/>
                          </a:solidFill>
                        </a:rPr>
                        <a:t>MILP optimiser</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Computes every MW setpoint over a 32-interval horizon</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Deterministic</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Risk evaluator</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Scores each plan against 20 Monte Carlo scenarios</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Deterministic</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Guardrails</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Reject any plan that breaks a hard physical or contract limit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Deterministic</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Executor and log</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Apply the approved step and record the full decision</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Deterministic</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bg2"/>
                    </a:solidFill>
                  </a:tcPr>
                </a:tc>
              </a:tr>
            </a:tbl>
          </a:graphicData>
        </a:graphic>
      </p:graphicFrame>
      <p:sp>
        <p:nvSpPr>
          <p:cNvPr id="6" name="text-85"/>
          <p:cNvSpPr txBox="1"/>
          <p:nvPr/>
        </p:nvSpPr>
        <p:spPr>
          <a:xfrm>
            <a:off x="548640" y="5074920"/>
            <a:ext cx="11094415" cy="822960"/>
          </a:xfrm>
          <a:prstGeom prst="rect">
            <a:avLst/>
          </a:prstGeom>
          <a:noFill/>
          <a:ln/>
        </p:spPr>
        <p:txBody>
          <a:bodyPr wrap="square" lIns="0" tIns="0" rIns="0" bIns="0" rtlCol="0" anchor="t"/>
          <a:lstStyle/>
          <a:p>
            <a:pPr indent="0" marL="0">
              <a:buNone/>
            </a:pPr>
            <a:r>
              <a:rPr lang="en-US" sz="1400" dirty="0">
                <a:solidFill>
                  <a:schemeClr val="tx2"/>
                </a:solidFill>
              </a:rPr>
              <a:t>Model: Gemini 2.5 Flash, at most 6 tool calls per cycle, every output validated against a Pydantic schema. If a call fails or returns an invalid shape, a rule-based stand-in returns the same schema, so the loop never stops.</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ARCHITECTURE · KEY DECISIONS</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Optimality criteria: six modes, one hierarchy</a:t>
            </a:r>
            <a:endParaRPr lang="en-US" sz="3400" dirty="0"/>
          </a:p>
        </p:txBody>
      </p:sp>
      <p:graphicFrame>
        <p:nvGraphicFramePr>
          <p:cNvPr id="8" name="mode-table"/>
          <p:cNvGraphicFramePr>
            <a:graphicFrameLocks noGrp="1"/>
          </p:cNvGraphicFramePr>
          <p:nvPr>
            <p:extLst>
              <p:ext uri="{D42A27DB-BD31-4B8C-83A1-F6EECF244321}">
                <p14:modId xmlns:p14="http://schemas.microsoft.com/office/powerpoint/2010/main" val="1579011935"/>
              </p:ext>
            </p:extLst>
          </p:nvPr>
        </p:nvGraphicFramePr>
        <p:xfrm>
          <a:off x="548640" y="1737360"/>
          <a:ext cx="7040880" cy="914400"/>
        </p:xfrm>
        <a:graphic>
          <a:graphicData uri="http://schemas.openxmlformats.org/drawingml/2006/table">
            <a:tbl>
              <a:tblPr/>
              <a:tblGrid>
                <a:gridCol w="2377440"/>
                <a:gridCol w="777240"/>
                <a:gridCol w="777240"/>
                <a:gridCol w="777240"/>
                <a:gridCol w="777240"/>
                <a:gridCol w="777240"/>
                <a:gridCol w="777240"/>
              </a:tblGrid>
              <a:tr h="384048">
                <a:tc>
                  <a:txBody>
                    <a:bodyPr/>
                    <a:lstStyle/>
                    <a:p>
                      <a:pPr algn="l" indent="0" marL="0">
                        <a:buNone/>
                      </a:pPr>
                      <a:r>
                        <a:rPr lang="en-US" sz="1400" b="1" dirty="0">
                          <a:solidFill>
                            <a:schemeClr val="bg1"/>
                          </a:solidFill>
                        </a:rPr>
                        <a:t>Mode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Cost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Carbon</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Curtail</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Wear</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Reliab.</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Reserve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r>
              <a:tr h="384048">
                <a:tc>
                  <a:txBody>
                    <a:bodyPr/>
                    <a:lstStyle/>
                    <a:p>
                      <a:pPr algn="l" indent="0" marL="0">
                        <a:buNone/>
                      </a:pPr>
                      <a:r>
                        <a:rPr lang="en-US" sz="1400" dirty="0">
                          <a:solidFill>
                            <a:schemeClr val="tx1"/>
                          </a:solidFill>
                        </a:rPr>
                        <a:t>Green</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2.5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3.0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0.8</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3.0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algn="l" indent="0" marL="0">
                        <a:buNone/>
                      </a:pPr>
                      <a:r>
                        <a:rPr lang="en-US" sz="1400" dirty="0">
                          <a:solidFill>
                            <a:schemeClr val="tx1"/>
                          </a:solidFill>
                        </a:rPr>
                        <a:t>Economic</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3.5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0.8</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1.2</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2.5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algn="l" indent="0" marL="0">
                        <a:buNone/>
                      </a:pPr>
                      <a:r>
                        <a:rPr lang="en-US" sz="1400" dirty="0">
                          <a:solidFill>
                            <a:schemeClr val="tx1"/>
                          </a:solidFill>
                        </a:rPr>
                        <a:t>Reliability first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5.0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35%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algn="l" indent="0" marL="0">
                        <a:buNone/>
                      </a:pPr>
                      <a:r>
                        <a:rPr lang="en-US" sz="1400" dirty="0">
                          <a:solidFill>
                            <a:schemeClr val="tx1"/>
                          </a:solidFill>
                        </a:rPr>
                        <a:t>Storm preparation</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5.0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60%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algn="l" indent="0" marL="0">
                        <a:buNone/>
                      </a:pPr>
                      <a:r>
                        <a:rPr lang="en-US" sz="1400" dirty="0">
                          <a:solidFill>
                            <a:schemeClr val="tx1"/>
                          </a:solidFill>
                        </a:rPr>
                        <a:t>Outage recovery</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1.2</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4.5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35%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84048">
                <a:tc>
                  <a:txBody>
                    <a:bodyPr/>
                    <a:lstStyle/>
                    <a:p>
                      <a:pPr algn="l" indent="0" marL="0">
                        <a:buNone/>
                      </a:pPr>
                      <a:r>
                        <a:rPr lang="en-US" sz="1400" dirty="0">
                          <a:solidFill>
                            <a:schemeClr val="tx1"/>
                          </a:solidFill>
                        </a:rPr>
                        <a:t>Congestion management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2.0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3.0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0.8</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3.5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20%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bl>
          </a:graphicData>
        </a:graphic>
      </p:graphicFrame>
      <p:sp>
        <p:nvSpPr>
          <p:cNvPr id="6" name="text-86"/>
          <p:cNvSpPr txBox="1"/>
          <p:nvPr/>
        </p:nvSpPr>
        <p:spPr>
          <a:xfrm>
            <a:off x="548640" y="4663440"/>
            <a:ext cx="7040880" cy="914400"/>
          </a:xfrm>
          <a:prstGeom prst="rect">
            <a:avLst/>
          </a:prstGeom>
          <a:noFill/>
          <a:ln/>
        </p:spPr>
        <p:txBody>
          <a:bodyPr wrap="square" lIns="0" tIns="0" rIns="0" bIns="0" rtlCol="0" anchor="t"/>
          <a:lstStyle/>
          <a:p>
            <a:pPr indent="0" marL="0">
              <a:buNone/>
            </a:pPr>
            <a:r>
              <a:rPr lang="en-US" sz="1400" dirty="0">
                <a:solidFill>
                  <a:schemeClr val="tx2"/>
                </a:solidFill>
              </a:rPr>
              <a:t>The strategy agent picks the mode from the situation. Each mode is a set of objective weights (0 to 5) plus a battery reserve floor; the solver minimises the weighted sum inside hard physical constraints.</a:t>
            </a:r>
            <a:endParaRPr lang="en-US" sz="1400" dirty="0"/>
          </a:p>
        </p:txBody>
      </p:sp>
      <p:sp>
        <p:nvSpPr>
          <p:cNvPr id="7" name="text-87"/>
          <p:cNvSpPr txBox="1"/>
          <p:nvPr/>
        </p:nvSpPr>
        <p:spPr>
          <a:xfrm>
            <a:off x="7955280" y="1737360"/>
            <a:ext cx="3687775" cy="320040"/>
          </a:xfrm>
          <a:prstGeom prst="rect">
            <a:avLst/>
          </a:prstGeom>
          <a:noFill/>
          <a:ln/>
        </p:spPr>
        <p:txBody>
          <a:bodyPr wrap="square" lIns="0" tIns="0" rIns="0" bIns="0" rtlCol="0" anchor="t"/>
          <a:lstStyle/>
          <a:p>
            <a:pPr indent="0" marL="0">
              <a:buNone/>
            </a:pPr>
            <a:r>
              <a:rPr lang="en-US" sz="1800" b="1" dirty="0">
                <a:solidFill>
                  <a:schemeClr val="tx1"/>
                </a:solidFill>
              </a:rPr>
              <a:t>When goals conflict</a:t>
            </a:r>
            <a:endParaRPr lang="en-US" sz="1800" dirty="0"/>
          </a:p>
        </p:txBody>
      </p:sp>
      <p:sp>
        <p:nvSpPr>
          <p:cNvPr id="8" name="card-88"/>
          <p:cNvSpPr/>
          <p:nvPr/>
        </p:nvSpPr>
        <p:spPr>
          <a:xfrm>
            <a:off x="7955280" y="2194560"/>
            <a:ext cx="3687775" cy="777240"/>
          </a:xfrm>
          <a:prstGeom prst="roundRect">
            <a:avLst>
              <a:gd name="adj" fmla="val 9412"/>
            </a:avLst>
          </a:prstGeom>
          <a:solidFill>
            <a:schemeClr val="tx1"/>
          </a:solidFill>
          <a:ln/>
        </p:spPr>
      </p:sp>
      <p:sp>
        <p:nvSpPr>
          <p:cNvPr id="9" name="text-89"/>
          <p:cNvSpPr txBox="1"/>
          <p:nvPr/>
        </p:nvSpPr>
        <p:spPr>
          <a:xfrm>
            <a:off x="8156448" y="2286000"/>
            <a:ext cx="3285439" cy="320040"/>
          </a:xfrm>
          <a:prstGeom prst="rect">
            <a:avLst/>
          </a:prstGeom>
          <a:noFill/>
          <a:ln/>
        </p:spPr>
        <p:txBody>
          <a:bodyPr wrap="square" lIns="0" tIns="0" rIns="0" bIns="0" rtlCol="0" anchor="t"/>
          <a:lstStyle/>
          <a:p>
            <a:pPr indent="0" marL="0">
              <a:buNone/>
            </a:pPr>
            <a:r>
              <a:rPr lang="en-US" sz="1800" b="1" dirty="0">
                <a:solidFill>
                  <a:schemeClr val="accent1"/>
                </a:solidFill>
              </a:rPr>
              <a:t>₹1,00,000 / MWh</a:t>
            </a:r>
            <a:endParaRPr lang="en-US" sz="1800" dirty="0"/>
          </a:p>
        </p:txBody>
      </p:sp>
      <p:sp>
        <p:nvSpPr>
          <p:cNvPr id="10" name="text-90"/>
          <p:cNvSpPr txBox="1"/>
          <p:nvPr/>
        </p:nvSpPr>
        <p:spPr>
          <a:xfrm>
            <a:off x="8156448" y="2624328"/>
            <a:ext cx="3285439" cy="274320"/>
          </a:xfrm>
          <a:prstGeom prst="rect">
            <a:avLst/>
          </a:prstGeom>
          <a:noFill/>
          <a:ln/>
        </p:spPr>
        <p:txBody>
          <a:bodyPr wrap="square" lIns="0" tIns="0" rIns="0" bIns="0" rtlCol="0" anchor="t"/>
          <a:lstStyle/>
          <a:p>
            <a:pPr indent="0" marL="0">
              <a:buNone/>
            </a:pPr>
            <a:r>
              <a:rPr lang="en-US" sz="1400" dirty="0">
                <a:solidFill>
                  <a:schemeClr val="bg1"/>
                </a:solidFill>
              </a:rPr>
              <a:t>Lost critical load</a:t>
            </a:r>
            <a:endParaRPr lang="en-US" sz="1400" dirty="0"/>
          </a:p>
        </p:txBody>
      </p:sp>
      <p:sp>
        <p:nvSpPr>
          <p:cNvPr id="11" name="card-91"/>
          <p:cNvSpPr/>
          <p:nvPr/>
        </p:nvSpPr>
        <p:spPr>
          <a:xfrm>
            <a:off x="7955280" y="3108960"/>
            <a:ext cx="3687775" cy="777240"/>
          </a:xfrm>
          <a:prstGeom prst="roundRect">
            <a:avLst>
              <a:gd name="adj" fmla="val 9412"/>
            </a:avLst>
          </a:prstGeom>
          <a:solidFill>
            <a:schemeClr val="bg2"/>
          </a:solidFill>
          <a:ln/>
        </p:spPr>
      </p:sp>
      <p:sp>
        <p:nvSpPr>
          <p:cNvPr id="12" name="text-92"/>
          <p:cNvSpPr txBox="1"/>
          <p:nvPr/>
        </p:nvSpPr>
        <p:spPr>
          <a:xfrm>
            <a:off x="8156448" y="3200400"/>
            <a:ext cx="3285439" cy="320040"/>
          </a:xfrm>
          <a:prstGeom prst="rect">
            <a:avLst/>
          </a:prstGeom>
          <a:noFill/>
          <a:ln/>
        </p:spPr>
        <p:txBody>
          <a:bodyPr wrap="square" lIns="0" tIns="0" rIns="0" bIns="0" rtlCol="0" anchor="t"/>
          <a:lstStyle/>
          <a:p>
            <a:pPr indent="0" marL="0">
              <a:buNone/>
            </a:pPr>
            <a:r>
              <a:rPr lang="en-US" sz="1800" b="1" dirty="0">
                <a:solidFill>
                  <a:schemeClr val="tx1"/>
                </a:solidFill>
              </a:rPr>
              <a:t>₹25,000 / MWh</a:t>
            </a:r>
            <a:endParaRPr lang="en-US" sz="1800" dirty="0"/>
          </a:p>
        </p:txBody>
      </p:sp>
      <p:sp>
        <p:nvSpPr>
          <p:cNvPr id="13" name="text-93"/>
          <p:cNvSpPr txBox="1"/>
          <p:nvPr/>
        </p:nvSpPr>
        <p:spPr>
          <a:xfrm>
            <a:off x="8156448" y="3538728"/>
            <a:ext cx="3285439" cy="274320"/>
          </a:xfrm>
          <a:prstGeom prst="rect">
            <a:avLst/>
          </a:prstGeom>
          <a:noFill/>
          <a:ln/>
        </p:spPr>
        <p:txBody>
          <a:bodyPr wrap="square" lIns="0" tIns="0" rIns="0" bIns="0" rtlCol="0" anchor="t"/>
          <a:lstStyle/>
          <a:p>
            <a:pPr indent="0" marL="0">
              <a:buNone/>
            </a:pPr>
            <a:r>
              <a:rPr lang="en-US" sz="1400" dirty="0">
                <a:solidFill>
                  <a:schemeClr val="tx2"/>
                </a:solidFill>
              </a:rPr>
              <a:t>Breaching the reserve floor</a:t>
            </a:r>
            <a:endParaRPr lang="en-US" sz="1400" dirty="0"/>
          </a:p>
        </p:txBody>
      </p:sp>
      <p:sp>
        <p:nvSpPr>
          <p:cNvPr id="14" name="card-94"/>
          <p:cNvSpPr/>
          <p:nvPr/>
        </p:nvSpPr>
        <p:spPr>
          <a:xfrm>
            <a:off x="7955280" y="4023360"/>
            <a:ext cx="3687775" cy="777240"/>
          </a:xfrm>
          <a:prstGeom prst="roundRect">
            <a:avLst>
              <a:gd name="adj" fmla="val 9412"/>
            </a:avLst>
          </a:prstGeom>
          <a:solidFill>
            <a:schemeClr val="bg2"/>
          </a:solidFill>
          <a:ln/>
        </p:spPr>
      </p:sp>
      <p:sp>
        <p:nvSpPr>
          <p:cNvPr id="15" name="text-95"/>
          <p:cNvSpPr txBox="1"/>
          <p:nvPr/>
        </p:nvSpPr>
        <p:spPr>
          <a:xfrm>
            <a:off x="8156448" y="4114800"/>
            <a:ext cx="3285439" cy="320040"/>
          </a:xfrm>
          <a:prstGeom prst="rect">
            <a:avLst/>
          </a:prstGeom>
          <a:noFill/>
          <a:ln/>
        </p:spPr>
        <p:txBody>
          <a:bodyPr wrap="square" lIns="0" tIns="0" rIns="0" bIns="0" rtlCol="0" anchor="t"/>
          <a:lstStyle/>
          <a:p>
            <a:pPr indent="0" marL="0">
              <a:buNone/>
            </a:pPr>
            <a:r>
              <a:rPr lang="en-US" sz="1800" b="1" dirty="0">
                <a:solidFill>
                  <a:schemeClr val="tx1"/>
                </a:solidFill>
              </a:rPr>
              <a:t>₹15,000 / MWh</a:t>
            </a:r>
            <a:endParaRPr lang="en-US" sz="1800" dirty="0"/>
          </a:p>
        </p:txBody>
      </p:sp>
      <p:sp>
        <p:nvSpPr>
          <p:cNvPr id="16" name="text-96"/>
          <p:cNvSpPr txBox="1"/>
          <p:nvPr/>
        </p:nvSpPr>
        <p:spPr>
          <a:xfrm>
            <a:off x="8156448" y="4453128"/>
            <a:ext cx="3285439" cy="274320"/>
          </a:xfrm>
          <a:prstGeom prst="rect">
            <a:avLst/>
          </a:prstGeom>
          <a:noFill/>
          <a:ln/>
        </p:spPr>
        <p:txBody>
          <a:bodyPr wrap="square" lIns="0" tIns="0" rIns="0" bIns="0" rtlCol="0" anchor="t"/>
          <a:lstStyle/>
          <a:p>
            <a:pPr indent="0" marL="0">
              <a:buNone/>
            </a:pPr>
            <a:r>
              <a:rPr lang="en-US" sz="1400" dirty="0">
                <a:solidFill>
                  <a:schemeClr val="tx2"/>
                </a:solidFill>
              </a:rPr>
              <a:t>Contract shortfall</a:t>
            </a:r>
            <a:endParaRPr lang="en-US" sz="1400" dirty="0"/>
          </a:p>
        </p:txBody>
      </p:sp>
      <p:sp>
        <p:nvSpPr>
          <p:cNvPr id="17" name="card-97"/>
          <p:cNvSpPr/>
          <p:nvPr/>
        </p:nvSpPr>
        <p:spPr>
          <a:xfrm>
            <a:off x="7955280" y="4937760"/>
            <a:ext cx="3687775" cy="777240"/>
          </a:xfrm>
          <a:prstGeom prst="roundRect">
            <a:avLst>
              <a:gd name="adj" fmla="val 9412"/>
            </a:avLst>
          </a:prstGeom>
          <a:solidFill>
            <a:schemeClr val="bg2"/>
          </a:solidFill>
          <a:ln/>
        </p:spPr>
      </p:sp>
      <p:sp>
        <p:nvSpPr>
          <p:cNvPr id="18" name="text-98"/>
          <p:cNvSpPr txBox="1"/>
          <p:nvPr/>
        </p:nvSpPr>
        <p:spPr>
          <a:xfrm>
            <a:off x="8156448" y="5029200"/>
            <a:ext cx="3285439" cy="320040"/>
          </a:xfrm>
          <a:prstGeom prst="rect">
            <a:avLst/>
          </a:prstGeom>
          <a:noFill/>
          <a:ln/>
        </p:spPr>
        <p:txBody>
          <a:bodyPr wrap="square" lIns="0" tIns="0" rIns="0" bIns="0" rtlCol="0" anchor="t"/>
          <a:lstStyle/>
          <a:p>
            <a:pPr indent="0" marL="0">
              <a:buNone/>
            </a:pPr>
            <a:r>
              <a:rPr lang="en-US" sz="1800" b="1" dirty="0">
                <a:solidFill>
                  <a:schemeClr val="tx1"/>
                </a:solidFill>
              </a:rPr>
              <a:t>₹10,000 / MWh</a:t>
            </a:r>
            <a:endParaRPr lang="en-US" sz="1800" dirty="0"/>
          </a:p>
        </p:txBody>
      </p:sp>
      <p:sp>
        <p:nvSpPr>
          <p:cNvPr id="19" name="text-99"/>
          <p:cNvSpPr txBox="1"/>
          <p:nvPr/>
        </p:nvSpPr>
        <p:spPr>
          <a:xfrm>
            <a:off x="8156448" y="5367528"/>
            <a:ext cx="3285439" cy="274320"/>
          </a:xfrm>
          <a:prstGeom prst="rect">
            <a:avLst/>
          </a:prstGeom>
          <a:noFill/>
          <a:ln/>
        </p:spPr>
        <p:txBody>
          <a:bodyPr wrap="square" lIns="0" tIns="0" rIns="0" bIns="0" rtlCol="0" anchor="t"/>
          <a:lstStyle/>
          <a:p>
            <a:pPr indent="0" marL="0">
              <a:buNone/>
            </a:pPr>
            <a:r>
              <a:rPr lang="en-US" sz="1400" dirty="0">
                <a:solidFill>
                  <a:schemeClr val="tx2"/>
                </a:solidFill>
              </a:rPr>
              <a:t>Highest market price</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ARCHITECTURE · UNCERTAINTY</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Plan for a range, commit to 15 minutes</a:t>
            </a:r>
            <a:endParaRPr lang="en-US" sz="3400" dirty="0"/>
          </a:p>
        </p:txBody>
      </p:sp>
      <p:sp>
        <p:nvSpPr>
          <p:cNvPr id="5" name="card-100"/>
          <p:cNvSpPr/>
          <p:nvPr/>
        </p:nvSpPr>
        <p:spPr>
          <a:xfrm>
            <a:off x="548640" y="1737360"/>
            <a:ext cx="3515258" cy="2240280"/>
          </a:xfrm>
          <a:prstGeom prst="roundRect">
            <a:avLst>
              <a:gd name="adj" fmla="val 3265"/>
            </a:avLst>
          </a:prstGeom>
          <a:solidFill>
            <a:schemeClr val="bg2"/>
          </a:solidFill>
          <a:ln/>
        </p:spPr>
      </p:sp>
      <p:sp>
        <p:nvSpPr>
          <p:cNvPr id="6" name="text-101"/>
          <p:cNvSpPr txBox="1"/>
          <p:nvPr/>
        </p:nvSpPr>
        <p:spPr>
          <a:xfrm>
            <a:off x="777240" y="1920240"/>
            <a:ext cx="3058058" cy="45720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P10 · P50 · P90</a:t>
            </a:r>
            <a:endParaRPr lang="en-US" sz="2600" dirty="0"/>
          </a:p>
        </p:txBody>
      </p:sp>
      <p:sp>
        <p:nvSpPr>
          <p:cNvPr id="7" name="text-102"/>
          <p:cNvSpPr txBox="1"/>
          <p:nvPr/>
        </p:nvSpPr>
        <p:spPr>
          <a:xfrm>
            <a:off x="777240" y="2450592"/>
            <a:ext cx="3058058" cy="320040"/>
          </a:xfrm>
          <a:prstGeom prst="rect">
            <a:avLst/>
          </a:prstGeom>
          <a:noFill/>
          <a:ln/>
        </p:spPr>
        <p:txBody>
          <a:bodyPr wrap="square" lIns="0" tIns="0" rIns="0" bIns="0" rtlCol="0" anchor="t"/>
          <a:lstStyle/>
          <a:p>
            <a:pPr indent="0" marL="0">
              <a:buNone/>
            </a:pPr>
            <a:r>
              <a:rPr lang="en-US" sz="1600" b="1" dirty="0">
                <a:solidFill>
                  <a:schemeClr val="tx1"/>
                </a:solidFill>
              </a:rPr>
              <a:t>Forecast as a cone</a:t>
            </a:r>
            <a:endParaRPr lang="en-US" sz="1600" dirty="0"/>
          </a:p>
        </p:txBody>
      </p:sp>
      <p:sp>
        <p:nvSpPr>
          <p:cNvPr id="8" name="text-103"/>
          <p:cNvSpPr txBox="1"/>
          <p:nvPr/>
        </p:nvSpPr>
        <p:spPr>
          <a:xfrm>
            <a:off x="777240" y="2816352"/>
            <a:ext cx="3058058" cy="1051560"/>
          </a:xfrm>
          <a:prstGeom prst="rect">
            <a:avLst/>
          </a:prstGeom>
          <a:noFill/>
          <a:ln/>
        </p:spPr>
        <p:txBody>
          <a:bodyPr wrap="square" lIns="0" tIns="0" rIns="0" bIns="0" rtlCol="0" anchor="t"/>
          <a:lstStyle/>
          <a:p>
            <a:pPr indent="0" marL="0">
              <a:buNone/>
            </a:pPr>
            <a:r>
              <a:rPr lang="en-US" sz="1400" dirty="0">
                <a:solidFill>
                  <a:schemeClr val="tx2"/>
                </a:solidFill>
              </a:rPr>
              <a:t>Every interval, each asset gets a pessimistic, expected and optimistic forecast for the next 32 intervals (8 hours).</a:t>
            </a:r>
            <a:endParaRPr lang="en-US" sz="1400" dirty="0"/>
          </a:p>
        </p:txBody>
      </p:sp>
      <p:sp>
        <p:nvSpPr>
          <p:cNvPr id="9" name="card-104"/>
          <p:cNvSpPr/>
          <p:nvPr/>
        </p:nvSpPr>
        <p:spPr>
          <a:xfrm>
            <a:off x="4338218" y="1737360"/>
            <a:ext cx="3515258" cy="2240280"/>
          </a:xfrm>
          <a:prstGeom prst="roundRect">
            <a:avLst>
              <a:gd name="adj" fmla="val 3265"/>
            </a:avLst>
          </a:prstGeom>
          <a:solidFill>
            <a:schemeClr val="bg2"/>
          </a:solidFill>
          <a:ln/>
        </p:spPr>
      </p:sp>
      <p:sp>
        <p:nvSpPr>
          <p:cNvPr id="10" name="text-105"/>
          <p:cNvSpPr txBox="1"/>
          <p:nvPr/>
        </p:nvSpPr>
        <p:spPr>
          <a:xfrm>
            <a:off x="4566818" y="1920240"/>
            <a:ext cx="3058058" cy="45720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20 scenarios</a:t>
            </a:r>
            <a:endParaRPr lang="en-US" sz="2600" dirty="0"/>
          </a:p>
        </p:txBody>
      </p:sp>
      <p:sp>
        <p:nvSpPr>
          <p:cNvPr id="11" name="text-106"/>
          <p:cNvSpPr txBox="1"/>
          <p:nvPr/>
        </p:nvSpPr>
        <p:spPr>
          <a:xfrm>
            <a:off x="4566818" y="2450592"/>
            <a:ext cx="3058058" cy="320040"/>
          </a:xfrm>
          <a:prstGeom prst="rect">
            <a:avLst/>
          </a:prstGeom>
          <a:noFill/>
          <a:ln/>
        </p:spPr>
        <p:txBody>
          <a:bodyPr wrap="square" lIns="0" tIns="0" rIns="0" bIns="0" rtlCol="0" anchor="t"/>
          <a:lstStyle/>
          <a:p>
            <a:pPr indent="0" marL="0">
              <a:buNone/>
            </a:pPr>
            <a:r>
              <a:rPr lang="en-US" sz="1600" b="1" dirty="0">
                <a:solidFill>
                  <a:schemeClr val="tx1"/>
                </a:solidFill>
              </a:rPr>
              <a:t>Test each candidate plan</a:t>
            </a:r>
            <a:endParaRPr lang="en-US" sz="1600" dirty="0"/>
          </a:p>
        </p:txBody>
      </p:sp>
      <p:sp>
        <p:nvSpPr>
          <p:cNvPr id="12" name="text-107"/>
          <p:cNvSpPr txBox="1"/>
          <p:nvPr/>
        </p:nvSpPr>
        <p:spPr>
          <a:xfrm>
            <a:off x="4566818" y="2816352"/>
            <a:ext cx="3058058" cy="1051560"/>
          </a:xfrm>
          <a:prstGeom prst="rect">
            <a:avLst/>
          </a:prstGeom>
          <a:noFill/>
          <a:ln/>
        </p:spPr>
        <p:txBody>
          <a:bodyPr wrap="square" lIns="0" tIns="0" rIns="0" bIns="0" rtlCol="0" anchor="t"/>
          <a:lstStyle/>
          <a:p>
            <a:pPr indent="0" marL="0">
              <a:buNone/>
            </a:pPr>
            <a:r>
              <a:rPr lang="en-US" sz="1400" dirty="0">
                <a:solidFill>
                  <a:schemeClr val="tx2"/>
                </a:solidFill>
              </a:rPr>
              <a:t>Monte Carlo runs give expected cost, P90 tail cost and the probability of a contract shortfall, so plans are compared on risk.</a:t>
            </a:r>
            <a:endParaRPr lang="en-US" sz="1400" dirty="0"/>
          </a:p>
        </p:txBody>
      </p:sp>
      <p:sp>
        <p:nvSpPr>
          <p:cNvPr id="13" name="card-108"/>
          <p:cNvSpPr/>
          <p:nvPr/>
        </p:nvSpPr>
        <p:spPr>
          <a:xfrm>
            <a:off x="8127797" y="1737360"/>
            <a:ext cx="3515258" cy="2240280"/>
          </a:xfrm>
          <a:prstGeom prst="roundRect">
            <a:avLst>
              <a:gd name="adj" fmla="val 3265"/>
            </a:avLst>
          </a:prstGeom>
          <a:solidFill>
            <a:schemeClr val="bg2"/>
          </a:solidFill>
          <a:ln/>
        </p:spPr>
      </p:sp>
      <p:sp>
        <p:nvSpPr>
          <p:cNvPr id="14" name="text-109"/>
          <p:cNvSpPr txBox="1"/>
          <p:nvPr/>
        </p:nvSpPr>
        <p:spPr>
          <a:xfrm>
            <a:off x="8356397" y="1920240"/>
            <a:ext cx="3058058" cy="45720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1 of 32 steps</a:t>
            </a:r>
            <a:endParaRPr lang="en-US" sz="2600" dirty="0"/>
          </a:p>
        </p:txBody>
      </p:sp>
      <p:sp>
        <p:nvSpPr>
          <p:cNvPr id="15" name="text-110"/>
          <p:cNvSpPr txBox="1"/>
          <p:nvPr/>
        </p:nvSpPr>
        <p:spPr>
          <a:xfrm>
            <a:off x="8356397" y="2450592"/>
            <a:ext cx="3058058" cy="320040"/>
          </a:xfrm>
          <a:prstGeom prst="rect">
            <a:avLst/>
          </a:prstGeom>
          <a:noFill/>
          <a:ln/>
        </p:spPr>
        <p:txBody>
          <a:bodyPr wrap="square" lIns="0" tIns="0" rIns="0" bIns="0" rtlCol="0" anchor="t"/>
          <a:lstStyle/>
          <a:p>
            <a:pPr indent="0" marL="0">
              <a:buNone/>
            </a:pPr>
            <a:r>
              <a:rPr lang="en-US" sz="1600" b="1" dirty="0">
                <a:solidFill>
                  <a:schemeClr val="tx1"/>
                </a:solidFill>
              </a:rPr>
              <a:t>Execute only the first</a:t>
            </a:r>
            <a:endParaRPr lang="en-US" sz="1600" dirty="0"/>
          </a:p>
        </p:txBody>
      </p:sp>
      <p:sp>
        <p:nvSpPr>
          <p:cNvPr id="16" name="text-111"/>
          <p:cNvSpPr txBox="1"/>
          <p:nvPr/>
        </p:nvSpPr>
        <p:spPr>
          <a:xfrm>
            <a:off x="8356397" y="2816352"/>
            <a:ext cx="3058058" cy="1051560"/>
          </a:xfrm>
          <a:prstGeom prst="rect">
            <a:avLst/>
          </a:prstGeom>
          <a:noFill/>
          <a:ln/>
        </p:spPr>
        <p:txBody>
          <a:bodyPr wrap="square" lIns="0" tIns="0" rIns="0" bIns="0" rtlCol="0" anchor="t"/>
          <a:lstStyle/>
          <a:p>
            <a:pPr indent="0" marL="0">
              <a:buNone/>
            </a:pPr>
            <a:r>
              <a:rPr lang="en-US" sz="1400" dirty="0">
                <a:solidFill>
                  <a:schemeClr val="tx2"/>
                </a:solidFill>
              </a:rPr>
              <a:t>The solver plans 8 hours but only the first 15 minutes run. The plan is rebuilt next interval, so forecast errors do not pile up.</a:t>
            </a:r>
            <a:endParaRPr lang="en-US" sz="1400" dirty="0"/>
          </a:p>
        </p:txBody>
      </p:sp>
      <p:sp>
        <p:nvSpPr>
          <p:cNvPr id="17" name="text-112"/>
          <p:cNvSpPr txBox="1"/>
          <p:nvPr/>
        </p:nvSpPr>
        <p:spPr>
          <a:xfrm>
            <a:off x="548640" y="4251960"/>
            <a:ext cx="11094415" cy="365760"/>
          </a:xfrm>
          <a:prstGeom prst="rect">
            <a:avLst/>
          </a:prstGeom>
          <a:noFill/>
          <a:ln/>
        </p:spPr>
        <p:txBody>
          <a:bodyPr wrap="square" lIns="0" tIns="0" rIns="0" bIns="0" rtlCol="0" anchor="t"/>
          <a:lstStyle/>
          <a:p>
            <a:pPr indent="0" marL="0">
              <a:buNone/>
            </a:pPr>
            <a:r>
              <a:rPr lang="en-US" sz="1800" b="1" dirty="0">
                <a:solidFill>
                  <a:schemeClr val="tx1"/>
                </a:solidFill>
              </a:rPr>
              <a:t>Nine disturbance types the simulator can inject</a:t>
            </a:r>
            <a:endParaRPr lang="en-US" sz="1800" dirty="0"/>
          </a:p>
        </p:txBody>
      </p:sp>
      <p:sp>
        <p:nvSpPr>
          <p:cNvPr id="18" name="pill-113"/>
          <p:cNvSpPr/>
          <p:nvPr/>
        </p:nvSpPr>
        <p:spPr>
          <a:xfrm>
            <a:off x="548640" y="4709160"/>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Cloud cover</a:t>
            </a:r>
            <a:endParaRPr lang="en-US" sz="1400" dirty="0"/>
          </a:p>
        </p:txBody>
      </p:sp>
      <p:sp>
        <p:nvSpPr>
          <p:cNvPr id="19" name="pill-114"/>
          <p:cNvSpPr/>
          <p:nvPr/>
        </p:nvSpPr>
        <p:spPr>
          <a:xfrm>
            <a:off x="2804099" y="4709160"/>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Wind surge</a:t>
            </a:r>
            <a:endParaRPr lang="en-US" sz="1400" dirty="0"/>
          </a:p>
        </p:txBody>
      </p:sp>
      <p:sp>
        <p:nvSpPr>
          <p:cNvPr id="20" name="pill-115"/>
          <p:cNvSpPr/>
          <p:nvPr/>
        </p:nvSpPr>
        <p:spPr>
          <a:xfrm>
            <a:off x="5059558" y="4709160"/>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Wind drop</a:t>
            </a:r>
            <a:endParaRPr lang="en-US" sz="1400" dirty="0"/>
          </a:p>
        </p:txBody>
      </p:sp>
      <p:sp>
        <p:nvSpPr>
          <p:cNvPr id="21" name="pill-116"/>
          <p:cNvSpPr/>
          <p:nvPr/>
        </p:nvSpPr>
        <p:spPr>
          <a:xfrm>
            <a:off x="7315017" y="4709160"/>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Battery outage</a:t>
            </a:r>
            <a:endParaRPr lang="en-US" sz="1400" dirty="0"/>
          </a:p>
        </p:txBody>
      </p:sp>
      <p:sp>
        <p:nvSpPr>
          <p:cNvPr id="22" name="pill-117"/>
          <p:cNvSpPr/>
          <p:nvPr/>
        </p:nvSpPr>
        <p:spPr>
          <a:xfrm>
            <a:off x="9570476" y="4709160"/>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Price spike</a:t>
            </a:r>
            <a:endParaRPr lang="en-US" sz="1400" dirty="0"/>
          </a:p>
        </p:txBody>
      </p:sp>
      <p:sp>
        <p:nvSpPr>
          <p:cNvPr id="23" name="pill-118"/>
          <p:cNvSpPr/>
          <p:nvPr/>
        </p:nvSpPr>
        <p:spPr>
          <a:xfrm>
            <a:off x="548640" y="5276088"/>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Storm alert</a:t>
            </a:r>
            <a:endParaRPr lang="en-US" sz="1400" dirty="0"/>
          </a:p>
        </p:txBody>
      </p:sp>
      <p:sp>
        <p:nvSpPr>
          <p:cNvPr id="24" name="pill-119"/>
          <p:cNvSpPr/>
          <p:nvPr/>
        </p:nvSpPr>
        <p:spPr>
          <a:xfrm>
            <a:off x="2804099" y="5276088"/>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Line constraint</a:t>
            </a:r>
            <a:endParaRPr lang="en-US" sz="1400" dirty="0"/>
          </a:p>
        </p:txBody>
      </p:sp>
      <p:sp>
        <p:nvSpPr>
          <p:cNvPr id="25" name="pill-120"/>
          <p:cNvSpPr/>
          <p:nvPr/>
        </p:nvSpPr>
        <p:spPr>
          <a:xfrm>
            <a:off x="5059558" y="5276088"/>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Demand surge</a:t>
            </a:r>
            <a:endParaRPr lang="en-US" sz="1400" dirty="0"/>
          </a:p>
        </p:txBody>
      </p:sp>
      <p:sp>
        <p:nvSpPr>
          <p:cNvPr id="26" name="pill-121"/>
          <p:cNvSpPr/>
          <p:nvPr/>
        </p:nvSpPr>
        <p:spPr>
          <a:xfrm>
            <a:off x="7315017" y="5276088"/>
            <a:ext cx="2072579" cy="420624"/>
          </a:xfrm>
          <a:prstGeom prst="roundRect">
            <a:avLst>
              <a:gd name="adj" fmla="val 17391"/>
            </a:avLst>
          </a:prstGeom>
          <a:solidFill>
            <a:schemeClr val="bg2"/>
          </a:solidFill>
          <a:ln/>
        </p:spPr>
        <p:txBody>
          <a:bodyPr wrap="square" lIns="0" tIns="0" rIns="0" bIns="0" rtlCol="0" anchor="ctr"/>
          <a:lstStyle/>
          <a:p>
            <a:pPr algn="ctr" indent="0" marL="0">
              <a:buNone/>
            </a:pPr>
            <a:r>
              <a:rPr lang="en-US" sz="1400" dirty="0">
                <a:solidFill>
                  <a:schemeClr val="tx1"/>
                </a:solidFill>
              </a:rPr>
              <a:t>Forecast update</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ARCHITECTURE · SAFETY AND FAULT TOLERANCE</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Nothing executes until code approves it</a:t>
            </a:r>
            <a:endParaRPr lang="en-US" sz="3400" dirty="0"/>
          </a:p>
        </p:txBody>
      </p:sp>
      <p:sp>
        <p:nvSpPr>
          <p:cNvPr id="5" name="card-122"/>
          <p:cNvSpPr/>
          <p:nvPr/>
        </p:nvSpPr>
        <p:spPr>
          <a:xfrm>
            <a:off x="548640" y="1737360"/>
            <a:ext cx="5394960" cy="3977640"/>
          </a:xfrm>
          <a:prstGeom prst="roundRect">
            <a:avLst>
              <a:gd name="adj" fmla="val 1839"/>
            </a:avLst>
          </a:prstGeom>
          <a:solidFill>
            <a:schemeClr val="bg2"/>
          </a:solidFill>
          <a:ln/>
        </p:spPr>
      </p:sp>
      <p:sp>
        <p:nvSpPr>
          <p:cNvPr id="6" name="text-123"/>
          <p:cNvSpPr txBox="1"/>
          <p:nvPr/>
        </p:nvSpPr>
        <p:spPr>
          <a:xfrm>
            <a:off x="822960" y="1938528"/>
            <a:ext cx="4846320" cy="365760"/>
          </a:xfrm>
          <a:prstGeom prst="rect">
            <a:avLst/>
          </a:prstGeom>
          <a:noFill/>
          <a:ln/>
        </p:spPr>
        <p:txBody>
          <a:bodyPr wrap="square" lIns="0" tIns="0" rIns="0" bIns="0" rtlCol="0" anchor="t"/>
          <a:lstStyle/>
          <a:p>
            <a:pPr indent="0" marL="0">
              <a:buNone/>
            </a:pPr>
            <a:r>
              <a:rPr lang="en-US" sz="1800" b="1" dirty="0">
                <a:solidFill>
                  <a:schemeClr val="tx1"/>
                </a:solidFill>
              </a:rPr>
              <a:t>Checked before every dispatch</a:t>
            </a:r>
            <a:endParaRPr lang="en-US" sz="1800" dirty="0"/>
          </a:p>
        </p:txBody>
      </p:sp>
      <p:sp>
        <p:nvSpPr>
          <p:cNvPr id="7" name="text-124"/>
          <p:cNvSpPr txBox="1"/>
          <p:nvPr/>
        </p:nvSpPr>
        <p:spPr>
          <a:xfrm>
            <a:off x="822960" y="2423160"/>
            <a:ext cx="4846320" cy="3154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The solver returned an optimal plan</a:t>
            </a:r>
            <a:endParaRPr lang="en-US" sz="1400" dirty="0"/>
          </a:p>
          <a:p>
            <a:pPr marL="342900" indent="-342900">
              <a:spcAft>
                <a:spcPts val="500"/>
              </a:spcAft>
              <a:buSzPct val="100000"/>
              <a:buChar char="•"/>
            </a:pPr>
            <a:r>
              <a:rPr lang="en-US" sz="1400" dirty="0">
                <a:solidFill>
                  <a:schemeClr val="tx2"/>
                </a:solidFill>
              </a:rPr>
              <a:t>Battery charge stays inside its 10% to 95% band</a:t>
            </a:r>
            <a:endParaRPr lang="en-US" sz="1400" dirty="0"/>
          </a:p>
          <a:p>
            <a:pPr marL="342900" indent="-342900">
              <a:spcAft>
                <a:spcPts val="500"/>
              </a:spcAft>
              <a:buSzPct val="100000"/>
              <a:buChar char="•"/>
            </a:pPr>
            <a:r>
              <a:rPr lang="en-US" sz="1400" dirty="0">
                <a:solidFill>
                  <a:schemeClr val="tx2"/>
                </a:solidFill>
              </a:rPr>
              <a:t>No battery charges and discharges at once</a:t>
            </a:r>
            <a:endParaRPr lang="en-US" sz="1400" dirty="0"/>
          </a:p>
          <a:p>
            <a:pPr marL="342900" indent="-342900">
              <a:spcAft>
                <a:spcPts val="500"/>
              </a:spcAft>
              <a:buSzPct val="100000"/>
              <a:buChar char="•"/>
            </a:pPr>
            <a:r>
              <a:rPr lang="en-US" sz="1400" dirty="0">
                <a:solidFill>
                  <a:schemeClr val="tx2"/>
                </a:solidFill>
              </a:rPr>
              <a:t>No command goes to an unavailable battery</a:t>
            </a:r>
            <a:endParaRPr lang="en-US" sz="1400" dirty="0"/>
          </a:p>
          <a:p>
            <a:pPr marL="342900" indent="-342900">
              <a:spcAft>
                <a:spcPts val="500"/>
              </a:spcAft>
              <a:buSzPct val="100000"/>
              <a:buChar char="•"/>
            </a:pPr>
            <a:r>
              <a:rPr lang="en-US" sz="1400" dirty="0">
                <a:solidFill>
                  <a:schemeClr val="tx2"/>
                </a:solidFill>
              </a:rPr>
              <a:t>Battery and grid power stay within rated limits</a:t>
            </a:r>
            <a:endParaRPr lang="en-US" sz="1400" dirty="0"/>
          </a:p>
          <a:p>
            <a:pPr marL="342900" indent="-342900">
              <a:spcAft>
                <a:spcPts val="500"/>
              </a:spcAft>
              <a:buSzPct val="100000"/>
              <a:buChar char="•"/>
            </a:pPr>
            <a:r>
              <a:rPr lang="en-US" sz="1400" dirty="0">
                <a:solidFill>
                  <a:schemeClr val="tx2"/>
                </a:solidFill>
              </a:rPr>
              <a:t>No buying and selling in the same interval</a:t>
            </a:r>
            <a:endParaRPr lang="en-US" sz="1400" dirty="0"/>
          </a:p>
          <a:p>
            <a:pPr marL="342900" indent="-342900">
              <a:spcAft>
                <a:spcPts val="500"/>
              </a:spcAft>
              <a:buSzPct val="100000"/>
              <a:buChar char="•"/>
            </a:pPr>
            <a:r>
              <a:rPr lang="en-US" sz="1400" dirty="0">
                <a:solidFill>
                  <a:schemeClr val="tx2"/>
                </a:solidFill>
              </a:rPr>
              <a:t>No critical customer load is shed</a:t>
            </a:r>
            <a:endParaRPr lang="en-US" sz="1400" dirty="0"/>
          </a:p>
          <a:p>
            <a:pPr marL="342900" indent="-342900">
              <a:spcAft>
                <a:spcPts val="500"/>
              </a:spcAft>
              <a:buSzPct val="100000"/>
              <a:buChar char="•"/>
            </a:pPr>
            <a:r>
              <a:rPr lang="en-US" sz="1400" dirty="0">
                <a:solidFill>
                  <a:schemeClr val="tx2"/>
                </a:solidFill>
              </a:rPr>
              <a:t>Demand response stays within contract maximums</a:t>
            </a:r>
            <a:endParaRPr lang="en-US" sz="1400" dirty="0"/>
          </a:p>
          <a:p>
            <a:pPr marL="342900" indent="-342900">
              <a:spcAft>
                <a:spcPts val="500"/>
              </a:spcAft>
              <a:buSzPct val="100000"/>
              <a:buChar char="•"/>
            </a:pPr>
            <a:r>
              <a:rPr lang="en-US" sz="1400" dirty="0">
                <a:solidFill>
                  <a:schemeClr val="tx2"/>
                </a:solidFill>
              </a:rPr>
              <a:t>Generation and load balance</a:t>
            </a:r>
            <a:endParaRPr lang="en-US" sz="1400" dirty="0"/>
          </a:p>
        </p:txBody>
      </p:sp>
      <p:sp>
        <p:nvSpPr>
          <p:cNvPr id="8" name="text-125"/>
          <p:cNvSpPr txBox="1"/>
          <p:nvPr/>
        </p:nvSpPr>
        <p:spPr>
          <a:xfrm>
            <a:off x="6309360" y="1737360"/>
            <a:ext cx="5333695" cy="365760"/>
          </a:xfrm>
          <a:prstGeom prst="rect">
            <a:avLst/>
          </a:prstGeom>
          <a:noFill/>
          <a:ln/>
        </p:spPr>
        <p:txBody>
          <a:bodyPr wrap="square" lIns="0" tIns="0" rIns="0" bIns="0" rtlCol="0" anchor="t"/>
          <a:lstStyle/>
          <a:p>
            <a:pPr indent="0" marL="0">
              <a:buNone/>
            </a:pPr>
            <a:r>
              <a:rPr lang="en-US" sz="1800" b="1" dirty="0">
                <a:solidFill>
                  <a:schemeClr val="tx1"/>
                </a:solidFill>
              </a:rPr>
              <a:t>If something fails</a:t>
            </a:r>
            <a:endParaRPr lang="en-US" sz="1800" dirty="0"/>
          </a:p>
        </p:txBody>
      </p:sp>
      <p:sp>
        <p:nvSpPr>
          <p:cNvPr id="9" name="card-126"/>
          <p:cNvSpPr/>
          <p:nvPr/>
        </p:nvSpPr>
        <p:spPr>
          <a:xfrm>
            <a:off x="6309360" y="2212848"/>
            <a:ext cx="5333695" cy="758952"/>
          </a:xfrm>
          <a:prstGeom prst="roundRect">
            <a:avLst>
              <a:gd name="adj" fmla="val 9639"/>
            </a:avLst>
          </a:prstGeom>
          <a:solidFill>
            <a:schemeClr val="bg2"/>
          </a:solidFill>
          <a:ln/>
        </p:spPr>
      </p:sp>
      <p:sp>
        <p:nvSpPr>
          <p:cNvPr id="10" name="text-127"/>
          <p:cNvSpPr txBox="1"/>
          <p:nvPr/>
        </p:nvSpPr>
        <p:spPr>
          <a:xfrm>
            <a:off x="6510528" y="2304288"/>
            <a:ext cx="4931359" cy="274320"/>
          </a:xfrm>
          <a:prstGeom prst="rect">
            <a:avLst/>
          </a:prstGeom>
          <a:noFill/>
          <a:ln/>
        </p:spPr>
        <p:txBody>
          <a:bodyPr wrap="square" lIns="0" tIns="0" rIns="0" bIns="0" rtlCol="0" anchor="t"/>
          <a:lstStyle/>
          <a:p>
            <a:pPr indent="0" marL="0">
              <a:buNone/>
            </a:pPr>
            <a:r>
              <a:rPr lang="en-US" sz="1400" b="1" dirty="0">
                <a:solidFill>
                  <a:schemeClr val="tx1"/>
                </a:solidFill>
              </a:rPr>
              <a:t>The model call fails or times out</a:t>
            </a:r>
            <a:endParaRPr lang="en-US" sz="1400" dirty="0"/>
          </a:p>
        </p:txBody>
      </p:sp>
      <p:sp>
        <p:nvSpPr>
          <p:cNvPr id="11" name="text-128"/>
          <p:cNvSpPr txBox="1"/>
          <p:nvPr/>
        </p:nvSpPr>
        <p:spPr>
          <a:xfrm>
            <a:off x="6510528" y="2606040"/>
            <a:ext cx="4931359" cy="292608"/>
          </a:xfrm>
          <a:prstGeom prst="rect">
            <a:avLst/>
          </a:prstGeom>
          <a:noFill/>
          <a:ln/>
        </p:spPr>
        <p:txBody>
          <a:bodyPr wrap="square" lIns="0" tIns="0" rIns="0" bIns="0" rtlCol="0" anchor="t"/>
          <a:lstStyle/>
          <a:p>
            <a:pPr indent="0" marL="0">
              <a:buNone/>
            </a:pPr>
            <a:r>
              <a:rPr lang="en-US" sz="1400" dirty="0">
                <a:solidFill>
                  <a:schemeClr val="tx2"/>
                </a:solidFill>
              </a:rPr>
              <a:t>A rule-based stand-in returns the same schema</a:t>
            </a:r>
            <a:endParaRPr lang="en-US" sz="1400" dirty="0"/>
          </a:p>
        </p:txBody>
      </p:sp>
      <p:sp>
        <p:nvSpPr>
          <p:cNvPr id="12" name="card-129"/>
          <p:cNvSpPr/>
          <p:nvPr/>
        </p:nvSpPr>
        <p:spPr>
          <a:xfrm>
            <a:off x="6309360" y="3099816"/>
            <a:ext cx="5333695" cy="758952"/>
          </a:xfrm>
          <a:prstGeom prst="roundRect">
            <a:avLst>
              <a:gd name="adj" fmla="val 9639"/>
            </a:avLst>
          </a:prstGeom>
          <a:solidFill>
            <a:schemeClr val="bg2"/>
          </a:solidFill>
          <a:ln/>
        </p:spPr>
      </p:sp>
      <p:sp>
        <p:nvSpPr>
          <p:cNvPr id="13" name="text-130"/>
          <p:cNvSpPr txBox="1"/>
          <p:nvPr/>
        </p:nvSpPr>
        <p:spPr>
          <a:xfrm>
            <a:off x="6510528" y="3191256"/>
            <a:ext cx="4931359" cy="274320"/>
          </a:xfrm>
          <a:prstGeom prst="rect">
            <a:avLst/>
          </a:prstGeom>
          <a:noFill/>
          <a:ln/>
        </p:spPr>
        <p:txBody>
          <a:bodyPr wrap="square" lIns="0" tIns="0" rIns="0" bIns="0" rtlCol="0" anchor="t"/>
          <a:lstStyle/>
          <a:p>
            <a:pPr indent="0" marL="0">
              <a:buNone/>
            </a:pPr>
            <a:r>
              <a:rPr lang="en-US" sz="1400" b="1" dirty="0">
                <a:solidFill>
                  <a:schemeClr val="tx1"/>
                </a:solidFill>
              </a:rPr>
              <a:t>The model output fails validation</a:t>
            </a:r>
            <a:endParaRPr lang="en-US" sz="1400" dirty="0"/>
          </a:p>
        </p:txBody>
      </p:sp>
      <p:sp>
        <p:nvSpPr>
          <p:cNvPr id="14" name="text-131"/>
          <p:cNvSpPr txBox="1"/>
          <p:nvPr/>
        </p:nvSpPr>
        <p:spPr>
          <a:xfrm>
            <a:off x="6510528" y="3493008"/>
            <a:ext cx="4931359" cy="292608"/>
          </a:xfrm>
          <a:prstGeom prst="rect">
            <a:avLst/>
          </a:prstGeom>
          <a:noFill/>
          <a:ln/>
        </p:spPr>
        <p:txBody>
          <a:bodyPr wrap="square" lIns="0" tIns="0" rIns="0" bIns="0" rtlCol="0" anchor="t"/>
          <a:lstStyle/>
          <a:p>
            <a:pPr indent="0" marL="0">
              <a:buNone/>
            </a:pPr>
            <a:r>
              <a:rPr lang="en-US" sz="1400" dirty="0">
                <a:solidFill>
                  <a:schemeClr val="tx2"/>
                </a:solidFill>
              </a:rPr>
              <a:t>One repair attempt, then the stand-in</a:t>
            </a:r>
            <a:endParaRPr lang="en-US" sz="1400" dirty="0"/>
          </a:p>
        </p:txBody>
      </p:sp>
      <p:sp>
        <p:nvSpPr>
          <p:cNvPr id="15" name="card-132"/>
          <p:cNvSpPr/>
          <p:nvPr/>
        </p:nvSpPr>
        <p:spPr>
          <a:xfrm>
            <a:off x="6309360" y="3986784"/>
            <a:ext cx="5333695" cy="758952"/>
          </a:xfrm>
          <a:prstGeom prst="roundRect">
            <a:avLst>
              <a:gd name="adj" fmla="val 9639"/>
            </a:avLst>
          </a:prstGeom>
          <a:solidFill>
            <a:schemeClr val="bg2"/>
          </a:solidFill>
          <a:ln/>
        </p:spPr>
      </p:sp>
      <p:sp>
        <p:nvSpPr>
          <p:cNvPr id="16" name="text-133"/>
          <p:cNvSpPr txBox="1"/>
          <p:nvPr/>
        </p:nvSpPr>
        <p:spPr>
          <a:xfrm>
            <a:off x="6510528" y="4078224"/>
            <a:ext cx="4931359" cy="274320"/>
          </a:xfrm>
          <a:prstGeom prst="rect">
            <a:avLst/>
          </a:prstGeom>
          <a:noFill/>
          <a:ln/>
        </p:spPr>
        <p:txBody>
          <a:bodyPr wrap="square" lIns="0" tIns="0" rIns="0" bIns="0" rtlCol="0" anchor="t"/>
          <a:lstStyle/>
          <a:p>
            <a:pPr indent="0" marL="0">
              <a:buNone/>
            </a:pPr>
            <a:r>
              <a:rPr lang="en-US" sz="1400" b="1" dirty="0">
                <a:solidFill>
                  <a:schemeClr val="tx1"/>
                </a:solidFill>
              </a:rPr>
              <a:t>Guardrails reject the plan</a:t>
            </a:r>
            <a:endParaRPr lang="en-US" sz="1400" dirty="0"/>
          </a:p>
        </p:txBody>
      </p:sp>
      <p:sp>
        <p:nvSpPr>
          <p:cNvPr id="17" name="text-134"/>
          <p:cNvSpPr txBox="1"/>
          <p:nvPr/>
        </p:nvSpPr>
        <p:spPr>
          <a:xfrm>
            <a:off x="6510528" y="4379976"/>
            <a:ext cx="4931359" cy="292608"/>
          </a:xfrm>
          <a:prstGeom prst="rect">
            <a:avLst/>
          </a:prstGeom>
          <a:noFill/>
          <a:ln/>
        </p:spPr>
        <p:txBody>
          <a:bodyPr wrap="square" lIns="0" tIns="0" rIns="0" bIns="0" rtlCol="0" anchor="t"/>
          <a:lstStyle/>
          <a:p>
            <a:pPr indent="0" marL="0">
              <a:buNone/>
            </a:pPr>
            <a:r>
              <a:rPr lang="en-US" sz="1400" dirty="0">
                <a:solidFill>
                  <a:schemeClr val="tx2"/>
                </a:solidFill>
              </a:rPr>
              <a:t>Re-solve with more weight on reliability, up to twice</a:t>
            </a:r>
            <a:endParaRPr lang="en-US" sz="1400" dirty="0"/>
          </a:p>
        </p:txBody>
      </p:sp>
      <p:sp>
        <p:nvSpPr>
          <p:cNvPr id="18" name="card-135"/>
          <p:cNvSpPr/>
          <p:nvPr/>
        </p:nvSpPr>
        <p:spPr>
          <a:xfrm>
            <a:off x="6309360" y="4873752"/>
            <a:ext cx="5333695" cy="758952"/>
          </a:xfrm>
          <a:prstGeom prst="roundRect">
            <a:avLst>
              <a:gd name="adj" fmla="val 9639"/>
            </a:avLst>
          </a:prstGeom>
          <a:solidFill>
            <a:schemeClr val="tx1"/>
          </a:solidFill>
          <a:ln/>
        </p:spPr>
      </p:sp>
      <p:sp>
        <p:nvSpPr>
          <p:cNvPr id="19" name="text-136"/>
          <p:cNvSpPr txBox="1"/>
          <p:nvPr/>
        </p:nvSpPr>
        <p:spPr>
          <a:xfrm>
            <a:off x="6510528" y="4965192"/>
            <a:ext cx="4931359" cy="274320"/>
          </a:xfrm>
          <a:prstGeom prst="rect">
            <a:avLst/>
          </a:prstGeom>
          <a:noFill/>
          <a:ln/>
        </p:spPr>
        <p:txBody>
          <a:bodyPr wrap="square" lIns="0" tIns="0" rIns="0" bIns="0" rtlCol="0" anchor="t"/>
          <a:lstStyle/>
          <a:p>
            <a:pPr indent="0" marL="0">
              <a:buNone/>
            </a:pPr>
            <a:r>
              <a:rPr lang="en-US" sz="1400" b="1" dirty="0">
                <a:solidFill>
                  <a:schemeClr val="accent1"/>
                </a:solidFill>
              </a:rPr>
              <a:t>Still rejected: safe mode</a:t>
            </a:r>
            <a:endParaRPr lang="en-US" sz="1400" dirty="0"/>
          </a:p>
        </p:txBody>
      </p:sp>
      <p:sp>
        <p:nvSpPr>
          <p:cNvPr id="20" name="text-137"/>
          <p:cNvSpPr txBox="1"/>
          <p:nvPr/>
        </p:nvSpPr>
        <p:spPr>
          <a:xfrm>
            <a:off x="6510528" y="5266944"/>
            <a:ext cx="4931359" cy="292608"/>
          </a:xfrm>
          <a:prstGeom prst="rect">
            <a:avLst/>
          </a:prstGeom>
          <a:noFill/>
          <a:ln/>
        </p:spPr>
        <p:txBody>
          <a:bodyPr wrap="square" lIns="0" tIns="0" rIns="0" bIns="0" rtlCol="0" anchor="t"/>
          <a:lstStyle/>
          <a:p>
            <a:pPr indent="0" marL="0">
              <a:buNone/>
            </a:pPr>
            <a:r>
              <a:rPr lang="en-US" sz="1400" dirty="0">
                <a:solidFill>
                  <a:schemeClr val="bg1"/>
                </a:solidFill>
              </a:rPr>
              <a:t>Hold 40% battery reserve, export nothing, serve critical load</a:t>
            </a:r>
            <a:endParaRPr lang="en-US" sz="1400" dirty="0"/>
          </a:p>
        </p:txBody>
      </p:sp>
      <p:sp>
        <p:nvSpPr>
          <p:cNvPr id="21" name="text-138"/>
          <p:cNvSpPr txBox="1"/>
          <p:nvPr/>
        </p:nvSpPr>
        <p:spPr>
          <a:xfrm>
            <a:off x="548640" y="5852160"/>
            <a:ext cx="11094415" cy="274320"/>
          </a:xfrm>
          <a:prstGeom prst="rect">
            <a:avLst/>
          </a:prstGeom>
          <a:noFill/>
          <a:ln/>
        </p:spPr>
        <p:txBody>
          <a:bodyPr wrap="square" lIns="0" tIns="0" rIns="0" bIns="0" rtlCol="0" anchor="t"/>
          <a:lstStyle/>
          <a:p>
            <a:pPr indent="0" marL="0">
              <a:buNone/>
            </a:pPr>
            <a:r>
              <a:rPr lang="en-US" sz="1200" dirty="0">
                <a:solidFill>
                  <a:schemeClr val="accent4"/>
                </a:solidFill>
              </a:rPr>
              <a:t>The operator can pause, step, approve or override at any interval.</a:t>
            </a:r>
            <a:endParaRPr lang="en-US" sz="12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WORKING DEMO</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A day at Deccan Renewables: five disturbances</a:t>
            </a:r>
            <a:endParaRPr lang="en-US" sz="3400" dirty="0"/>
          </a:p>
        </p:txBody>
      </p:sp>
      <p:graphicFrame>
        <p:nvGraphicFramePr>
          <p:cNvPr id="11" name="event-table"/>
          <p:cNvGraphicFramePr>
            <a:graphicFrameLocks noGrp="1"/>
          </p:cNvGraphicFramePr>
          <p:nvPr>
            <p:extLst>
              <p:ext uri="{D42A27DB-BD31-4B8C-83A1-F6EECF244321}">
                <p14:modId xmlns:p14="http://schemas.microsoft.com/office/powerpoint/2010/main" val="1579011935"/>
              </p:ext>
            </p:extLst>
          </p:nvPr>
        </p:nvGraphicFramePr>
        <p:xfrm>
          <a:off x="548640" y="1737360"/>
          <a:ext cx="7406640" cy="914400"/>
        </p:xfrm>
        <a:graphic>
          <a:graphicData uri="http://schemas.openxmlformats.org/drawingml/2006/table">
            <a:tbl>
              <a:tblPr/>
              <a:tblGrid>
                <a:gridCol w="822960"/>
                <a:gridCol w="1737360"/>
                <a:gridCol w="4846320"/>
              </a:tblGrid>
              <a:tr h="384048">
                <a:tc>
                  <a:txBody>
                    <a:bodyPr/>
                    <a:lstStyle/>
                    <a:p>
                      <a:pPr indent="0" marL="0">
                        <a:buNone/>
                      </a:pPr>
                      <a:r>
                        <a:rPr lang="en-US" sz="1400" b="1" dirty="0">
                          <a:solidFill>
                            <a:schemeClr val="bg1"/>
                          </a:solidFill>
                        </a:rPr>
                        <a:t>Time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Event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is injected</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r>
              <a:tr h="603504">
                <a:tc>
                  <a:txBody>
                    <a:bodyPr/>
                    <a:lstStyle/>
                    <a:p>
                      <a:pPr indent="0" marL="0">
                        <a:buNone/>
                      </a:pPr>
                      <a:r>
                        <a:rPr lang="en-US" sz="1400" dirty="0">
                          <a:solidFill>
                            <a:schemeClr val="tx1"/>
                          </a:solidFill>
                        </a:rPr>
                        <a:t>10:30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Cloud cover</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Two solar parks lose 60% of output for 2 hours, with no warning</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603504">
                <a:tc>
                  <a:txBody>
                    <a:bodyPr/>
                    <a:lstStyle/>
                    <a:p>
                      <a:pPr indent="0" marL="0">
                        <a:buNone/>
                      </a:pPr>
                      <a:r>
                        <a:rPr lang="en-US" sz="1400" dirty="0">
                          <a:solidFill>
                            <a:schemeClr val="tx1"/>
                          </a:solidFill>
                        </a:rPr>
                        <a:t>12:00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Storm alert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Announced 6 hours before an 18:00 arrival: solar down 80%, export capped at 80 MW</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603504">
                <a:tc>
                  <a:txBody>
                    <a:bodyPr/>
                    <a:lstStyle/>
                    <a:p>
                      <a:pPr indent="0" marL="0">
                        <a:buNone/>
                      </a:pPr>
                      <a:r>
                        <a:rPr lang="en-US" sz="1400" dirty="0">
                          <a:solidFill>
                            <a:schemeClr val="tx1"/>
                          </a:solidFill>
                        </a:rPr>
                        <a:t>14:00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Battery outage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Battery B2 (40 MW) is unavailable for 4 hours, with no warning</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603504">
                <a:tc>
                  <a:txBody>
                    <a:bodyPr/>
                    <a:lstStyle/>
                    <a:p>
                      <a:pPr indent="0" marL="0">
                        <a:buNone/>
                      </a:pPr>
                      <a:r>
                        <a:rPr lang="en-US" sz="1400" dirty="0">
                          <a:solidFill>
                            <a:schemeClr val="tx1"/>
                          </a:solidFill>
                        </a:rPr>
                        <a:t>16:00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Line constraint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Export corridor limited to 120 MW for 2 hours, with 1 hour of notice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603504">
                <a:tc>
                  <a:txBody>
                    <a:bodyPr/>
                    <a:lstStyle/>
                    <a:p>
                      <a:pPr indent="0" marL="0">
                        <a:buNone/>
                      </a:pPr>
                      <a:r>
                        <a:rPr lang="en-US" sz="1400" dirty="0">
                          <a:solidFill>
                            <a:schemeClr val="tx1"/>
                          </a:solidFill>
                        </a:rPr>
                        <a:t>19:00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Price spike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chemeClr val="tx1"/>
                          </a:solidFill>
                        </a:rPr>
                        <a:t>Market price doubles for 1 hour, with 30 minutes of notice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bl>
          </a:graphicData>
        </a:graphic>
      </p:graphicFrame>
      <p:sp>
        <p:nvSpPr>
          <p:cNvPr id="6" name="text-139"/>
          <p:cNvSpPr txBox="1"/>
          <p:nvPr/>
        </p:nvSpPr>
        <p:spPr>
          <a:xfrm>
            <a:off x="548640" y="5394960"/>
            <a:ext cx="7406640" cy="274320"/>
          </a:xfrm>
          <a:prstGeom prst="rect">
            <a:avLst/>
          </a:prstGeom>
          <a:noFill/>
          <a:ln/>
        </p:spPr>
        <p:txBody>
          <a:bodyPr wrap="square" lIns="0" tIns="0" rIns="0" bIns="0" rtlCol="0" anchor="t"/>
          <a:lstStyle/>
          <a:p>
            <a:pPr indent="0" marL="0">
              <a:buNone/>
            </a:pPr>
            <a:r>
              <a:rPr lang="en-US" sz="1200" dirty="0">
                <a:solidFill>
                  <a:schemeClr val="accent4"/>
                </a:solidFill>
              </a:rPr>
              <a:t>Runs locally with one command: ./scripts/run_demo.sh</a:t>
            </a:r>
            <a:endParaRPr lang="en-US" sz="1200" dirty="0"/>
          </a:p>
        </p:txBody>
      </p:sp>
      <p:sp>
        <p:nvSpPr>
          <p:cNvPr id="7" name="card-140"/>
          <p:cNvSpPr/>
          <p:nvPr/>
        </p:nvSpPr>
        <p:spPr>
          <a:xfrm>
            <a:off x="8321040" y="1737360"/>
            <a:ext cx="3322015" cy="4206240"/>
          </a:xfrm>
          <a:prstGeom prst="roundRect">
            <a:avLst>
              <a:gd name="adj" fmla="val 2202"/>
            </a:avLst>
          </a:prstGeom>
          <a:solidFill>
            <a:schemeClr val="bg2"/>
          </a:solidFill>
          <a:ln/>
        </p:spPr>
      </p:sp>
      <p:sp>
        <p:nvSpPr>
          <p:cNvPr id="8" name="text-141"/>
          <p:cNvSpPr txBox="1"/>
          <p:nvPr/>
        </p:nvSpPr>
        <p:spPr>
          <a:xfrm>
            <a:off x="8549640" y="1920240"/>
            <a:ext cx="2864815" cy="365760"/>
          </a:xfrm>
          <a:prstGeom prst="rect">
            <a:avLst/>
          </a:prstGeom>
          <a:noFill/>
          <a:ln/>
        </p:spPr>
        <p:txBody>
          <a:bodyPr wrap="square" lIns="0" tIns="0" rIns="0" bIns="0" rtlCol="0" anchor="t"/>
          <a:lstStyle/>
          <a:p>
            <a:pPr indent="0" marL="0">
              <a:buNone/>
            </a:pPr>
            <a:r>
              <a:rPr lang="en-US" sz="1800" b="1" dirty="0">
                <a:solidFill>
                  <a:schemeClr val="tx1"/>
                </a:solidFill>
              </a:rPr>
              <a:t>Eight dashboard pages</a:t>
            </a:r>
            <a:endParaRPr lang="en-US" sz="1800" dirty="0"/>
          </a:p>
        </p:txBody>
      </p:sp>
      <p:sp>
        <p:nvSpPr>
          <p:cNvPr id="9" name="text-142"/>
          <p:cNvSpPr txBox="1"/>
          <p:nvPr/>
        </p:nvSpPr>
        <p:spPr>
          <a:xfrm>
            <a:off x="8549640" y="2377440"/>
            <a:ext cx="2864815" cy="2468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Control Room</a:t>
            </a:r>
            <a:endParaRPr lang="en-US" sz="1400" dirty="0"/>
          </a:p>
          <a:p>
            <a:pPr marL="342900" indent="-342900">
              <a:spcAft>
                <a:spcPts val="400"/>
              </a:spcAft>
              <a:buSzPct val="100000"/>
              <a:buChar char="•"/>
            </a:pPr>
            <a:r>
              <a:rPr lang="en-US" sz="1400" dirty="0">
                <a:solidFill>
                  <a:schemeClr val="tx2"/>
                </a:solidFill>
              </a:rPr>
              <a:t>Event Injector</a:t>
            </a:r>
            <a:endParaRPr lang="en-US" sz="1400" dirty="0"/>
          </a:p>
          <a:p>
            <a:pPr marL="342900" indent="-342900">
              <a:spcAft>
                <a:spcPts val="400"/>
              </a:spcAft>
              <a:buSzPct val="100000"/>
              <a:buChar char="•"/>
            </a:pPr>
            <a:r>
              <a:rPr lang="en-US" sz="1400" dirty="0">
                <a:solidFill>
                  <a:schemeClr val="tx2"/>
                </a:solidFill>
              </a:rPr>
              <a:t>Agent Reasoning</a:t>
            </a:r>
            <a:endParaRPr lang="en-US" sz="1400" dirty="0"/>
          </a:p>
          <a:p>
            <a:pPr marL="342900" indent="-342900">
              <a:spcAft>
                <a:spcPts val="400"/>
              </a:spcAft>
              <a:buSzPct val="100000"/>
              <a:buChar char="•"/>
            </a:pPr>
            <a:r>
              <a:rPr lang="en-US" sz="1400" dirty="0">
                <a:solidFill>
                  <a:schemeClr val="tx2"/>
                </a:solidFill>
              </a:rPr>
              <a:t>Decision Log</a:t>
            </a:r>
            <a:endParaRPr lang="en-US" sz="1400" dirty="0"/>
          </a:p>
          <a:p>
            <a:pPr marL="342900" indent="-342900">
              <a:spcAft>
                <a:spcPts val="400"/>
              </a:spcAft>
              <a:buSzPct val="100000"/>
              <a:buChar char="•"/>
            </a:pPr>
            <a:r>
              <a:rPr lang="en-US" sz="1400" dirty="0">
                <a:solidFill>
                  <a:schemeClr val="tx2"/>
                </a:solidFill>
              </a:rPr>
              <a:t>Scenario Comparison</a:t>
            </a:r>
            <a:endParaRPr lang="en-US" sz="1400" dirty="0"/>
          </a:p>
          <a:p>
            <a:pPr marL="342900" indent="-342900">
              <a:spcAft>
                <a:spcPts val="400"/>
              </a:spcAft>
              <a:buSzPct val="100000"/>
              <a:buChar char="•"/>
            </a:pPr>
            <a:r>
              <a:rPr lang="en-US" sz="1400" dirty="0">
                <a:solidFill>
                  <a:schemeClr val="tx2"/>
                </a:solidFill>
              </a:rPr>
              <a:t>Reliability Report</a:t>
            </a:r>
            <a:endParaRPr lang="en-US" sz="1400" dirty="0"/>
          </a:p>
          <a:p>
            <a:pPr marL="342900" indent="-342900">
              <a:spcAft>
                <a:spcPts val="400"/>
              </a:spcAft>
              <a:buSzPct val="100000"/>
              <a:buChar char="•"/>
            </a:pPr>
            <a:r>
              <a:rPr lang="en-US" sz="1400" dirty="0">
                <a:solidFill>
                  <a:schemeClr val="tx2"/>
                </a:solidFill>
              </a:rPr>
              <a:t>Data and Assumptions</a:t>
            </a:r>
            <a:endParaRPr lang="en-US" sz="1400" dirty="0"/>
          </a:p>
          <a:p>
            <a:pPr marL="342900" indent="-342900">
              <a:spcAft>
                <a:spcPts val="400"/>
              </a:spcAft>
              <a:buSzPct val="100000"/>
              <a:buChar char="•"/>
            </a:pPr>
            <a:r>
              <a:rPr lang="en-US" sz="1400" dirty="0">
                <a:solidFill>
                  <a:schemeClr val="tx2"/>
                </a:solidFill>
              </a:rPr>
              <a:t>Architecture</a:t>
            </a:r>
            <a:endParaRPr lang="en-US" sz="1400" dirty="0"/>
          </a:p>
        </p:txBody>
      </p:sp>
      <p:sp>
        <p:nvSpPr>
          <p:cNvPr id="10" name="text-143"/>
          <p:cNvSpPr txBox="1"/>
          <p:nvPr/>
        </p:nvSpPr>
        <p:spPr>
          <a:xfrm>
            <a:off x="8549640" y="4983480"/>
            <a:ext cx="2864815" cy="777240"/>
          </a:xfrm>
          <a:prstGeom prst="rect">
            <a:avLst/>
          </a:prstGeom>
          <a:noFill/>
          <a:ln/>
        </p:spPr>
        <p:txBody>
          <a:bodyPr wrap="square" lIns="0" tIns="0" rIns="0" bIns="0" rtlCol="0" anchor="t"/>
          <a:lstStyle/>
          <a:p>
            <a:pPr indent="0" marL="0">
              <a:buNone/>
            </a:pPr>
            <a:r>
              <a:rPr lang="en-US" sz="1400" b="1" dirty="0">
                <a:solidFill>
                  <a:schemeClr val="tx1"/>
                </a:solidFill>
              </a:rPr>
              <a:t>Any event can also be injected live, so judges can pick the disturbance.</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EVIDENCE · BENCHMARK</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One simulated day, three strategies</a:t>
            </a:r>
            <a:endParaRPr lang="en-US" sz="3400" dirty="0"/>
          </a:p>
        </p:txBody>
      </p:sp>
      <p:sp>
        <p:nvSpPr>
          <p:cNvPr id="5" name="card-144"/>
          <p:cNvSpPr/>
          <p:nvPr/>
        </p:nvSpPr>
        <p:spPr>
          <a:xfrm>
            <a:off x="548640" y="1737360"/>
            <a:ext cx="3515258" cy="1325880"/>
          </a:xfrm>
          <a:prstGeom prst="roundRect">
            <a:avLst>
              <a:gd name="adj" fmla="val 5517"/>
            </a:avLst>
          </a:prstGeom>
          <a:solidFill>
            <a:schemeClr val="tx1"/>
          </a:solidFill>
          <a:ln/>
        </p:spPr>
      </p:sp>
      <p:sp>
        <p:nvSpPr>
          <p:cNvPr id="6" name="text-145"/>
          <p:cNvSpPr txBox="1"/>
          <p:nvPr/>
        </p:nvSpPr>
        <p:spPr>
          <a:xfrm>
            <a:off x="777240" y="1920240"/>
            <a:ext cx="3058058" cy="640080"/>
          </a:xfrm>
          <a:prstGeom prst="rect">
            <a:avLst/>
          </a:prstGeom>
          <a:noFill/>
          <a:ln/>
        </p:spPr>
        <p:txBody>
          <a:bodyPr wrap="square" lIns="0" tIns="0" rIns="0" bIns="0" rtlCol="0" anchor="t"/>
          <a:lstStyle/>
          <a:p>
            <a:pPr indent="0" marL="0">
              <a:buNone/>
            </a:pPr>
            <a:r>
              <a:rPr lang="en-US" sz="3400" b="1" dirty="0">
                <a:solidFill>
                  <a:schemeClr val="accent1"/>
                </a:solidFill>
                <a:latin typeface="+mj-lt" pitchFamily="34" charset="0"/>
                <a:ea typeface="+mj-lt" pitchFamily="34" charset="-122"/>
                <a:cs typeface="+mj-lt" pitchFamily="34" charset="-120"/>
              </a:rPr>
              <a:t>44.5% lower</a:t>
            </a:r>
            <a:endParaRPr lang="en-US" sz="3400" dirty="0"/>
          </a:p>
        </p:txBody>
      </p:sp>
      <p:sp>
        <p:nvSpPr>
          <p:cNvPr id="7" name="text-146"/>
          <p:cNvSpPr txBox="1"/>
          <p:nvPr/>
        </p:nvSpPr>
        <p:spPr>
          <a:xfrm>
            <a:off x="777240" y="2578608"/>
            <a:ext cx="3058058" cy="365760"/>
          </a:xfrm>
          <a:prstGeom prst="rect">
            <a:avLst/>
          </a:prstGeom>
          <a:noFill/>
          <a:ln/>
        </p:spPr>
        <p:txBody>
          <a:bodyPr wrap="square" lIns="0" tIns="0" rIns="0" bIns="0" rtlCol="0" anchor="t"/>
          <a:lstStyle/>
          <a:p>
            <a:pPr indent="0" marL="0">
              <a:buNone/>
            </a:pPr>
            <a:r>
              <a:rPr lang="en-US" sz="1400" dirty="0">
                <a:solidFill>
                  <a:schemeClr val="bg1"/>
                </a:solidFill>
              </a:rPr>
              <a:t>Net operating cost against the rule baseline</a:t>
            </a:r>
            <a:endParaRPr lang="en-US" sz="1400" dirty="0"/>
          </a:p>
        </p:txBody>
      </p:sp>
      <p:sp>
        <p:nvSpPr>
          <p:cNvPr id="8" name="card-147"/>
          <p:cNvSpPr/>
          <p:nvPr/>
        </p:nvSpPr>
        <p:spPr>
          <a:xfrm>
            <a:off x="4338218" y="1737360"/>
            <a:ext cx="3515258" cy="1325880"/>
          </a:xfrm>
          <a:prstGeom prst="roundRect">
            <a:avLst>
              <a:gd name="adj" fmla="val 5517"/>
            </a:avLst>
          </a:prstGeom>
          <a:solidFill>
            <a:schemeClr val="tx1"/>
          </a:solidFill>
          <a:ln/>
        </p:spPr>
      </p:sp>
      <p:sp>
        <p:nvSpPr>
          <p:cNvPr id="9" name="text-148"/>
          <p:cNvSpPr txBox="1"/>
          <p:nvPr/>
        </p:nvSpPr>
        <p:spPr>
          <a:xfrm>
            <a:off x="4566818" y="1920240"/>
            <a:ext cx="3058058" cy="640080"/>
          </a:xfrm>
          <a:prstGeom prst="rect">
            <a:avLst/>
          </a:prstGeom>
          <a:noFill/>
          <a:ln/>
        </p:spPr>
        <p:txBody>
          <a:bodyPr wrap="square" lIns="0" tIns="0" rIns="0" bIns="0" rtlCol="0" anchor="t"/>
          <a:lstStyle/>
          <a:p>
            <a:pPr indent="0" marL="0">
              <a:buNone/>
            </a:pPr>
            <a:r>
              <a:rPr lang="en-US" sz="3400" b="1" dirty="0">
                <a:solidFill>
                  <a:schemeClr val="accent1"/>
                </a:solidFill>
                <a:latin typeface="+mj-lt" pitchFamily="34" charset="0"/>
                <a:ea typeface="+mj-lt" pitchFamily="34" charset="-122"/>
                <a:cs typeface="+mj-lt" pitchFamily="34" charset="-120"/>
              </a:rPr>
              <a:t>88.7% lower</a:t>
            </a:r>
            <a:endParaRPr lang="en-US" sz="3400" dirty="0"/>
          </a:p>
        </p:txBody>
      </p:sp>
      <p:sp>
        <p:nvSpPr>
          <p:cNvPr id="10" name="text-149"/>
          <p:cNvSpPr txBox="1"/>
          <p:nvPr/>
        </p:nvSpPr>
        <p:spPr>
          <a:xfrm>
            <a:off x="4566818" y="2578608"/>
            <a:ext cx="3058058" cy="365760"/>
          </a:xfrm>
          <a:prstGeom prst="rect">
            <a:avLst/>
          </a:prstGeom>
          <a:noFill/>
          <a:ln/>
        </p:spPr>
        <p:txBody>
          <a:bodyPr wrap="square" lIns="0" tIns="0" rIns="0" bIns="0" rtlCol="0" anchor="t"/>
          <a:lstStyle/>
          <a:p>
            <a:pPr indent="0" marL="0">
              <a:buNone/>
            </a:pPr>
            <a:r>
              <a:rPr lang="en-US" sz="1400" dirty="0">
                <a:solidFill>
                  <a:schemeClr val="bg1"/>
                </a:solidFill>
              </a:rPr>
              <a:t>Contract shortfall, in MWh not delivered</a:t>
            </a:r>
            <a:endParaRPr lang="en-US" sz="1400" dirty="0"/>
          </a:p>
        </p:txBody>
      </p:sp>
      <p:sp>
        <p:nvSpPr>
          <p:cNvPr id="11" name="card-150"/>
          <p:cNvSpPr/>
          <p:nvPr/>
        </p:nvSpPr>
        <p:spPr>
          <a:xfrm>
            <a:off x="8127797" y="1737360"/>
            <a:ext cx="3515258" cy="1325880"/>
          </a:xfrm>
          <a:prstGeom prst="roundRect">
            <a:avLst>
              <a:gd name="adj" fmla="val 5517"/>
            </a:avLst>
          </a:prstGeom>
          <a:solidFill>
            <a:schemeClr val="tx1"/>
          </a:solidFill>
          <a:ln/>
        </p:spPr>
      </p:sp>
      <p:sp>
        <p:nvSpPr>
          <p:cNvPr id="12" name="text-151"/>
          <p:cNvSpPr txBox="1"/>
          <p:nvPr/>
        </p:nvSpPr>
        <p:spPr>
          <a:xfrm>
            <a:off x="8356397" y="1920240"/>
            <a:ext cx="3058058" cy="640080"/>
          </a:xfrm>
          <a:prstGeom prst="rect">
            <a:avLst/>
          </a:prstGeom>
          <a:noFill/>
          <a:ln/>
        </p:spPr>
        <p:txBody>
          <a:bodyPr wrap="square" lIns="0" tIns="0" rIns="0" bIns="0" rtlCol="0" anchor="t"/>
          <a:lstStyle/>
          <a:p>
            <a:pPr indent="0" marL="0">
              <a:buNone/>
            </a:pPr>
            <a:r>
              <a:rPr lang="en-US" sz="3400" b="1" dirty="0">
                <a:solidFill>
                  <a:schemeClr val="accent1"/>
                </a:solidFill>
                <a:latin typeface="+mj-lt" pitchFamily="34" charset="0"/>
                <a:ea typeface="+mj-lt" pitchFamily="34" charset="-122"/>
                <a:cs typeface="+mj-lt" pitchFamily="34" charset="-120"/>
              </a:rPr>
              <a:t>0 MWh</a:t>
            </a:r>
            <a:endParaRPr lang="en-US" sz="3400" dirty="0"/>
          </a:p>
        </p:txBody>
      </p:sp>
      <p:sp>
        <p:nvSpPr>
          <p:cNvPr id="13" name="text-152"/>
          <p:cNvSpPr txBox="1"/>
          <p:nvPr/>
        </p:nvSpPr>
        <p:spPr>
          <a:xfrm>
            <a:off x="8356397" y="2578608"/>
            <a:ext cx="3058058" cy="365760"/>
          </a:xfrm>
          <a:prstGeom prst="rect">
            <a:avLst/>
          </a:prstGeom>
          <a:noFill/>
          <a:ln/>
        </p:spPr>
        <p:txBody>
          <a:bodyPr wrap="square" lIns="0" tIns="0" rIns="0" bIns="0" rtlCol="0" anchor="t"/>
          <a:lstStyle/>
          <a:p>
            <a:pPr indent="0" marL="0">
              <a:buNone/>
            </a:pPr>
            <a:r>
              <a:rPr lang="en-US" sz="1400" dirty="0">
                <a:solidFill>
                  <a:schemeClr val="bg1"/>
                </a:solidFill>
              </a:rPr>
              <a:t>Critical load shed; the baseline shed 43.2 MWh</a:t>
            </a:r>
            <a:endParaRPr lang="en-US" sz="1400" dirty="0"/>
          </a:p>
        </p:txBody>
      </p:sp>
      <p:graphicFrame>
        <p:nvGraphicFramePr>
          <p:cNvPr id="12" name="benchmark-table"/>
          <p:cNvGraphicFramePr>
            <a:graphicFrameLocks noGrp="1"/>
          </p:cNvGraphicFramePr>
          <p:nvPr>
            <p:extLst>
              <p:ext uri="{D42A27DB-BD31-4B8C-83A1-F6EECF244321}">
                <p14:modId xmlns:p14="http://schemas.microsoft.com/office/powerpoint/2010/main" val="1579011935"/>
              </p:ext>
            </p:extLst>
          </p:nvPr>
        </p:nvGraphicFramePr>
        <p:xfrm>
          <a:off x="548640" y="3291840"/>
          <a:ext cx="11094415" cy="914400"/>
        </p:xfrm>
        <a:graphic>
          <a:graphicData uri="http://schemas.openxmlformats.org/drawingml/2006/table">
            <a:tbl>
              <a:tblPr/>
              <a:tblGrid>
                <a:gridCol w="4236415"/>
                <a:gridCol w="2286000"/>
                <a:gridCol w="2286000"/>
                <a:gridCol w="2286000"/>
              </a:tblGrid>
              <a:tr h="365760">
                <a:tc>
                  <a:txBody>
                    <a:bodyPr/>
                    <a:lstStyle/>
                    <a:p>
                      <a:pPr algn="l" indent="0" marL="0">
                        <a:buNone/>
                      </a:pPr>
                      <a:r>
                        <a:rPr lang="en-US" sz="1400" b="1" dirty="0">
                          <a:solidFill>
                            <a:schemeClr val="bg1"/>
                          </a:solidFill>
                        </a:rPr>
                        <a:t>Metric over 24 hours</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Rule baseline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Fixed-weight solver</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GridMind agent</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chemeClr val="tx1"/>
                    </a:solidFill>
                  </a:tcPr>
                </a:tc>
              </a:tr>
              <a:tr h="365760">
                <a:tc>
                  <a:txBody>
                    <a:bodyPr/>
                    <a:lstStyle/>
                    <a:p>
                      <a:pPr algn="l" indent="0" marL="0">
                        <a:buNone/>
                      </a:pPr>
                      <a:r>
                        <a:rPr lang="en-US" sz="1400" dirty="0">
                          <a:solidFill>
                            <a:schemeClr val="tx1"/>
                          </a:solidFill>
                        </a:rPr>
                        <a:t>Net cost (₹ crore)</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4.09</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2.28</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b="1" dirty="0">
                          <a:solidFill>
                            <a:schemeClr val="tx1"/>
                          </a:solidFill>
                        </a:rPr>
                        <a:t>2.27</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65760">
                <a:tc>
                  <a:txBody>
                    <a:bodyPr/>
                    <a:lstStyle/>
                    <a:p>
                      <a:pPr algn="l" indent="0" marL="0">
                        <a:buNone/>
                      </a:pPr>
                      <a:r>
                        <a:rPr lang="en-US" sz="1400" dirty="0">
                          <a:solidFill>
                            <a:schemeClr val="tx1"/>
                          </a:solidFill>
                        </a:rPr>
                        <a:t>Contract shortfall (MWh)</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1,312</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154</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b="1" dirty="0">
                          <a:solidFill>
                            <a:schemeClr val="tx1"/>
                          </a:solidFill>
                        </a:rPr>
                        <a:t>148</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65760">
                <a:tc>
                  <a:txBody>
                    <a:bodyPr/>
                    <a:lstStyle/>
                    <a:p>
                      <a:pPr algn="l" indent="0" marL="0">
                        <a:buNone/>
                      </a:pPr>
                      <a:r>
                        <a:rPr lang="en-US" sz="1400" dirty="0">
                          <a:solidFill>
                            <a:schemeClr val="tx1"/>
                          </a:solidFill>
                        </a:rPr>
                        <a:t>Critical load unserved (MWh)</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43.2</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b="1" dirty="0">
                          <a:solidFill>
                            <a:schemeClr val="tx1"/>
                          </a:solidFill>
                        </a:rPr>
                        <a:t>0.0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65760">
                <a:tc>
                  <a:txBody>
                    <a:bodyPr/>
                    <a:lstStyle/>
                    <a:p>
                      <a:pPr algn="l" indent="0" marL="0">
                        <a:buNone/>
                      </a:pPr>
                      <a:r>
                        <a:rPr lang="en-US" sz="1400" dirty="0">
                          <a:solidFill>
                            <a:schemeClr val="tx1"/>
                          </a:solidFill>
                        </a:rPr>
                        <a:t>Carbon emissions (tCO2)</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1,875</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1,803</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b="1" dirty="0">
                          <a:solidFill>
                            <a:schemeClr val="tx1"/>
                          </a:solidFill>
                        </a:rPr>
                        <a:t>1,769</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365760">
                <a:tc>
                  <a:txBody>
                    <a:bodyPr/>
                    <a:lstStyle/>
                    <a:p>
                      <a:pPr algn="l" indent="0" marL="0">
                        <a:buNone/>
                      </a:pPr>
                      <a:r>
                        <a:rPr lang="en-US" sz="1400" dirty="0">
                          <a:solidFill>
                            <a:schemeClr val="tx1"/>
                          </a:solidFill>
                        </a:rPr>
                        <a:t>Hard safety violations</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algn="r" indent="0" marL="0">
                        <a:buNone/>
                      </a:pPr>
                      <a:r>
                        <a:rPr lang="en-US" sz="1400" b="1" dirty="0">
                          <a:solidFill>
                            <a:schemeClr val="tx1"/>
                          </a:solidFill>
                        </a:rPr>
                        <a:t>0</a:t>
                      </a:r>
                      <a:endParaRPr lang="en-US" sz="1400" dirty="0"/>
                    </a:p>
                  </a:txBody>
                  <a:tcPr marL="109728" marR="109728" marT="54864" marB="54864"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bl>
          </a:graphicData>
        </a:graphic>
      </p:graphicFrame>
      <p:sp>
        <p:nvSpPr>
          <p:cNvPr id="15" name="text-153"/>
          <p:cNvSpPr txBox="1"/>
          <p:nvPr/>
        </p:nvSpPr>
        <p:spPr>
          <a:xfrm>
            <a:off x="548640" y="5623560"/>
            <a:ext cx="11094415" cy="594360"/>
          </a:xfrm>
          <a:prstGeom prst="rect">
            <a:avLst/>
          </a:prstGeom>
          <a:noFill/>
          <a:ln/>
        </p:spPr>
        <p:txBody>
          <a:bodyPr wrap="square" lIns="0" tIns="0" rIns="0" bIns="0" rtlCol="0" anchor="t"/>
          <a:lstStyle/>
          <a:p>
            <a:pPr indent="0" marL="0">
              <a:buNone/>
            </a:pPr>
            <a:r>
              <a:rPr lang="en-US" sz="1300" dirty="0">
                <a:solidFill>
                  <a:schemeClr val="tx2"/>
                </a:solidFill>
              </a:rPr>
              <a:t>Most of the saving comes from optimising instead of following rules. The agent's mode switching adds a further ₹84,000 on this day and gives the lowest shortfall and carbon of the three. Summer day with injected disturbances; same conditions for all three.</a:t>
            </a:r>
            <a:endParaRPr lang="en-US" sz="13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EVIDENCE · RELIABILITY</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30 simulated days, zero hard violations</a:t>
            </a:r>
            <a:endParaRPr lang="en-US" sz="3400" dirty="0"/>
          </a:p>
        </p:txBody>
      </p:sp>
      <p:sp>
        <p:nvSpPr>
          <p:cNvPr id="5" name="card-154"/>
          <p:cNvSpPr/>
          <p:nvPr/>
        </p:nvSpPr>
        <p:spPr>
          <a:xfrm>
            <a:off x="548640" y="1737360"/>
            <a:ext cx="3515258" cy="1371600"/>
          </a:xfrm>
          <a:prstGeom prst="roundRect">
            <a:avLst>
              <a:gd name="adj" fmla="val 5333"/>
            </a:avLst>
          </a:prstGeom>
          <a:solidFill>
            <a:schemeClr val="bg2"/>
          </a:solidFill>
          <a:ln/>
        </p:spPr>
      </p:sp>
      <p:sp>
        <p:nvSpPr>
          <p:cNvPr id="6" name="text-155"/>
          <p:cNvSpPr txBox="1"/>
          <p:nvPr/>
        </p:nvSpPr>
        <p:spPr>
          <a:xfrm>
            <a:off x="777240" y="1920240"/>
            <a:ext cx="3058058" cy="640080"/>
          </a:xfrm>
          <a:prstGeom prst="rect">
            <a:avLst/>
          </a:prstGeom>
          <a:noFill/>
          <a:ln/>
        </p:spPr>
        <p:txBody>
          <a:bodyPr wrap="square" lIns="0" tIns="0" rIns="0" bIns="0" rtlCol="0" anchor="t"/>
          <a:lstStyle/>
          <a:p>
            <a:pPr indent="0" marL="0">
              <a:buNone/>
            </a:pPr>
            <a:r>
              <a:rPr lang="en-US" sz="3400" b="1" dirty="0">
                <a:solidFill>
                  <a:schemeClr val="tx1"/>
                </a:solidFill>
                <a:latin typeface="+mj-lt" pitchFamily="34" charset="0"/>
                <a:ea typeface="+mj-lt" pitchFamily="34" charset="-122"/>
                <a:cs typeface="+mj-lt" pitchFamily="34" charset="-120"/>
              </a:rPr>
              <a:t>2,880</a:t>
            </a:r>
            <a:endParaRPr lang="en-US" sz="3400" dirty="0"/>
          </a:p>
        </p:txBody>
      </p:sp>
      <p:sp>
        <p:nvSpPr>
          <p:cNvPr id="7" name="text-156"/>
          <p:cNvSpPr txBox="1"/>
          <p:nvPr/>
        </p:nvSpPr>
        <p:spPr>
          <a:xfrm>
            <a:off x="777240" y="2578608"/>
            <a:ext cx="3058058" cy="411480"/>
          </a:xfrm>
          <a:prstGeom prst="rect">
            <a:avLst/>
          </a:prstGeom>
          <a:noFill/>
          <a:ln/>
        </p:spPr>
        <p:txBody>
          <a:bodyPr wrap="square" lIns="0" tIns="0" rIns="0" bIns="0" rtlCol="0" anchor="t"/>
          <a:lstStyle/>
          <a:p>
            <a:pPr indent="0" marL="0">
              <a:buNone/>
            </a:pPr>
            <a:r>
              <a:rPr lang="en-US" sz="1400" dirty="0">
                <a:solidFill>
                  <a:schemeClr val="tx2"/>
                </a:solidFill>
              </a:rPr>
              <a:t>Consecutive 15-minute intervals</a:t>
            </a:r>
            <a:endParaRPr lang="en-US" sz="1400" dirty="0"/>
          </a:p>
        </p:txBody>
      </p:sp>
      <p:sp>
        <p:nvSpPr>
          <p:cNvPr id="8" name="card-157"/>
          <p:cNvSpPr/>
          <p:nvPr/>
        </p:nvSpPr>
        <p:spPr>
          <a:xfrm>
            <a:off x="4338218" y="1737360"/>
            <a:ext cx="3515258" cy="1371600"/>
          </a:xfrm>
          <a:prstGeom prst="roundRect">
            <a:avLst>
              <a:gd name="adj" fmla="val 5333"/>
            </a:avLst>
          </a:prstGeom>
          <a:solidFill>
            <a:schemeClr val="bg2"/>
          </a:solidFill>
          <a:ln/>
        </p:spPr>
      </p:sp>
      <p:sp>
        <p:nvSpPr>
          <p:cNvPr id="9" name="text-158"/>
          <p:cNvSpPr txBox="1"/>
          <p:nvPr/>
        </p:nvSpPr>
        <p:spPr>
          <a:xfrm>
            <a:off x="4566818" y="1920240"/>
            <a:ext cx="3058058" cy="640080"/>
          </a:xfrm>
          <a:prstGeom prst="rect">
            <a:avLst/>
          </a:prstGeom>
          <a:noFill/>
          <a:ln/>
        </p:spPr>
        <p:txBody>
          <a:bodyPr wrap="square" lIns="0" tIns="0" rIns="0" bIns="0" rtlCol="0" anchor="t"/>
          <a:lstStyle/>
          <a:p>
            <a:pPr indent="0" marL="0">
              <a:buNone/>
            </a:pPr>
            <a:r>
              <a:rPr lang="en-US" sz="3400" b="1" dirty="0">
                <a:solidFill>
                  <a:schemeClr val="tx1"/>
                </a:solidFill>
                <a:latin typeface="+mj-lt" pitchFamily="34" charset="0"/>
                <a:ea typeface="+mj-lt" pitchFamily="34" charset="-122"/>
                <a:cs typeface="+mj-lt" pitchFamily="34" charset="-120"/>
              </a:rPr>
              <a:t>21</a:t>
            </a:r>
            <a:endParaRPr lang="en-US" sz="3400" dirty="0"/>
          </a:p>
        </p:txBody>
      </p:sp>
      <p:sp>
        <p:nvSpPr>
          <p:cNvPr id="10" name="text-159"/>
          <p:cNvSpPr txBox="1"/>
          <p:nvPr/>
        </p:nvSpPr>
        <p:spPr>
          <a:xfrm>
            <a:off x="4566818" y="2578608"/>
            <a:ext cx="3058058" cy="411480"/>
          </a:xfrm>
          <a:prstGeom prst="rect">
            <a:avLst/>
          </a:prstGeom>
          <a:noFill/>
          <a:ln/>
        </p:spPr>
        <p:txBody>
          <a:bodyPr wrap="square" lIns="0" tIns="0" rIns="0" bIns="0" rtlCol="0" anchor="t"/>
          <a:lstStyle/>
          <a:p>
            <a:pPr indent="0" marL="0">
              <a:buNone/>
            </a:pPr>
            <a:r>
              <a:rPr lang="en-US" sz="1400" dirty="0">
                <a:solidFill>
                  <a:schemeClr val="tx2"/>
                </a:solidFill>
              </a:rPr>
              <a:t>Disturbances injected at random</a:t>
            </a:r>
            <a:endParaRPr lang="en-US" sz="1400" dirty="0"/>
          </a:p>
        </p:txBody>
      </p:sp>
      <p:sp>
        <p:nvSpPr>
          <p:cNvPr id="11" name="card-160"/>
          <p:cNvSpPr/>
          <p:nvPr/>
        </p:nvSpPr>
        <p:spPr>
          <a:xfrm>
            <a:off x="8127797" y="1737360"/>
            <a:ext cx="3515258" cy="1371600"/>
          </a:xfrm>
          <a:prstGeom prst="roundRect">
            <a:avLst>
              <a:gd name="adj" fmla="val 5333"/>
            </a:avLst>
          </a:prstGeom>
          <a:solidFill>
            <a:schemeClr val="bg2"/>
          </a:solidFill>
          <a:ln/>
        </p:spPr>
      </p:sp>
      <p:sp>
        <p:nvSpPr>
          <p:cNvPr id="12" name="text-161"/>
          <p:cNvSpPr txBox="1"/>
          <p:nvPr/>
        </p:nvSpPr>
        <p:spPr>
          <a:xfrm>
            <a:off x="8356397" y="1920240"/>
            <a:ext cx="3058058" cy="640080"/>
          </a:xfrm>
          <a:prstGeom prst="rect">
            <a:avLst/>
          </a:prstGeom>
          <a:noFill/>
          <a:ln/>
        </p:spPr>
        <p:txBody>
          <a:bodyPr wrap="square" lIns="0" tIns="0" rIns="0" bIns="0" rtlCol="0" anchor="t"/>
          <a:lstStyle/>
          <a:p>
            <a:pPr indent="0" marL="0">
              <a:buNone/>
            </a:pPr>
            <a:r>
              <a:rPr lang="en-US" sz="3400" b="1" dirty="0">
                <a:solidFill>
                  <a:schemeClr val="tx1"/>
                </a:solidFill>
                <a:latin typeface="+mj-lt" pitchFamily="34" charset="0"/>
                <a:ea typeface="+mj-lt" pitchFamily="34" charset="-122"/>
                <a:cs typeface="+mj-lt" pitchFamily="34" charset="-120"/>
              </a:rPr>
              <a:t>57</a:t>
            </a:r>
            <a:endParaRPr lang="en-US" sz="3400" dirty="0"/>
          </a:p>
        </p:txBody>
      </p:sp>
      <p:sp>
        <p:nvSpPr>
          <p:cNvPr id="13" name="text-162"/>
          <p:cNvSpPr txBox="1"/>
          <p:nvPr/>
        </p:nvSpPr>
        <p:spPr>
          <a:xfrm>
            <a:off x="8356397" y="2578608"/>
            <a:ext cx="3058058" cy="411480"/>
          </a:xfrm>
          <a:prstGeom prst="rect">
            <a:avLst/>
          </a:prstGeom>
          <a:noFill/>
          <a:ln/>
        </p:spPr>
        <p:txBody>
          <a:bodyPr wrap="square" lIns="0" tIns="0" rIns="0" bIns="0" rtlCol="0" anchor="t"/>
          <a:lstStyle/>
          <a:p>
            <a:pPr indent="0" marL="0">
              <a:buNone/>
            </a:pPr>
            <a:r>
              <a:rPr lang="en-US" sz="1400" dirty="0">
                <a:solidFill>
                  <a:schemeClr val="tx2"/>
                </a:solidFill>
              </a:rPr>
              <a:t>Automated tests, all passing</a:t>
            </a:r>
            <a:endParaRPr lang="en-US" sz="1400" dirty="0"/>
          </a:p>
        </p:txBody>
      </p:sp>
      <p:sp>
        <p:nvSpPr>
          <p:cNvPr id="14" name="card-163"/>
          <p:cNvSpPr/>
          <p:nvPr/>
        </p:nvSpPr>
        <p:spPr>
          <a:xfrm>
            <a:off x="548640" y="3337560"/>
            <a:ext cx="3515258" cy="1371600"/>
          </a:xfrm>
          <a:prstGeom prst="roundRect">
            <a:avLst>
              <a:gd name="adj" fmla="val 5333"/>
            </a:avLst>
          </a:prstGeom>
          <a:solidFill>
            <a:schemeClr val="tx1"/>
          </a:solidFill>
          <a:ln/>
        </p:spPr>
      </p:sp>
      <p:sp>
        <p:nvSpPr>
          <p:cNvPr id="15" name="text-164"/>
          <p:cNvSpPr txBox="1"/>
          <p:nvPr/>
        </p:nvSpPr>
        <p:spPr>
          <a:xfrm>
            <a:off x="777240" y="3520440"/>
            <a:ext cx="3058058" cy="640080"/>
          </a:xfrm>
          <a:prstGeom prst="rect">
            <a:avLst/>
          </a:prstGeom>
          <a:noFill/>
          <a:ln/>
        </p:spPr>
        <p:txBody>
          <a:bodyPr wrap="square" lIns="0" tIns="0" rIns="0" bIns="0" rtlCol="0" anchor="t"/>
          <a:lstStyle/>
          <a:p>
            <a:pPr indent="0" marL="0">
              <a:buNone/>
            </a:pPr>
            <a:r>
              <a:rPr lang="en-US" sz="3400" b="1" dirty="0">
                <a:solidFill>
                  <a:schemeClr val="accent1"/>
                </a:solidFill>
                <a:latin typeface="+mj-lt" pitchFamily="34" charset="0"/>
                <a:ea typeface="+mj-lt" pitchFamily="34" charset="-122"/>
                <a:cs typeface="+mj-lt" pitchFamily="34" charset="-120"/>
              </a:rPr>
              <a:t>0</a:t>
            </a:r>
            <a:endParaRPr lang="en-US" sz="3400" dirty="0"/>
          </a:p>
        </p:txBody>
      </p:sp>
      <p:sp>
        <p:nvSpPr>
          <p:cNvPr id="16" name="text-165"/>
          <p:cNvSpPr txBox="1"/>
          <p:nvPr/>
        </p:nvSpPr>
        <p:spPr>
          <a:xfrm>
            <a:off x="777240" y="4178808"/>
            <a:ext cx="3058058" cy="411480"/>
          </a:xfrm>
          <a:prstGeom prst="rect">
            <a:avLst/>
          </a:prstGeom>
          <a:noFill/>
          <a:ln/>
        </p:spPr>
        <p:txBody>
          <a:bodyPr wrap="square" lIns="0" tIns="0" rIns="0" bIns="0" rtlCol="0" anchor="t"/>
          <a:lstStyle/>
          <a:p>
            <a:pPr indent="0" marL="0">
              <a:buNone/>
            </a:pPr>
            <a:r>
              <a:rPr lang="en-US" sz="1400" dirty="0">
                <a:solidFill>
                  <a:schemeClr val="bg1"/>
                </a:solidFill>
              </a:rPr>
              <a:t>Hard-constraint violations</a:t>
            </a:r>
            <a:endParaRPr lang="en-US" sz="1400" dirty="0"/>
          </a:p>
        </p:txBody>
      </p:sp>
      <p:sp>
        <p:nvSpPr>
          <p:cNvPr id="17" name="card-166"/>
          <p:cNvSpPr/>
          <p:nvPr/>
        </p:nvSpPr>
        <p:spPr>
          <a:xfrm>
            <a:off x="4338218" y="3337560"/>
            <a:ext cx="3515258" cy="1371600"/>
          </a:xfrm>
          <a:prstGeom prst="roundRect">
            <a:avLst>
              <a:gd name="adj" fmla="val 5333"/>
            </a:avLst>
          </a:prstGeom>
          <a:solidFill>
            <a:schemeClr val="tx1"/>
          </a:solidFill>
          <a:ln/>
        </p:spPr>
      </p:sp>
      <p:sp>
        <p:nvSpPr>
          <p:cNvPr id="18" name="text-167"/>
          <p:cNvSpPr txBox="1"/>
          <p:nvPr/>
        </p:nvSpPr>
        <p:spPr>
          <a:xfrm>
            <a:off x="4566818" y="3520440"/>
            <a:ext cx="3058058" cy="640080"/>
          </a:xfrm>
          <a:prstGeom prst="rect">
            <a:avLst/>
          </a:prstGeom>
          <a:noFill/>
          <a:ln/>
        </p:spPr>
        <p:txBody>
          <a:bodyPr wrap="square" lIns="0" tIns="0" rIns="0" bIns="0" rtlCol="0" anchor="t"/>
          <a:lstStyle/>
          <a:p>
            <a:pPr indent="0" marL="0">
              <a:buNone/>
            </a:pPr>
            <a:r>
              <a:rPr lang="en-US" sz="3400" b="1" dirty="0">
                <a:solidFill>
                  <a:schemeClr val="accent1"/>
                </a:solidFill>
                <a:latin typeface="+mj-lt" pitchFamily="34" charset="0"/>
                <a:ea typeface="+mj-lt" pitchFamily="34" charset="-122"/>
                <a:cs typeface="+mj-lt" pitchFamily="34" charset="-120"/>
              </a:rPr>
              <a:t>0 MWh</a:t>
            </a:r>
            <a:endParaRPr lang="en-US" sz="3400" dirty="0"/>
          </a:p>
        </p:txBody>
      </p:sp>
      <p:sp>
        <p:nvSpPr>
          <p:cNvPr id="19" name="text-168"/>
          <p:cNvSpPr txBox="1"/>
          <p:nvPr/>
        </p:nvSpPr>
        <p:spPr>
          <a:xfrm>
            <a:off x="4566818" y="4178808"/>
            <a:ext cx="3058058" cy="411480"/>
          </a:xfrm>
          <a:prstGeom prst="rect">
            <a:avLst/>
          </a:prstGeom>
          <a:noFill/>
          <a:ln/>
        </p:spPr>
        <p:txBody>
          <a:bodyPr wrap="square" lIns="0" tIns="0" rIns="0" bIns="0" rtlCol="0" anchor="t"/>
          <a:lstStyle/>
          <a:p>
            <a:pPr indent="0" marL="0">
              <a:buNone/>
            </a:pPr>
            <a:r>
              <a:rPr lang="en-US" sz="1400" dirty="0">
                <a:solidFill>
                  <a:schemeClr val="bg1"/>
                </a:solidFill>
              </a:rPr>
              <a:t>Critical customer load unserved</a:t>
            </a:r>
            <a:endParaRPr lang="en-US" sz="1400" dirty="0"/>
          </a:p>
        </p:txBody>
      </p:sp>
      <p:sp>
        <p:nvSpPr>
          <p:cNvPr id="20" name="card-169"/>
          <p:cNvSpPr/>
          <p:nvPr/>
        </p:nvSpPr>
        <p:spPr>
          <a:xfrm>
            <a:off x="8127797" y="3337560"/>
            <a:ext cx="3515258" cy="1371600"/>
          </a:xfrm>
          <a:prstGeom prst="roundRect">
            <a:avLst>
              <a:gd name="adj" fmla="val 5333"/>
            </a:avLst>
          </a:prstGeom>
          <a:solidFill>
            <a:schemeClr val="tx1"/>
          </a:solidFill>
          <a:ln/>
        </p:spPr>
      </p:sp>
      <p:sp>
        <p:nvSpPr>
          <p:cNvPr id="21" name="text-170"/>
          <p:cNvSpPr txBox="1"/>
          <p:nvPr/>
        </p:nvSpPr>
        <p:spPr>
          <a:xfrm>
            <a:off x="8356397" y="3520440"/>
            <a:ext cx="3058058" cy="640080"/>
          </a:xfrm>
          <a:prstGeom prst="rect">
            <a:avLst/>
          </a:prstGeom>
          <a:noFill/>
          <a:ln/>
        </p:spPr>
        <p:txBody>
          <a:bodyPr wrap="square" lIns="0" tIns="0" rIns="0" bIns="0" rtlCol="0" anchor="t"/>
          <a:lstStyle/>
          <a:p>
            <a:pPr indent="0" marL="0">
              <a:buNone/>
            </a:pPr>
            <a:r>
              <a:rPr lang="en-US" sz="3400" b="1" dirty="0">
                <a:solidFill>
                  <a:schemeClr val="accent1"/>
                </a:solidFill>
                <a:latin typeface="+mj-lt" pitchFamily="34" charset="0"/>
                <a:ea typeface="+mj-lt" pitchFamily="34" charset="-122"/>
                <a:cs typeface="+mj-lt" pitchFamily="34" charset="-120"/>
              </a:rPr>
              <a:t>0</a:t>
            </a:r>
            <a:endParaRPr lang="en-US" sz="3400" dirty="0"/>
          </a:p>
        </p:txBody>
      </p:sp>
      <p:sp>
        <p:nvSpPr>
          <p:cNvPr id="22" name="text-171"/>
          <p:cNvSpPr txBox="1"/>
          <p:nvPr/>
        </p:nvSpPr>
        <p:spPr>
          <a:xfrm>
            <a:off x="8356397" y="4178808"/>
            <a:ext cx="3058058" cy="411480"/>
          </a:xfrm>
          <a:prstGeom prst="rect">
            <a:avLst/>
          </a:prstGeom>
          <a:noFill/>
          <a:ln/>
        </p:spPr>
        <p:txBody>
          <a:bodyPr wrap="square" lIns="0" tIns="0" rIns="0" bIns="0" rtlCol="0" anchor="t"/>
          <a:lstStyle/>
          <a:p>
            <a:pPr indent="0" marL="0">
              <a:buNone/>
            </a:pPr>
            <a:r>
              <a:rPr lang="en-US" sz="1400" dirty="0">
                <a:solidFill>
                  <a:schemeClr val="bg1"/>
                </a:solidFill>
              </a:rPr>
              <a:t>Intervals that fell back to safe mode</a:t>
            </a:r>
            <a:endParaRPr lang="en-US" sz="1400" dirty="0"/>
          </a:p>
        </p:txBody>
      </p:sp>
      <p:sp>
        <p:nvSpPr>
          <p:cNvPr id="23" name="text-172"/>
          <p:cNvSpPr txBox="1"/>
          <p:nvPr/>
        </p:nvSpPr>
        <p:spPr>
          <a:xfrm>
            <a:off x="548640" y="4983480"/>
            <a:ext cx="11094415" cy="640080"/>
          </a:xfrm>
          <a:prstGeom prst="rect">
            <a:avLst/>
          </a:prstGeom>
          <a:noFill/>
          <a:ln/>
        </p:spPr>
        <p:txBody>
          <a:bodyPr wrap="square" lIns="0" tIns="0" rIns="0" bIns="0" rtlCol="0" anchor="t"/>
          <a:lstStyle/>
          <a:p>
            <a:pPr indent="0" marL="0">
              <a:buNone/>
            </a:pPr>
            <a:r>
              <a:rPr lang="en-US" sz="1400" dirty="0">
                <a:solidFill>
                  <a:schemeClr val="tx2"/>
                </a:solidFill>
              </a:rPr>
              <a:t>Across the run: mean daily net cost ₹1.44 crore (P90 ₹2.20 crore), mean contract shortfall 82.9 MWh a day, mean curtailment 0.16 MWh a day. Summer and monsoon days alternate.</a:t>
            </a:r>
            <a:endParaRPr lang="en-US" sz="1400" dirty="0"/>
          </a:p>
        </p:txBody>
      </p:sp>
      <p:sp>
        <p:nvSpPr>
          <p:cNvPr id="24" name="text-173"/>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dirty="0">
                <a:solidFill>
                  <a:schemeClr val="accent4"/>
                </a:solidFill>
              </a:rPr>
              <a:t>Reproduce with: python scripts/run_reliability.py</a:t>
            </a:r>
            <a:endParaRPr lang="en-US" sz="12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OUR POSITION ON THE 3×3 GRID</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We claim D2 / F3</a:t>
            </a:r>
            <a:endParaRPr lang="en-US" sz="3400" dirty="0"/>
          </a:p>
        </p:txBody>
      </p:sp>
      <p:sp>
        <p:nvSpPr>
          <p:cNvPr id="5" name="text-174"/>
          <p:cNvSpPr txBox="1"/>
          <p:nvPr/>
        </p:nvSpPr>
        <p:spPr>
          <a:xfrm>
            <a:off x="1097280" y="1828800"/>
            <a:ext cx="1143000" cy="320040"/>
          </a:xfrm>
          <a:prstGeom prst="rect">
            <a:avLst/>
          </a:prstGeom>
          <a:noFill/>
          <a:ln/>
        </p:spPr>
        <p:txBody>
          <a:bodyPr wrap="square" lIns="0" tIns="0" rIns="0" bIns="0" rtlCol="0" anchor="t"/>
          <a:lstStyle/>
          <a:p>
            <a:pPr algn="ctr" indent="0" marL="0">
              <a:buNone/>
            </a:pPr>
            <a:r>
              <a:rPr lang="en-US" sz="1400" b="1" dirty="0">
                <a:solidFill>
                  <a:schemeClr val="tx2"/>
                </a:solidFill>
              </a:rPr>
              <a:t>F1</a:t>
            </a:r>
            <a:endParaRPr lang="en-US" sz="1400" dirty="0"/>
          </a:p>
        </p:txBody>
      </p:sp>
      <p:sp>
        <p:nvSpPr>
          <p:cNvPr id="6" name="text-175"/>
          <p:cNvSpPr txBox="1"/>
          <p:nvPr/>
        </p:nvSpPr>
        <p:spPr>
          <a:xfrm>
            <a:off x="2331720" y="1828800"/>
            <a:ext cx="1143000" cy="320040"/>
          </a:xfrm>
          <a:prstGeom prst="rect">
            <a:avLst/>
          </a:prstGeom>
          <a:noFill/>
          <a:ln/>
        </p:spPr>
        <p:txBody>
          <a:bodyPr wrap="square" lIns="0" tIns="0" rIns="0" bIns="0" rtlCol="0" anchor="t"/>
          <a:lstStyle/>
          <a:p>
            <a:pPr algn="ctr" indent="0" marL="0">
              <a:buNone/>
            </a:pPr>
            <a:r>
              <a:rPr lang="en-US" sz="1400" b="1" dirty="0">
                <a:solidFill>
                  <a:schemeClr val="tx2"/>
                </a:solidFill>
              </a:rPr>
              <a:t>F2</a:t>
            </a:r>
            <a:endParaRPr lang="en-US" sz="1400" dirty="0"/>
          </a:p>
        </p:txBody>
      </p:sp>
      <p:sp>
        <p:nvSpPr>
          <p:cNvPr id="7" name="text-176"/>
          <p:cNvSpPr txBox="1"/>
          <p:nvPr/>
        </p:nvSpPr>
        <p:spPr>
          <a:xfrm>
            <a:off x="3566160" y="1828800"/>
            <a:ext cx="1143000" cy="320040"/>
          </a:xfrm>
          <a:prstGeom prst="rect">
            <a:avLst/>
          </a:prstGeom>
          <a:noFill/>
          <a:ln/>
        </p:spPr>
        <p:txBody>
          <a:bodyPr wrap="square" lIns="0" tIns="0" rIns="0" bIns="0" rtlCol="0" anchor="t"/>
          <a:lstStyle/>
          <a:p>
            <a:pPr algn="ctr" indent="0" marL="0">
              <a:buNone/>
            </a:pPr>
            <a:r>
              <a:rPr lang="en-US" sz="1400" b="1" dirty="0">
                <a:solidFill>
                  <a:schemeClr val="tx2"/>
                </a:solidFill>
              </a:rPr>
              <a:t>F3</a:t>
            </a:r>
            <a:endParaRPr lang="en-US" sz="1400" dirty="0"/>
          </a:p>
        </p:txBody>
      </p:sp>
      <p:sp>
        <p:nvSpPr>
          <p:cNvPr id="8" name="text-177"/>
          <p:cNvSpPr txBox="1"/>
          <p:nvPr/>
        </p:nvSpPr>
        <p:spPr>
          <a:xfrm>
            <a:off x="548640" y="2240280"/>
            <a:ext cx="457200" cy="960120"/>
          </a:xfrm>
          <a:prstGeom prst="rect">
            <a:avLst/>
          </a:prstGeom>
          <a:noFill/>
          <a:ln/>
        </p:spPr>
        <p:txBody>
          <a:bodyPr wrap="square" lIns="0" tIns="0" rIns="0" bIns="0" rtlCol="0" anchor="ctr"/>
          <a:lstStyle/>
          <a:p>
            <a:pPr indent="0" marL="0">
              <a:buNone/>
            </a:pPr>
            <a:r>
              <a:rPr lang="en-US" sz="1400" b="1" dirty="0">
                <a:solidFill>
                  <a:schemeClr val="tx2"/>
                </a:solidFill>
              </a:rPr>
              <a:t>D1</a:t>
            </a:r>
            <a:endParaRPr lang="en-US" sz="1400" dirty="0"/>
          </a:p>
        </p:txBody>
      </p:sp>
      <p:sp>
        <p:nvSpPr>
          <p:cNvPr id="9" name="card-178"/>
          <p:cNvSpPr/>
          <p:nvPr/>
        </p:nvSpPr>
        <p:spPr>
          <a:xfrm>
            <a:off x="1097280" y="2240280"/>
            <a:ext cx="1143000" cy="960120"/>
          </a:xfrm>
          <a:prstGeom prst="roundRect">
            <a:avLst>
              <a:gd name="adj" fmla="val 7619"/>
            </a:avLst>
          </a:prstGeom>
          <a:solidFill>
            <a:schemeClr val="bg2"/>
          </a:solidFill>
          <a:ln/>
        </p:spPr>
      </p:sp>
      <p:sp>
        <p:nvSpPr>
          <p:cNvPr id="10" name="card-179"/>
          <p:cNvSpPr/>
          <p:nvPr/>
        </p:nvSpPr>
        <p:spPr>
          <a:xfrm>
            <a:off x="2331720" y="2240280"/>
            <a:ext cx="1143000" cy="960120"/>
          </a:xfrm>
          <a:prstGeom prst="roundRect">
            <a:avLst>
              <a:gd name="adj" fmla="val 7619"/>
            </a:avLst>
          </a:prstGeom>
          <a:solidFill>
            <a:schemeClr val="bg2"/>
          </a:solidFill>
          <a:ln/>
        </p:spPr>
      </p:sp>
      <p:sp>
        <p:nvSpPr>
          <p:cNvPr id="11" name="card-180"/>
          <p:cNvSpPr/>
          <p:nvPr/>
        </p:nvSpPr>
        <p:spPr>
          <a:xfrm>
            <a:off x="3566160" y="2240280"/>
            <a:ext cx="1143000" cy="960120"/>
          </a:xfrm>
          <a:prstGeom prst="roundRect">
            <a:avLst>
              <a:gd name="adj" fmla="val 7619"/>
            </a:avLst>
          </a:prstGeom>
          <a:solidFill>
            <a:schemeClr val="bg2"/>
          </a:solidFill>
          <a:ln/>
        </p:spPr>
      </p:sp>
      <p:sp>
        <p:nvSpPr>
          <p:cNvPr id="12" name="text-181"/>
          <p:cNvSpPr txBox="1"/>
          <p:nvPr/>
        </p:nvSpPr>
        <p:spPr>
          <a:xfrm>
            <a:off x="548640" y="3291840"/>
            <a:ext cx="457200" cy="960120"/>
          </a:xfrm>
          <a:prstGeom prst="rect">
            <a:avLst/>
          </a:prstGeom>
          <a:noFill/>
          <a:ln/>
        </p:spPr>
        <p:txBody>
          <a:bodyPr wrap="square" lIns="0" tIns="0" rIns="0" bIns="0" rtlCol="0" anchor="ctr"/>
          <a:lstStyle/>
          <a:p>
            <a:pPr indent="0" marL="0">
              <a:buNone/>
            </a:pPr>
            <a:r>
              <a:rPr lang="en-US" sz="1400" b="1" dirty="0">
                <a:solidFill>
                  <a:schemeClr val="tx2"/>
                </a:solidFill>
              </a:rPr>
              <a:t>D2</a:t>
            </a:r>
            <a:endParaRPr lang="en-US" sz="1400" dirty="0"/>
          </a:p>
        </p:txBody>
      </p:sp>
      <p:sp>
        <p:nvSpPr>
          <p:cNvPr id="13" name="card-182"/>
          <p:cNvSpPr/>
          <p:nvPr/>
        </p:nvSpPr>
        <p:spPr>
          <a:xfrm>
            <a:off x="1097280" y="3291840"/>
            <a:ext cx="1143000" cy="960120"/>
          </a:xfrm>
          <a:prstGeom prst="roundRect">
            <a:avLst>
              <a:gd name="adj" fmla="val 7619"/>
            </a:avLst>
          </a:prstGeom>
          <a:solidFill>
            <a:schemeClr val="bg2"/>
          </a:solidFill>
          <a:ln/>
        </p:spPr>
      </p:sp>
      <p:sp>
        <p:nvSpPr>
          <p:cNvPr id="14" name="card-183"/>
          <p:cNvSpPr/>
          <p:nvPr/>
        </p:nvSpPr>
        <p:spPr>
          <a:xfrm>
            <a:off x="2331720" y="3291840"/>
            <a:ext cx="1143000" cy="960120"/>
          </a:xfrm>
          <a:prstGeom prst="roundRect">
            <a:avLst>
              <a:gd name="adj" fmla="val 7619"/>
            </a:avLst>
          </a:prstGeom>
          <a:solidFill>
            <a:schemeClr val="bg2"/>
          </a:solidFill>
          <a:ln/>
        </p:spPr>
      </p:sp>
      <p:sp>
        <p:nvSpPr>
          <p:cNvPr id="15" name="grid-position"/>
          <p:cNvSpPr/>
          <p:nvPr/>
        </p:nvSpPr>
        <p:spPr>
          <a:xfrm>
            <a:off x="3566160" y="3291840"/>
            <a:ext cx="1143000" cy="960120"/>
          </a:xfrm>
          <a:prstGeom prst="roundRect">
            <a:avLst>
              <a:gd name="adj" fmla="val 7619"/>
            </a:avLst>
          </a:prstGeom>
          <a:solidFill>
            <a:schemeClr val="accent1"/>
          </a:solidFill>
          <a:ln/>
        </p:spPr>
        <p:txBody>
          <a:bodyPr wrap="square" lIns="0" tIns="0" rIns="0" bIns="0" rtlCol="0" anchor="ctr"/>
          <a:lstStyle/>
          <a:p>
            <a:pPr algn="ctr" indent="0" marL="0">
              <a:buNone/>
            </a:pPr>
            <a:r>
              <a:rPr lang="en-US" sz="1400" b="1" dirty="0">
                <a:solidFill>
                  <a:schemeClr val="tx1"/>
                </a:solidFill>
              </a:rPr>
              <a:t>GridMind</a:t>
            </a:r>
            <a:endParaRPr lang="en-US" sz="1400" dirty="0"/>
          </a:p>
        </p:txBody>
      </p:sp>
      <p:sp>
        <p:nvSpPr>
          <p:cNvPr id="16" name="text-184"/>
          <p:cNvSpPr txBox="1"/>
          <p:nvPr/>
        </p:nvSpPr>
        <p:spPr>
          <a:xfrm>
            <a:off x="548640" y="4343400"/>
            <a:ext cx="457200" cy="960120"/>
          </a:xfrm>
          <a:prstGeom prst="rect">
            <a:avLst/>
          </a:prstGeom>
          <a:noFill/>
          <a:ln/>
        </p:spPr>
        <p:txBody>
          <a:bodyPr wrap="square" lIns="0" tIns="0" rIns="0" bIns="0" rtlCol="0" anchor="ctr"/>
          <a:lstStyle/>
          <a:p>
            <a:pPr indent="0" marL="0">
              <a:buNone/>
            </a:pPr>
            <a:r>
              <a:rPr lang="en-US" sz="1400" b="1" dirty="0">
                <a:solidFill>
                  <a:schemeClr val="tx2"/>
                </a:solidFill>
              </a:rPr>
              <a:t>D3</a:t>
            </a:r>
            <a:endParaRPr lang="en-US" sz="1400" dirty="0"/>
          </a:p>
        </p:txBody>
      </p:sp>
      <p:sp>
        <p:nvSpPr>
          <p:cNvPr id="17" name="card-185"/>
          <p:cNvSpPr/>
          <p:nvPr/>
        </p:nvSpPr>
        <p:spPr>
          <a:xfrm>
            <a:off x="1097280" y="4343400"/>
            <a:ext cx="1143000" cy="960120"/>
          </a:xfrm>
          <a:prstGeom prst="roundRect">
            <a:avLst>
              <a:gd name="adj" fmla="val 7619"/>
            </a:avLst>
          </a:prstGeom>
          <a:solidFill>
            <a:schemeClr val="bg2"/>
          </a:solidFill>
          <a:ln/>
        </p:spPr>
      </p:sp>
      <p:sp>
        <p:nvSpPr>
          <p:cNvPr id="18" name="card-186"/>
          <p:cNvSpPr/>
          <p:nvPr/>
        </p:nvSpPr>
        <p:spPr>
          <a:xfrm>
            <a:off x="2331720" y="4343400"/>
            <a:ext cx="1143000" cy="960120"/>
          </a:xfrm>
          <a:prstGeom prst="roundRect">
            <a:avLst>
              <a:gd name="adj" fmla="val 7619"/>
            </a:avLst>
          </a:prstGeom>
          <a:solidFill>
            <a:schemeClr val="bg2"/>
          </a:solidFill>
          <a:ln/>
        </p:spPr>
      </p:sp>
      <p:sp>
        <p:nvSpPr>
          <p:cNvPr id="19" name="card-187"/>
          <p:cNvSpPr/>
          <p:nvPr/>
        </p:nvSpPr>
        <p:spPr>
          <a:xfrm>
            <a:off x="3566160" y="4343400"/>
            <a:ext cx="1143000" cy="960120"/>
          </a:xfrm>
          <a:prstGeom prst="roundRect">
            <a:avLst>
              <a:gd name="adj" fmla="val 7619"/>
            </a:avLst>
          </a:prstGeom>
          <a:solidFill>
            <a:schemeClr val="bg2"/>
          </a:solidFill>
          <a:ln/>
        </p:spPr>
      </p:sp>
      <p:sp>
        <p:nvSpPr>
          <p:cNvPr id="20" name="text-188"/>
          <p:cNvSpPr txBox="1"/>
          <p:nvPr/>
        </p:nvSpPr>
        <p:spPr>
          <a:xfrm>
            <a:off x="548640" y="5486400"/>
            <a:ext cx="4206240" cy="457200"/>
          </a:xfrm>
          <a:prstGeom prst="rect">
            <a:avLst/>
          </a:prstGeom>
          <a:noFill/>
          <a:ln/>
        </p:spPr>
        <p:txBody>
          <a:bodyPr wrap="square" lIns="0" tIns="0" rIns="0" bIns="0" rtlCol="0" anchor="t"/>
          <a:lstStyle/>
          <a:p>
            <a:pPr indent="0" marL="0">
              <a:buNone/>
            </a:pPr>
            <a:r>
              <a:rPr lang="en-US" sz="1200" dirty="0">
                <a:solidFill>
                  <a:schemeClr val="accent4"/>
                </a:solidFill>
              </a:rPr>
              <a:t>D = solution depth, F = solution features, as defined in the brief.</a:t>
            </a:r>
            <a:endParaRPr lang="en-US" sz="1200" dirty="0"/>
          </a:p>
        </p:txBody>
      </p:sp>
      <p:sp>
        <p:nvSpPr>
          <p:cNvPr id="21" name="text-189"/>
          <p:cNvSpPr txBox="1"/>
          <p:nvPr/>
        </p:nvSpPr>
        <p:spPr>
          <a:xfrm>
            <a:off x="5212080" y="1737360"/>
            <a:ext cx="6430975" cy="320040"/>
          </a:xfrm>
          <a:prstGeom prst="rect">
            <a:avLst/>
          </a:prstGeom>
          <a:noFill/>
          <a:ln/>
        </p:spPr>
        <p:txBody>
          <a:bodyPr wrap="square" lIns="0" tIns="0" rIns="0" bIns="0" rtlCol="0" anchor="t"/>
          <a:lstStyle/>
          <a:p>
            <a:pPr indent="0" marL="0">
              <a:buNone/>
            </a:pPr>
            <a:r>
              <a:rPr lang="en-US" sz="1600" b="1" dirty="0">
                <a:solidFill>
                  <a:schemeClr val="tx1"/>
                </a:solidFill>
              </a:rPr>
              <a:t>Depth D2: structured input, high demonstrable reliability</a:t>
            </a:r>
            <a:endParaRPr lang="en-US" sz="1600" dirty="0"/>
          </a:p>
        </p:txBody>
      </p:sp>
      <p:sp>
        <p:nvSpPr>
          <p:cNvPr id="22" name="text-190"/>
          <p:cNvSpPr txBox="1"/>
          <p:nvPr/>
        </p:nvSpPr>
        <p:spPr>
          <a:xfrm>
            <a:off x="5212080" y="2121408"/>
            <a:ext cx="6430975" cy="777240"/>
          </a:xfrm>
          <a:prstGeom prst="rect">
            <a:avLst/>
          </a:prstGeom>
          <a:noFill/>
          <a:ln/>
        </p:spPr>
        <p:txBody>
          <a:bodyPr wrap="square" lIns="0" tIns="0" rIns="0" bIns="0" rtlCol="0" anchor="t"/>
          <a:lstStyle/>
          <a:p>
            <a:pPr indent="0" marL="0">
              <a:buNone/>
            </a:pPr>
            <a:r>
              <a:rPr lang="en-US" sz="1400" dirty="0">
                <a:solidFill>
                  <a:schemeClr val="tx2"/>
                </a:solidFill>
              </a:rPr>
              <a:t>Inputs are structured telemetry, forecasts and event notices. Zero hard violations in 2,880 intervals, guardrails before every action, an audit entry for every decision.</a:t>
            </a:r>
            <a:endParaRPr lang="en-US" sz="1400" dirty="0"/>
          </a:p>
        </p:txBody>
      </p:sp>
      <p:sp>
        <p:nvSpPr>
          <p:cNvPr id="23" name="text-191"/>
          <p:cNvSpPr txBox="1"/>
          <p:nvPr/>
        </p:nvSpPr>
        <p:spPr>
          <a:xfrm>
            <a:off x="5212080" y="3108960"/>
            <a:ext cx="6430975" cy="320040"/>
          </a:xfrm>
          <a:prstGeom prst="rect">
            <a:avLst/>
          </a:prstGeom>
          <a:noFill/>
          <a:ln/>
        </p:spPr>
        <p:txBody>
          <a:bodyPr wrap="square" lIns="0" tIns="0" rIns="0" bIns="0" rtlCol="0" anchor="t"/>
          <a:lstStyle/>
          <a:p>
            <a:pPr indent="0" marL="0">
              <a:buNone/>
            </a:pPr>
            <a:r>
              <a:rPr lang="en-US" sz="1600" b="1" dirty="0">
                <a:solidFill>
                  <a:schemeClr val="tx1"/>
                </a:solidFill>
              </a:rPr>
              <a:t>Features F3: simulate over time as inputs vary</a:t>
            </a:r>
            <a:endParaRPr lang="en-US" sz="1600" dirty="0"/>
          </a:p>
        </p:txBody>
      </p:sp>
      <p:sp>
        <p:nvSpPr>
          <p:cNvPr id="24" name="text-192"/>
          <p:cNvSpPr txBox="1"/>
          <p:nvPr/>
        </p:nvSpPr>
        <p:spPr>
          <a:xfrm>
            <a:off x="5212080" y="3493008"/>
            <a:ext cx="6430975"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F1: the solver picks one joint action set across batteries, market, curtailment and demand response</a:t>
            </a:r>
            <a:endParaRPr lang="en-US" sz="1400" dirty="0"/>
          </a:p>
          <a:p>
            <a:pPr marL="342900" indent="-342900">
              <a:spcAft>
                <a:spcPts val="600"/>
              </a:spcAft>
              <a:buSzPct val="100000"/>
              <a:buChar char="•"/>
            </a:pPr>
            <a:r>
              <a:rPr lang="en-US" sz="1400" dirty="0">
                <a:solidFill>
                  <a:schemeClr val="tx2"/>
                </a:solidFill>
              </a:rPr>
              <a:t>F2: the agent sets mode and weights for the situation, then compares plans on Monte Carlo risk</a:t>
            </a:r>
            <a:endParaRPr lang="en-US" sz="1400" dirty="0"/>
          </a:p>
          <a:p>
            <a:pPr marL="342900" indent="-342900">
              <a:spcAft>
                <a:spcPts val="600"/>
              </a:spcAft>
              <a:buSzPct val="100000"/>
              <a:buChar char="•"/>
            </a:pPr>
            <a:r>
              <a:rPr lang="en-US" sz="1400" dirty="0">
                <a:solidFill>
                  <a:schemeClr val="tx2"/>
                </a:solidFill>
              </a:rPr>
              <a:t>F3: rolling 8-hour horizon, a 30-day run, two seasons, nine disturbance types</a:t>
            </a:r>
            <a:endParaRPr lang="en-US" sz="1400" dirty="0"/>
          </a:p>
        </p:txBody>
      </p:sp>
      <p:sp>
        <p:nvSpPr>
          <p:cNvPr id="25" name="text-193"/>
          <p:cNvSpPr txBox="1"/>
          <p:nvPr/>
        </p:nvSpPr>
        <p:spPr>
          <a:xfrm>
            <a:off x="5212080" y="5074920"/>
            <a:ext cx="6430975" cy="320040"/>
          </a:xfrm>
          <a:prstGeom prst="rect">
            <a:avLst/>
          </a:prstGeom>
          <a:noFill/>
          <a:ln/>
        </p:spPr>
        <p:txBody>
          <a:bodyPr wrap="square" lIns="0" tIns="0" rIns="0" bIns="0" rtlCol="0" anchor="t"/>
          <a:lstStyle/>
          <a:p>
            <a:pPr indent="0" marL="0">
              <a:buNone/>
            </a:pPr>
            <a:r>
              <a:rPr lang="en-US" sz="1600" b="1" dirty="0">
                <a:solidFill>
                  <a:schemeClr val="tx1"/>
                </a:solidFill>
              </a:rPr>
              <a:t>Not claimed: D3</a:t>
            </a:r>
            <a:endParaRPr lang="en-US" sz="1600" dirty="0"/>
          </a:p>
        </p:txBody>
      </p:sp>
      <p:sp>
        <p:nvSpPr>
          <p:cNvPr id="26" name="text-194"/>
          <p:cNvSpPr txBox="1"/>
          <p:nvPr/>
        </p:nvSpPr>
        <p:spPr>
          <a:xfrm>
            <a:off x="5212080" y="5458968"/>
            <a:ext cx="6430975" cy="365760"/>
          </a:xfrm>
          <a:prstGeom prst="rect">
            <a:avLst/>
          </a:prstGeom>
          <a:noFill/>
          <a:ln/>
        </p:spPr>
        <p:txBody>
          <a:bodyPr wrap="square" lIns="0" tIns="0" rIns="0" bIns="0" rtlCol="0" anchor="t"/>
          <a:lstStyle/>
          <a:p>
            <a:pPr indent="0" marL="0">
              <a:buNone/>
            </a:pPr>
            <a:r>
              <a:rPr lang="en-US" sz="1400" dirty="0">
                <a:solidFill>
                  <a:schemeClr val="tx2"/>
                </a:solidFill>
              </a:rPr>
              <a:t>No multimodal input such as satellite imagery or camera feeds.</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AGAINST THE EVALUATION FRAMEWORK</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Eight criteria, and where to look for each</a:t>
            </a:r>
            <a:endParaRPr lang="en-US" sz="3400" dirty="0"/>
          </a:p>
        </p:txBody>
      </p:sp>
      <p:sp>
        <p:nvSpPr>
          <p:cNvPr id="5" name="card-195"/>
          <p:cNvSpPr/>
          <p:nvPr/>
        </p:nvSpPr>
        <p:spPr>
          <a:xfrm>
            <a:off x="548640" y="1737360"/>
            <a:ext cx="2567864" cy="1828800"/>
          </a:xfrm>
          <a:prstGeom prst="roundRect">
            <a:avLst>
              <a:gd name="adj" fmla="val 4000"/>
            </a:avLst>
          </a:prstGeom>
          <a:solidFill>
            <a:schemeClr val="bg2"/>
          </a:solidFill>
          <a:ln/>
        </p:spPr>
      </p:sp>
      <p:sp>
        <p:nvSpPr>
          <p:cNvPr id="6" name="text-196"/>
          <p:cNvSpPr txBox="1"/>
          <p:nvPr/>
        </p:nvSpPr>
        <p:spPr>
          <a:xfrm>
            <a:off x="749808" y="192024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Significance</a:t>
            </a:r>
            <a:endParaRPr lang="en-US" sz="1600" dirty="0"/>
          </a:p>
        </p:txBody>
      </p:sp>
      <p:sp>
        <p:nvSpPr>
          <p:cNvPr id="7" name="text-197"/>
          <p:cNvSpPr txBox="1"/>
          <p:nvPr/>
        </p:nvSpPr>
        <p:spPr>
          <a:xfrm>
            <a:off x="749808" y="2377440"/>
            <a:ext cx="2165528" cy="1051560"/>
          </a:xfrm>
          <a:prstGeom prst="rect">
            <a:avLst/>
          </a:prstGeom>
          <a:noFill/>
          <a:ln/>
        </p:spPr>
        <p:txBody>
          <a:bodyPr wrap="square" lIns="0" tIns="0" rIns="0" bIns="0" rtlCol="0" anchor="t"/>
          <a:lstStyle/>
          <a:p>
            <a:pPr indent="0" marL="0">
              <a:buNone/>
            </a:pPr>
            <a:r>
              <a:rPr lang="en-US" sz="1400" dirty="0">
                <a:solidFill>
                  <a:schemeClr val="tx2"/>
                </a:solidFill>
              </a:rPr>
              <a:t>Dispatch every 15 minutes is a real control-room job with priced penalties</a:t>
            </a:r>
            <a:endParaRPr lang="en-US" sz="1400" dirty="0"/>
          </a:p>
        </p:txBody>
      </p:sp>
      <p:sp>
        <p:nvSpPr>
          <p:cNvPr id="8" name="card-198"/>
          <p:cNvSpPr/>
          <p:nvPr/>
        </p:nvSpPr>
        <p:spPr>
          <a:xfrm>
            <a:off x="3390824" y="1737360"/>
            <a:ext cx="2567864" cy="1828800"/>
          </a:xfrm>
          <a:prstGeom prst="roundRect">
            <a:avLst>
              <a:gd name="adj" fmla="val 4000"/>
            </a:avLst>
          </a:prstGeom>
          <a:solidFill>
            <a:schemeClr val="bg2"/>
          </a:solidFill>
          <a:ln/>
        </p:spPr>
      </p:sp>
      <p:sp>
        <p:nvSpPr>
          <p:cNvPr id="9" name="text-199"/>
          <p:cNvSpPr txBox="1"/>
          <p:nvPr/>
        </p:nvSpPr>
        <p:spPr>
          <a:xfrm>
            <a:off x="3591992" y="192024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Innovation</a:t>
            </a:r>
            <a:endParaRPr lang="en-US" sz="1600" dirty="0"/>
          </a:p>
        </p:txBody>
      </p:sp>
      <p:sp>
        <p:nvSpPr>
          <p:cNvPr id="10" name="text-200"/>
          <p:cNvSpPr txBox="1"/>
          <p:nvPr/>
        </p:nvSpPr>
        <p:spPr>
          <a:xfrm>
            <a:off x="3591992" y="2377440"/>
            <a:ext cx="2165528" cy="1051560"/>
          </a:xfrm>
          <a:prstGeom prst="rect">
            <a:avLst/>
          </a:prstGeom>
          <a:noFill/>
          <a:ln/>
        </p:spPr>
        <p:txBody>
          <a:bodyPr wrap="square" lIns="0" tIns="0" rIns="0" bIns="0" rtlCol="0" anchor="t"/>
          <a:lstStyle/>
          <a:p>
            <a:pPr indent="0" marL="0">
              <a:buNone/>
            </a:pPr>
            <a:r>
              <a:rPr lang="en-US" sz="1400" dirty="0">
                <a:solidFill>
                  <a:schemeClr val="tx2"/>
                </a:solidFill>
              </a:rPr>
              <a:t>An LLM steers a solver's objective instead of producing numbers itself</a:t>
            </a:r>
            <a:endParaRPr lang="en-US" sz="1400" dirty="0"/>
          </a:p>
        </p:txBody>
      </p:sp>
      <p:sp>
        <p:nvSpPr>
          <p:cNvPr id="11" name="card-201"/>
          <p:cNvSpPr/>
          <p:nvPr/>
        </p:nvSpPr>
        <p:spPr>
          <a:xfrm>
            <a:off x="6233008" y="1737360"/>
            <a:ext cx="2567864" cy="1828800"/>
          </a:xfrm>
          <a:prstGeom prst="roundRect">
            <a:avLst>
              <a:gd name="adj" fmla="val 4000"/>
            </a:avLst>
          </a:prstGeom>
          <a:solidFill>
            <a:schemeClr val="bg2"/>
          </a:solidFill>
          <a:ln/>
        </p:spPr>
      </p:sp>
      <p:sp>
        <p:nvSpPr>
          <p:cNvPr id="12" name="text-202"/>
          <p:cNvSpPr txBox="1"/>
          <p:nvPr/>
        </p:nvSpPr>
        <p:spPr>
          <a:xfrm>
            <a:off x="6434176" y="192024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Effective use of AI</a:t>
            </a:r>
            <a:endParaRPr lang="en-US" sz="1600" dirty="0"/>
          </a:p>
        </p:txBody>
      </p:sp>
      <p:sp>
        <p:nvSpPr>
          <p:cNvPr id="13" name="text-203"/>
          <p:cNvSpPr txBox="1"/>
          <p:nvPr/>
        </p:nvSpPr>
        <p:spPr>
          <a:xfrm>
            <a:off x="6434176" y="2377440"/>
            <a:ext cx="2165528" cy="1051560"/>
          </a:xfrm>
          <a:prstGeom prst="rect">
            <a:avLst/>
          </a:prstGeom>
          <a:noFill/>
          <a:ln/>
        </p:spPr>
        <p:txBody>
          <a:bodyPr wrap="square" lIns="0" tIns="0" rIns="0" bIns="0" rtlCol="0" anchor="t"/>
          <a:lstStyle/>
          <a:p>
            <a:pPr indent="0" marL="0">
              <a:buNone/>
            </a:pPr>
            <a:r>
              <a:rPr lang="en-US" sz="1400" dirty="0">
                <a:solidFill>
                  <a:schemeClr val="tx2"/>
                </a:solidFill>
              </a:rPr>
              <a:t>The model handles judgement and language; maths stays with the solver</a:t>
            </a:r>
            <a:endParaRPr lang="en-US" sz="1400" dirty="0"/>
          </a:p>
        </p:txBody>
      </p:sp>
      <p:sp>
        <p:nvSpPr>
          <p:cNvPr id="14" name="card-204"/>
          <p:cNvSpPr/>
          <p:nvPr/>
        </p:nvSpPr>
        <p:spPr>
          <a:xfrm>
            <a:off x="9075191" y="1737360"/>
            <a:ext cx="2567864" cy="1828800"/>
          </a:xfrm>
          <a:prstGeom prst="roundRect">
            <a:avLst>
              <a:gd name="adj" fmla="val 4000"/>
            </a:avLst>
          </a:prstGeom>
          <a:solidFill>
            <a:schemeClr val="bg2"/>
          </a:solidFill>
          <a:ln/>
        </p:spPr>
      </p:sp>
      <p:sp>
        <p:nvSpPr>
          <p:cNvPr id="15" name="text-205"/>
          <p:cNvSpPr txBox="1"/>
          <p:nvPr/>
        </p:nvSpPr>
        <p:spPr>
          <a:xfrm>
            <a:off x="9276359" y="192024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Technical execution</a:t>
            </a:r>
            <a:endParaRPr lang="en-US" sz="1600" dirty="0"/>
          </a:p>
        </p:txBody>
      </p:sp>
      <p:sp>
        <p:nvSpPr>
          <p:cNvPr id="16" name="text-206"/>
          <p:cNvSpPr txBox="1"/>
          <p:nvPr/>
        </p:nvSpPr>
        <p:spPr>
          <a:xfrm>
            <a:off x="9276359" y="2377440"/>
            <a:ext cx="2165528" cy="1051560"/>
          </a:xfrm>
          <a:prstGeom prst="rect">
            <a:avLst/>
          </a:prstGeom>
          <a:noFill/>
          <a:ln/>
        </p:spPr>
        <p:txBody>
          <a:bodyPr wrap="square" lIns="0" tIns="0" rIns="0" bIns="0" rtlCol="0" anchor="t"/>
          <a:lstStyle/>
          <a:p>
            <a:pPr indent="0" marL="0">
              <a:buNone/>
            </a:pPr>
            <a:r>
              <a:rPr lang="en-US" sz="1400" dirty="0">
                <a:solidFill>
                  <a:schemeClr val="tx2"/>
                </a:solidFill>
              </a:rPr>
              <a:t>MILP, Monte Carlo risk, forecast cones, guardrails, 57 passing tests</a:t>
            </a:r>
            <a:endParaRPr lang="en-US" sz="1400" dirty="0"/>
          </a:p>
        </p:txBody>
      </p:sp>
      <p:sp>
        <p:nvSpPr>
          <p:cNvPr id="17" name="card-207"/>
          <p:cNvSpPr/>
          <p:nvPr/>
        </p:nvSpPr>
        <p:spPr>
          <a:xfrm>
            <a:off x="548640" y="3840480"/>
            <a:ext cx="2567864" cy="1828800"/>
          </a:xfrm>
          <a:prstGeom prst="roundRect">
            <a:avLst>
              <a:gd name="adj" fmla="val 4000"/>
            </a:avLst>
          </a:prstGeom>
          <a:solidFill>
            <a:schemeClr val="bg2"/>
          </a:solidFill>
          <a:ln/>
        </p:spPr>
      </p:sp>
      <p:sp>
        <p:nvSpPr>
          <p:cNvPr id="18" name="text-208"/>
          <p:cNvSpPr txBox="1"/>
          <p:nvPr/>
        </p:nvSpPr>
        <p:spPr>
          <a:xfrm>
            <a:off x="749808" y="402336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Agentic capability</a:t>
            </a:r>
            <a:endParaRPr lang="en-US" sz="1600" dirty="0"/>
          </a:p>
        </p:txBody>
      </p:sp>
      <p:sp>
        <p:nvSpPr>
          <p:cNvPr id="19" name="text-209"/>
          <p:cNvSpPr txBox="1"/>
          <p:nvPr/>
        </p:nvSpPr>
        <p:spPr>
          <a:xfrm>
            <a:off x="749808" y="4480560"/>
            <a:ext cx="2165528" cy="1051560"/>
          </a:xfrm>
          <a:prstGeom prst="rect">
            <a:avLst/>
          </a:prstGeom>
          <a:noFill/>
          <a:ln/>
        </p:spPr>
        <p:txBody>
          <a:bodyPr wrap="square" lIns="0" tIns="0" rIns="0" bIns="0" rtlCol="0" anchor="t"/>
          <a:lstStyle/>
          <a:p>
            <a:pPr indent="0" marL="0">
              <a:buNone/>
            </a:pPr>
            <a:r>
              <a:rPr lang="en-US" sz="1400" dirty="0">
                <a:solidFill>
                  <a:schemeClr val="tx2"/>
                </a:solidFill>
              </a:rPr>
              <a:t>Monitors, plans, calls tools, recovers from rejected plans, then acts</a:t>
            </a:r>
            <a:endParaRPr lang="en-US" sz="1400" dirty="0"/>
          </a:p>
        </p:txBody>
      </p:sp>
      <p:sp>
        <p:nvSpPr>
          <p:cNvPr id="20" name="card-210"/>
          <p:cNvSpPr/>
          <p:nvPr/>
        </p:nvSpPr>
        <p:spPr>
          <a:xfrm>
            <a:off x="3390824" y="3840480"/>
            <a:ext cx="2567864" cy="1828800"/>
          </a:xfrm>
          <a:prstGeom prst="roundRect">
            <a:avLst>
              <a:gd name="adj" fmla="val 4000"/>
            </a:avLst>
          </a:prstGeom>
          <a:solidFill>
            <a:schemeClr val="bg2"/>
          </a:solidFill>
          <a:ln/>
        </p:spPr>
      </p:sp>
      <p:sp>
        <p:nvSpPr>
          <p:cNvPr id="21" name="text-211"/>
          <p:cNvSpPr txBox="1"/>
          <p:nvPr/>
        </p:nvSpPr>
        <p:spPr>
          <a:xfrm>
            <a:off x="3591992" y="402336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Business impact</a:t>
            </a:r>
            <a:endParaRPr lang="en-US" sz="1600" dirty="0"/>
          </a:p>
        </p:txBody>
      </p:sp>
      <p:sp>
        <p:nvSpPr>
          <p:cNvPr id="22" name="text-212"/>
          <p:cNvSpPr txBox="1"/>
          <p:nvPr/>
        </p:nvSpPr>
        <p:spPr>
          <a:xfrm>
            <a:off x="3591992" y="4480560"/>
            <a:ext cx="2165528" cy="1051560"/>
          </a:xfrm>
          <a:prstGeom prst="rect">
            <a:avLst/>
          </a:prstGeom>
          <a:noFill/>
          <a:ln/>
        </p:spPr>
        <p:txBody>
          <a:bodyPr wrap="square" lIns="0" tIns="0" rIns="0" bIns="0" rtlCol="0" anchor="t"/>
          <a:lstStyle/>
          <a:p>
            <a:pPr indent="0" marL="0">
              <a:buNone/>
            </a:pPr>
            <a:r>
              <a:rPr lang="en-US" sz="1400" dirty="0">
                <a:solidFill>
                  <a:schemeClr val="tx2"/>
                </a:solidFill>
              </a:rPr>
              <a:t>44.5% lower cost and 88.7% less shortfall on the benchmark day</a:t>
            </a:r>
            <a:endParaRPr lang="en-US" sz="1400" dirty="0"/>
          </a:p>
        </p:txBody>
      </p:sp>
      <p:sp>
        <p:nvSpPr>
          <p:cNvPr id="23" name="card-213"/>
          <p:cNvSpPr/>
          <p:nvPr/>
        </p:nvSpPr>
        <p:spPr>
          <a:xfrm>
            <a:off x="6233008" y="3840480"/>
            <a:ext cx="2567864" cy="1828800"/>
          </a:xfrm>
          <a:prstGeom prst="roundRect">
            <a:avLst>
              <a:gd name="adj" fmla="val 4000"/>
            </a:avLst>
          </a:prstGeom>
          <a:solidFill>
            <a:schemeClr val="bg2"/>
          </a:solidFill>
          <a:ln/>
        </p:spPr>
      </p:sp>
      <p:sp>
        <p:nvSpPr>
          <p:cNvPr id="24" name="text-214"/>
          <p:cNvSpPr txBox="1"/>
          <p:nvPr/>
        </p:nvSpPr>
        <p:spPr>
          <a:xfrm>
            <a:off x="6434176" y="402336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Prototype quality</a:t>
            </a:r>
            <a:endParaRPr lang="en-US" sz="1600" dirty="0"/>
          </a:p>
        </p:txBody>
      </p:sp>
      <p:sp>
        <p:nvSpPr>
          <p:cNvPr id="25" name="text-215"/>
          <p:cNvSpPr txBox="1"/>
          <p:nvPr/>
        </p:nvSpPr>
        <p:spPr>
          <a:xfrm>
            <a:off x="6434176" y="4480560"/>
            <a:ext cx="2165528" cy="1051560"/>
          </a:xfrm>
          <a:prstGeom prst="rect">
            <a:avLst/>
          </a:prstGeom>
          <a:noFill/>
          <a:ln/>
        </p:spPr>
        <p:txBody>
          <a:bodyPr wrap="square" lIns="0" tIns="0" rIns="0" bIns="0" rtlCol="0" anchor="t"/>
          <a:lstStyle/>
          <a:p>
            <a:pPr indent="0" marL="0">
              <a:buNone/>
            </a:pPr>
            <a:r>
              <a:rPr lang="en-US" sz="1400" dirty="0">
                <a:solidFill>
                  <a:schemeClr val="tx2"/>
                </a:solidFill>
              </a:rPr>
              <a:t>Eight-page dashboard, live event injection, one-command local run</a:t>
            </a:r>
            <a:endParaRPr lang="en-US" sz="1400" dirty="0"/>
          </a:p>
        </p:txBody>
      </p:sp>
      <p:sp>
        <p:nvSpPr>
          <p:cNvPr id="26" name="card-216"/>
          <p:cNvSpPr/>
          <p:nvPr/>
        </p:nvSpPr>
        <p:spPr>
          <a:xfrm>
            <a:off x="9075191" y="3840480"/>
            <a:ext cx="2567864" cy="1828800"/>
          </a:xfrm>
          <a:prstGeom prst="roundRect">
            <a:avLst>
              <a:gd name="adj" fmla="val 4000"/>
            </a:avLst>
          </a:prstGeom>
          <a:solidFill>
            <a:schemeClr val="bg2"/>
          </a:solidFill>
          <a:ln/>
        </p:spPr>
      </p:sp>
      <p:sp>
        <p:nvSpPr>
          <p:cNvPr id="27" name="text-217"/>
          <p:cNvSpPr txBox="1"/>
          <p:nvPr/>
        </p:nvSpPr>
        <p:spPr>
          <a:xfrm>
            <a:off x="9276359" y="4023360"/>
            <a:ext cx="2165528" cy="365760"/>
          </a:xfrm>
          <a:prstGeom prst="rect">
            <a:avLst/>
          </a:prstGeom>
          <a:noFill/>
          <a:ln/>
        </p:spPr>
        <p:txBody>
          <a:bodyPr wrap="square" lIns="0" tIns="0" rIns="0" bIns="0" rtlCol="0" anchor="t"/>
          <a:lstStyle/>
          <a:p>
            <a:pPr indent="0" marL="0">
              <a:buNone/>
            </a:pPr>
            <a:r>
              <a:rPr lang="en-US" sz="1600" b="1" dirty="0">
                <a:solidFill>
                  <a:schemeClr val="accent2"/>
                </a:solidFill>
              </a:rPr>
              <a:t>Scale and responsible AI</a:t>
            </a:r>
            <a:endParaRPr lang="en-US" sz="1600" dirty="0"/>
          </a:p>
        </p:txBody>
      </p:sp>
      <p:sp>
        <p:nvSpPr>
          <p:cNvPr id="28" name="text-218"/>
          <p:cNvSpPr txBox="1"/>
          <p:nvPr/>
        </p:nvSpPr>
        <p:spPr>
          <a:xfrm>
            <a:off x="9276359" y="4480560"/>
            <a:ext cx="2165528" cy="1051560"/>
          </a:xfrm>
          <a:prstGeom prst="rect">
            <a:avLst/>
          </a:prstGeom>
          <a:noFill/>
          <a:ln/>
        </p:spPr>
        <p:txBody>
          <a:bodyPr wrap="square" lIns="0" tIns="0" rIns="0" bIns="0" rtlCol="0" anchor="t"/>
          <a:lstStyle/>
          <a:p>
            <a:pPr indent="0" marL="0">
              <a:buNone/>
            </a:pPr>
            <a:r>
              <a:rPr lang="en-US" sz="1400" dirty="0">
                <a:solidFill>
                  <a:schemeClr val="tx2"/>
                </a:solidFill>
              </a:rPr>
              <a:t>Config-driven assets, operator approval and override, full audit log</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74320"/>
          </a:xfrm>
          <a:prstGeom prst="rect">
            <a:avLst/>
          </a:prstGeom>
          <a:noFill/>
          <a:ln/>
        </p:spPr>
        <p:txBody>
          <a:bodyPr wrap="square" lIns="0" tIns="0" rIns="0" bIns="0" rtlCol="0"/>
          <a:lstStyle/>
          <a:p>
            <a:pPr indent="0" marL="0">
              <a:buNone/>
            </a:pPr>
            <a:r>
              <a:rPr lang="en-US" sz="1200" b="1" spc="200" kern="0" dirty="0">
                <a:solidFill>
                  <a:schemeClr val="accent2"/>
                </a:solidFill>
              </a:rPr>
              <a:t>SCOPE</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What the prototype does not do yet</a:t>
            </a:r>
            <a:endParaRPr lang="en-US" sz="3400" dirty="0"/>
          </a:p>
        </p:txBody>
      </p:sp>
      <p:sp>
        <p:nvSpPr>
          <p:cNvPr id="5" name="card-219"/>
          <p:cNvSpPr/>
          <p:nvPr/>
        </p:nvSpPr>
        <p:spPr>
          <a:xfrm>
            <a:off x="548640" y="1737360"/>
            <a:ext cx="5364328" cy="3566160"/>
          </a:xfrm>
          <a:prstGeom prst="roundRect">
            <a:avLst>
              <a:gd name="adj" fmla="val 2051"/>
            </a:avLst>
          </a:prstGeom>
          <a:solidFill>
            <a:schemeClr val="bg2"/>
          </a:solidFill>
          <a:ln/>
        </p:spPr>
      </p:sp>
      <p:sp>
        <p:nvSpPr>
          <p:cNvPr id="6" name="text-220"/>
          <p:cNvSpPr txBox="1"/>
          <p:nvPr/>
        </p:nvSpPr>
        <p:spPr>
          <a:xfrm>
            <a:off x="822960" y="1965960"/>
            <a:ext cx="4815688" cy="365760"/>
          </a:xfrm>
          <a:prstGeom prst="rect">
            <a:avLst/>
          </a:prstGeom>
          <a:noFill/>
          <a:ln/>
        </p:spPr>
        <p:txBody>
          <a:bodyPr wrap="square" lIns="0" tIns="0" rIns="0" bIns="0" rtlCol="0" anchor="t"/>
          <a:lstStyle/>
          <a:p>
            <a:pPr indent="0" marL="0">
              <a:buNone/>
            </a:pPr>
            <a:r>
              <a:rPr lang="en-US" sz="1800" b="1" dirty="0">
                <a:solidFill>
                  <a:schemeClr val="tx1"/>
                </a:solidFill>
              </a:rPr>
              <a:t>Outside the current build</a:t>
            </a:r>
            <a:endParaRPr lang="en-US" sz="1800" dirty="0"/>
          </a:p>
        </p:txBody>
      </p:sp>
      <p:sp>
        <p:nvSpPr>
          <p:cNvPr id="7" name="text-221"/>
          <p:cNvSpPr txBox="1"/>
          <p:nvPr/>
        </p:nvSpPr>
        <p:spPr>
          <a:xfrm>
            <a:off x="822960" y="2514600"/>
            <a:ext cx="4815688"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Grid frequency is not modelled or controlled</a:t>
            </a:r>
            <a:endParaRPr lang="en-US" sz="1500" dirty="0"/>
          </a:p>
          <a:p>
            <a:pPr marL="342900" indent="-342900">
              <a:spcAft>
                <a:spcPts val="1000"/>
              </a:spcAft>
              <a:buSzPct val="100000"/>
              <a:buChar char="•"/>
            </a:pPr>
            <a:r>
              <a:rPr lang="en-US" sz="1500" dirty="0">
                <a:solidFill>
                  <a:schemeClr val="tx2"/>
                </a:solidFill>
              </a:rPr>
              <a:t>Maintenance scheduling and crew dispatch are not agent actions</a:t>
            </a:r>
            <a:endParaRPr lang="en-US" sz="1500" dirty="0"/>
          </a:p>
          <a:p>
            <a:pPr marL="342900" indent="-342900">
              <a:spcAft>
                <a:spcPts val="1000"/>
              </a:spcAft>
              <a:buSzPct val="100000"/>
              <a:buChar char="•"/>
            </a:pPr>
            <a:r>
              <a:rPr lang="en-US" sz="1500" dirty="0">
                <a:solidFill>
                  <a:schemeClr val="tx2"/>
                </a:solidFill>
              </a:rPr>
              <a:t>Inputs are structured only: no imagery or video</a:t>
            </a:r>
            <a:endParaRPr lang="en-US" sz="1500" dirty="0"/>
          </a:p>
          <a:p>
            <a:pPr marL="342900" indent="-342900">
              <a:spcAft>
                <a:spcPts val="1000"/>
              </a:spcAft>
              <a:buSzPct val="100000"/>
              <a:buChar char="•"/>
            </a:pPr>
            <a:r>
              <a:rPr lang="en-US" sz="1500" dirty="0">
                <a:solidFill>
                  <a:schemeClr val="tx2"/>
                </a:solidFill>
              </a:rPr>
              <a:t>It runs on a simulator. Weather is historical Open-Meteo data; prices and demand are modelled series</a:t>
            </a:r>
            <a:endParaRPr lang="en-US" sz="1500" dirty="0"/>
          </a:p>
        </p:txBody>
      </p:sp>
      <p:sp>
        <p:nvSpPr>
          <p:cNvPr id="8" name="card-222"/>
          <p:cNvSpPr/>
          <p:nvPr/>
        </p:nvSpPr>
        <p:spPr>
          <a:xfrm>
            <a:off x="6278728" y="1737360"/>
            <a:ext cx="5364328" cy="3566160"/>
          </a:xfrm>
          <a:prstGeom prst="roundRect">
            <a:avLst>
              <a:gd name="adj" fmla="val 2051"/>
            </a:avLst>
          </a:prstGeom>
          <a:solidFill>
            <a:schemeClr val="tx1"/>
          </a:solidFill>
          <a:ln/>
        </p:spPr>
      </p:sp>
      <p:sp>
        <p:nvSpPr>
          <p:cNvPr id="9" name="text-223"/>
          <p:cNvSpPr txBox="1"/>
          <p:nvPr/>
        </p:nvSpPr>
        <p:spPr>
          <a:xfrm>
            <a:off x="6553048" y="1965960"/>
            <a:ext cx="4815688" cy="365760"/>
          </a:xfrm>
          <a:prstGeom prst="rect">
            <a:avLst/>
          </a:prstGeom>
          <a:noFill/>
          <a:ln/>
        </p:spPr>
        <p:txBody>
          <a:bodyPr wrap="square" lIns="0" tIns="0" rIns="0" bIns="0" rtlCol="0" anchor="t"/>
          <a:lstStyle/>
          <a:p>
            <a:pPr indent="0" marL="0">
              <a:buNone/>
            </a:pPr>
            <a:r>
              <a:rPr lang="en-US" sz="1800" b="1" dirty="0">
                <a:solidFill>
                  <a:schemeClr val="accent1"/>
                </a:solidFill>
              </a:rPr>
              <a:t>What comes next</a:t>
            </a:r>
            <a:endParaRPr lang="en-US" sz="1800" dirty="0"/>
          </a:p>
        </p:txBody>
      </p:sp>
      <p:sp>
        <p:nvSpPr>
          <p:cNvPr id="10" name="text-224"/>
          <p:cNvSpPr txBox="1"/>
          <p:nvPr/>
        </p:nvSpPr>
        <p:spPr>
          <a:xfrm>
            <a:off x="6553048" y="2514600"/>
            <a:ext cx="4815688"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Live plant telemetry and market price feeds in place of the simulator</a:t>
            </a:r>
            <a:endParaRPr lang="en-US" sz="1500" dirty="0"/>
          </a:p>
          <a:p>
            <a:pPr marL="342900" indent="-342900">
              <a:spcAft>
                <a:spcPts val="1000"/>
              </a:spcAft>
              <a:buSzPct val="100000"/>
              <a:buChar char="•"/>
            </a:pPr>
            <a:r>
              <a:rPr lang="en-US" sz="1500" dirty="0">
                <a:solidFill>
                  <a:schemeClr val="bg1"/>
                </a:solidFill>
              </a:rPr>
              <a:t>Maintenance windows as a decision the agent can move</a:t>
            </a:r>
            <a:endParaRPr lang="en-US" sz="1500" dirty="0"/>
          </a:p>
          <a:p>
            <a:pPr marL="342900" indent="-342900">
              <a:spcAft>
                <a:spcPts val="1000"/>
              </a:spcAft>
              <a:buSzPct val="100000"/>
              <a:buChar char="•"/>
            </a:pPr>
            <a:r>
              <a:rPr lang="en-US" sz="1500" dirty="0">
                <a:solidFill>
                  <a:schemeClr val="bg1"/>
                </a:solidFill>
              </a:rPr>
              <a:t>Larger portfolios: the solver's problem size grows linearly with the number of assets</a:t>
            </a:r>
            <a:endParaRPr lang="en-US" sz="15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11094415" cy="320040"/>
          </a:xfrm>
          <a:prstGeom prst="rect">
            <a:avLst/>
          </a:prstGeom>
          <a:noFill/>
          <a:ln/>
        </p:spPr>
        <p:txBody>
          <a:bodyPr wrap="square" lIns="0" tIns="0" rIns="0" bIns="0" rtlCol="0"/>
          <a:lstStyle/>
          <a:p>
            <a:pPr indent="0" marL="0">
              <a:buNone/>
            </a:pPr>
            <a:r>
              <a:rPr lang="en-US" sz="1300" b="1" spc="200" kern="0" dirty="0">
                <a:solidFill>
                  <a:schemeClr val="accent1"/>
                </a:solidFill>
              </a:rPr>
              <a:t>GRIDMIND IN ONE LINE</a:t>
            </a:r>
            <a:endParaRPr lang="en-US" sz="1300" dirty="0"/>
          </a:p>
        </p:txBody>
      </p:sp>
      <p:sp>
        <p:nvSpPr>
          <p:cNvPr id="3" name="Text 0"/>
          <p:cNvSpPr/>
          <p:nvPr>
            <p:ph idx="101" type="title" hasCustomPrompt="1"/>
          </p:nvPr>
        </p:nvSpPr>
        <p:spPr>
          <a:xfrm>
            <a:off x="548640" y="1371600"/>
            <a:ext cx="10241280" cy="2377440"/>
          </a:xfrm>
          <a:prstGeom prst="rect">
            <a:avLst/>
          </a:prstGeom>
          <a:noFill/>
          <a:ln/>
        </p:spPr>
        <p:txBody>
          <a:bodyPr wrap="square" lIns="0" tIns="0" rIns="0" bIns="0" rtlCol="0" anchor="t"/>
          <a:lstStyle/>
          <a:p>
            <a:pPr algn="l" indent="0" marL="0">
              <a:buNone/>
            </a:pPr>
            <a:r>
              <a:rPr lang="en-US" sz="3600" b="1" dirty="0">
                <a:solidFill>
                  <a:schemeClr val="bg1"/>
                </a:solidFill>
              </a:rPr>
              <a:t>The agent sets the strategy, the solver sets the megawatts, and code keeps every dispatch safe</a:t>
            </a:r>
            <a:endParaRPr lang="en-US" sz="3600" dirty="0"/>
          </a:p>
        </p:txBody>
      </p:sp>
      <p:sp>
        <p:nvSpPr>
          <p:cNvPr id="4" name="card-225"/>
          <p:cNvSpPr/>
          <p:nvPr/>
        </p:nvSpPr>
        <p:spPr>
          <a:xfrm>
            <a:off x="548640" y="4206240"/>
            <a:ext cx="3515258" cy="1600200"/>
          </a:xfrm>
          <a:prstGeom prst="roundRect">
            <a:avLst>
              <a:gd name="adj" fmla="val 4571"/>
            </a:avLst>
          </a:prstGeom>
          <a:solidFill>
            <a:schemeClr val="accent3"/>
          </a:solidFill>
          <a:ln/>
        </p:spPr>
      </p:sp>
      <p:sp>
        <p:nvSpPr>
          <p:cNvPr id="5" name="text-226"/>
          <p:cNvSpPr txBox="1"/>
          <p:nvPr/>
        </p:nvSpPr>
        <p:spPr>
          <a:xfrm>
            <a:off x="804672" y="4434840"/>
            <a:ext cx="3003194" cy="365760"/>
          </a:xfrm>
          <a:prstGeom prst="rect">
            <a:avLst/>
          </a:prstGeom>
          <a:noFill/>
          <a:ln/>
        </p:spPr>
        <p:txBody>
          <a:bodyPr wrap="square" lIns="0" tIns="0" rIns="0" bIns="0" rtlCol="0" anchor="t"/>
          <a:lstStyle/>
          <a:p>
            <a:pPr indent="0" marL="0">
              <a:buNone/>
            </a:pPr>
            <a:r>
              <a:rPr lang="en-US" sz="1800" b="1" dirty="0">
                <a:solidFill>
                  <a:schemeClr val="accent1"/>
                </a:solidFill>
              </a:rPr>
              <a:t>Working demo</a:t>
            </a:r>
            <a:endParaRPr lang="en-US" sz="1800" dirty="0"/>
          </a:p>
        </p:txBody>
      </p:sp>
      <p:sp>
        <p:nvSpPr>
          <p:cNvPr id="6" name="text-227"/>
          <p:cNvSpPr txBox="1"/>
          <p:nvPr/>
        </p:nvSpPr>
        <p:spPr>
          <a:xfrm>
            <a:off x="804672" y="4892040"/>
            <a:ext cx="3003194" cy="777240"/>
          </a:xfrm>
          <a:prstGeom prst="rect">
            <a:avLst/>
          </a:prstGeom>
          <a:noFill/>
          <a:ln/>
        </p:spPr>
        <p:txBody>
          <a:bodyPr wrap="square" lIns="0" tIns="0" rIns="0" bIns="0" rtlCol="0" anchor="t"/>
          <a:lstStyle/>
          <a:p>
            <a:pPr indent="0" marL="0">
              <a:buNone/>
            </a:pPr>
            <a:r>
              <a:rPr lang="en-US" sz="1400" dirty="0">
                <a:solidFill>
                  <a:schemeClr val="bg1"/>
                </a:solidFill>
              </a:rPr>
              <a:t>Eight-page control room, run locally with ./scripts/run_demo.sh</a:t>
            </a:r>
            <a:endParaRPr lang="en-US" sz="1400" dirty="0"/>
          </a:p>
        </p:txBody>
      </p:sp>
      <p:sp>
        <p:nvSpPr>
          <p:cNvPr id="7" name="card-228"/>
          <p:cNvSpPr/>
          <p:nvPr/>
        </p:nvSpPr>
        <p:spPr>
          <a:xfrm>
            <a:off x="4338218" y="4206240"/>
            <a:ext cx="3515258" cy="1600200"/>
          </a:xfrm>
          <a:prstGeom prst="roundRect">
            <a:avLst>
              <a:gd name="adj" fmla="val 4571"/>
            </a:avLst>
          </a:prstGeom>
          <a:solidFill>
            <a:schemeClr val="accent3"/>
          </a:solidFill>
          <a:ln/>
        </p:spPr>
      </p:sp>
      <p:sp>
        <p:nvSpPr>
          <p:cNvPr id="8" name="text-229"/>
          <p:cNvSpPr txBox="1"/>
          <p:nvPr/>
        </p:nvSpPr>
        <p:spPr>
          <a:xfrm>
            <a:off x="4594250" y="4434840"/>
            <a:ext cx="3003194" cy="365760"/>
          </a:xfrm>
          <a:prstGeom prst="rect">
            <a:avLst/>
          </a:prstGeom>
          <a:noFill/>
          <a:ln/>
        </p:spPr>
        <p:txBody>
          <a:bodyPr wrap="square" lIns="0" tIns="0" rIns="0" bIns="0" rtlCol="0" anchor="t"/>
          <a:lstStyle/>
          <a:p>
            <a:pPr indent="0" marL="0">
              <a:buNone/>
            </a:pPr>
            <a:r>
              <a:rPr lang="en-US" sz="1800" b="1" dirty="0">
                <a:solidFill>
                  <a:schemeClr val="accent1"/>
                </a:solidFill>
              </a:rPr>
              <a:t>Architecture and code</a:t>
            </a:r>
            <a:endParaRPr lang="en-US" sz="1800" dirty="0"/>
          </a:p>
        </p:txBody>
      </p:sp>
      <p:sp>
        <p:nvSpPr>
          <p:cNvPr id="9" name="text-230"/>
          <p:cNvSpPr txBox="1"/>
          <p:nvPr/>
        </p:nvSpPr>
        <p:spPr>
          <a:xfrm>
            <a:off x="4594250" y="4892040"/>
            <a:ext cx="3003194" cy="777240"/>
          </a:xfrm>
          <a:prstGeom prst="rect">
            <a:avLst/>
          </a:prstGeom>
          <a:noFill/>
          <a:ln/>
        </p:spPr>
        <p:txBody>
          <a:bodyPr wrap="square" lIns="0" tIns="0" rIns="0" bIns="0" rtlCol="0" anchor="t"/>
          <a:lstStyle/>
          <a:p>
            <a:pPr indent="0" marL="0">
              <a:buNone/>
            </a:pPr>
            <a:r>
              <a:rPr lang="en-US" sz="1400" dirty="0">
                <a:solidFill>
                  <a:schemeClr val="bg1"/>
                </a:solidFill>
              </a:rPr>
              <a:t>github.com/varunbhaskar31/gridmind, with ARCHITECTURE.md</a:t>
            </a:r>
            <a:endParaRPr lang="en-US" sz="1400" dirty="0"/>
          </a:p>
        </p:txBody>
      </p:sp>
      <p:sp>
        <p:nvSpPr>
          <p:cNvPr id="10" name="card-231"/>
          <p:cNvSpPr/>
          <p:nvPr/>
        </p:nvSpPr>
        <p:spPr>
          <a:xfrm>
            <a:off x="8127797" y="4206240"/>
            <a:ext cx="3515258" cy="1600200"/>
          </a:xfrm>
          <a:prstGeom prst="roundRect">
            <a:avLst>
              <a:gd name="adj" fmla="val 4571"/>
            </a:avLst>
          </a:prstGeom>
          <a:solidFill>
            <a:schemeClr val="accent3"/>
          </a:solidFill>
          <a:ln/>
        </p:spPr>
      </p:sp>
      <p:sp>
        <p:nvSpPr>
          <p:cNvPr id="11" name="text-232"/>
          <p:cNvSpPr txBox="1"/>
          <p:nvPr/>
        </p:nvSpPr>
        <p:spPr>
          <a:xfrm>
            <a:off x="8383829" y="4434840"/>
            <a:ext cx="3003194" cy="365760"/>
          </a:xfrm>
          <a:prstGeom prst="rect">
            <a:avLst/>
          </a:prstGeom>
          <a:noFill/>
          <a:ln/>
        </p:spPr>
        <p:txBody>
          <a:bodyPr wrap="square" lIns="0" tIns="0" rIns="0" bIns="0" rtlCol="0" anchor="t"/>
          <a:lstStyle/>
          <a:p>
            <a:pPr indent="0" marL="0">
              <a:buNone/>
            </a:pPr>
            <a:r>
              <a:rPr lang="en-US" sz="1800" b="1" dirty="0">
                <a:solidFill>
                  <a:schemeClr val="accent1"/>
                </a:solidFill>
              </a:rPr>
              <a:t>Position claimed</a:t>
            </a:r>
            <a:endParaRPr lang="en-US" sz="1800" dirty="0"/>
          </a:p>
        </p:txBody>
      </p:sp>
      <p:sp>
        <p:nvSpPr>
          <p:cNvPr id="12" name="text-233"/>
          <p:cNvSpPr txBox="1"/>
          <p:nvPr/>
        </p:nvSpPr>
        <p:spPr>
          <a:xfrm>
            <a:off x="8383829" y="4892040"/>
            <a:ext cx="3003194" cy="777240"/>
          </a:xfrm>
          <a:prstGeom prst="rect">
            <a:avLst/>
          </a:prstGeom>
          <a:noFill/>
          <a:ln/>
        </p:spPr>
        <p:txBody>
          <a:bodyPr wrap="square" lIns="0" tIns="0" rIns="0" bIns="0" rtlCol="0" anchor="t"/>
          <a:lstStyle/>
          <a:p>
            <a:pPr indent="0" marL="0">
              <a:buNone/>
            </a:pPr>
            <a:r>
              <a:rPr lang="en-US" sz="1400" dirty="0">
                <a:solidFill>
                  <a:schemeClr val="bg1"/>
                </a:solidFill>
              </a:rPr>
              <a:t>D2 / F3, backed by a 30-day run with zero hard violations</a:t>
            </a:r>
            <a:endParaRPr lang="en-US" sz="1400" dirty="0"/>
          </a:p>
        </p:txBody>
      </p:sp>
    </p:spTree>
  </p:cSld>
  <p:clrMapOvr>
    <a:masterClrMapping/>
  </p:clrMapOvr>
</p:sld>
</file>

<file path=ppt/theme/theme1.xml><?xml version="1.0" encoding="utf-8"?>
<a:theme xmlns:a="http://schemas.openxmlformats.org/drawingml/2006/main" name="GridMind">
  <a:themeElements>
    <a:clrScheme name="GridMind">
      <a:dk1>
        <a:srgbClr val="10202B"/>
      </a:dk1>
      <a:lt1>
        <a:srgbClr val="FFFFFF"/>
      </a:lt1>
      <a:dk2>
        <a:srgbClr val="43525C"/>
      </a:dk2>
      <a:lt2>
        <a:srgbClr val="EEF2F5"/>
      </a:lt2>
      <a:accent1>
        <a:srgbClr val="F0A840"/>
      </a:accent1>
      <a:accent2>
        <a:srgbClr val="1F5F8B"/>
      </a:accent2>
      <a:accent3>
        <a:srgbClr val="1A2E3B"/>
      </a:accent3>
      <a:accent4>
        <a:srgbClr val="5C6972"/>
      </a:accent4>
      <a:accent5>
        <a:srgbClr val="D5DCE2"/>
      </a:accent5>
      <a:accent6>
        <a:srgbClr val="B5C4CC"/>
      </a:accent6>
      <a:hlink>
        <a:srgbClr val="1F5F8B"/>
      </a:hlink>
      <a:folHlink>
        <a:srgbClr val="5C6972"/>
      </a:folHlink>
    </a:clrScheme>
    <a:fontScheme name="GridMin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GridMind: ET AI Hackathon Case Study</dc:title>
  <dc:subject>Problem 4, Utilities: Renewable Energy Orchestrator</dc:subject>
  <dc:creator>PptxGenJS</dc:creator>
  <cp:lastModifiedBy>PptxGenJS</cp:lastModifiedBy>
  <cp:revision>1</cp:revision>
  <dcterms:created xsi:type="dcterms:W3CDTF">2026-10-10T09:22:28Z</dcterms:created>
  <dcterms:modified xsi:type="dcterms:W3CDTF">2026-10-10T09:22:28Z</dcterms:modified>
</cp:coreProperties>
</file>