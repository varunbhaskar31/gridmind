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We are thrilled to present GridMind, our autonomous renewable energy orchestrator developed for the ET AI Hackathon: Agentic Edition. We are addressing Problem Statement 4: Utilities. Our target client is Deccan Renewables Pvt. Ltd. in Karnataka, managing 740 MW of renewable generation, 400 MWh of battery storage, and 300 MW of industrial customers. Our claimed position on the 9-blocker grid is strictly D2 / F3: high demonstrable reliability through deterministic safety gates, combined with rolling uncertainty simulation. Let's dive into why this problem is mission-critical.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15 minutes, renewable dispatchers face an impossible mental juggling act. In Karnataka, Deccan Renewables operates 5 solar parks and 3 wind farms. If clouds blanket Pavagada Solar Park or wind drops in Chitradurga, generation plummets. Meanwhile, they are contractually bound to deliver continuous Round-The-Clock power to Bellary Steel and a Bangalore Data Centre. A single shortfall interval costs ₹15,000 per MWh in penalties. But buying blindly from the IEX spot market when prices spike to ₹10/kWh destroys profits. And cycling batteries blindly degrades multi-crore BESS assets. Human dispatchers simply cannot solve this multi-variable dynamic optimization every 15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hackathon guidelines explicitly state: declare your self-estimated position on the 9-blocker grid and justify it. Overestimating or underestimating incurs penalties. We claim D2 / F3. Why D2? Our inputs are structured telemetry, weather forecasts, and market prices. But we demonstrate HIGH reliability: zero hard safety violations over 30 days of simulation and zero unserved critical load. We do NOT claim D3 because we do not process satellite imagery or raw computer vision. Claiming D3 would be an ungrounded overclaim. Why F3? We satisfy all F1, F2, and F3 features: optimal cluster of actions, dynamic optimality determination under uncertainty, and rolling multi-day simulation with stochastic perturbations.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central architectural breakthrough. Rule #1 of GridMind is: The LLM never computes dispatch numbers. If you ask an LLM to decide how many megawatts each battery should discharge, it will hallucinate. In power systems, hallucinating 15 megawatts blows a substation transformer. On the other hand, traditional MILP solvers are mathematically sound but contextually blind. They cannot adapt when a cyclone warning is declared or trade off battery degradation against market spikes. GridMind solves this with a Neuro-Symbolic architecture: Gemini provides contextual reasoning, operational mode selection, and risk comparison, while PuLP MILP computes exact physical dispatch in 40 milliseconds, validated by hard code guardrails.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make our prototype realistic, we modeled an actual utility footprint in Karnataka. Our generation portfolio includes 500 MW across 5 solar parks, including Pavagada, one of the world's largest solar parks, and 240 MW across 3 wind parks in Chitradurga and Gadag. We have 400 MWh of lithium-ion battery storage with real 90.25% round-trip efficiency and ₹500/MWh degradation penalties. We serve four real-world industrial offtakers totaling 300 MW, each with distinct critical load baselines. The Bangalore Data Centre has a 90% non-sheddable floor, while Bellary Steel has 60%. All asset specs live in config YAML files with zero hardcoded numbers.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complete structural architecture required by the hackathon submission. Every 15 minutes, the system executes this four-stage loop: Stage 1 Sensing: We ingest physical telemetry from our Karnataka assets, compute physical solar and wind conversion, and forecast P10/P50/P90 trajectories 8 hours ahead. Stage 2 Reasoning: The Monitor Agent flags anomalies. The Strategist Agent enters a bounded tool-calling loop, testing candidate weight profiles in the PuLP MILP solver and evaluating tail risk across Monte Carlo scenarios. Stage 3 Safety: Before any setpoint touches hardware, our deterministic Python guardrails verify 7 physical constraints. If anything violates safety, it triggers a recovery loop or fails safe to a 40% battery hold. Stage 4 Actuation: We execute interval t=0, log an immutable audit record, and provide a plain-language briefing to the shift operator.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three agents inside GridMind. The Monitor Agent watches asset telemetry. If generation diverges from forecast, it classifies the event and triggers replanning. To conserve tokens, it only invokes the LLM when anomalies are meaningful. The Strategy Agent is our core reasoner. It selects the operating mode and tunes the multi-objective weights. It has access to three deterministic tools: run_milp, evaluate_risk, and compare_plans. It calls these in a bounded loop to test candidate strategies. The Explainer Agent serves the human operator. It creates concise shift briefings explaining exactly why decisions were made, what trade-offs were accepted, and what conditions would trigger a pivot.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4 in the hackathon brief explicitly demands that the solution make its optimality criteria clear and demonstrate how actions are chosen when objectives conflict. Here is our mathematical formulation. We balance six competing terms: electricity cost, carbon emissions, renewable curtailment, battery degradation, contract shortfall, and unserved load. Look at our conflict hierarchy: VOLL is ₹100,000/MWh. It strictly dominates everything else, guaranteeing critical loads are never shed. When a cyclone is incoming, storm preparation shifts the reserve floor to 60%, paying shortfall penalties if necessary to maintain defensive energy. During price arbitrage, battery degradation at ₹500/MWh ensures we only cycle batteries when price spreads exceed round-trip efficiency losses.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handle renewable intermittency and input uncertainty? Through a 3-tier uncertainty architecture. First, our Forecaster generates multi-quantile cones: P10 pessimistic, P50 expected, and P90 optimistic for all 10 assets over 32 intervals. Second, before executing a plan, the Strategy Agent calls evaluate_risk(), which runs a Monte Carlo simulation across 20 randomized weather and tariff perturbations. It computes expected cost and P90 tail risk. Third, we use Receding Horizon Model Predictive Control. While we optimize 8 hours ahead, we only execute the first 15-minute interval. At t=1, fresh telemetry arrives and we re-solve. This completely eliminates cumulative forecast drift.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and fault tolerance are non-negotiable for electric grids. Before any setpoint is sent to actuators, our deterministic Python guardrail layer checks 7 hard physical interlocks: no simultaneous charge and discharge, no simultaneous import and export, strict battery SoC limits between 10% and 95%, and 100% critical load protection. If a plan violates a guardrail, the system triggers an autonomous self-healing loop: the Strategist receives the exact violation feedback and re-solves. If two retries fail, it falls back to a deterministic Safe-Mode holding a 40% battery reserve. Furthermore, GridMind has 100% offline resilience: if the internet drops or Gemini times out, deterministic mock logic engages instantly with zero latency penalty.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Responsible AI is a primary evaluation parameter in this hackathon. We designed GridMind with deep human-in-the-loop governance. In the dashboard, operators can engage Manual Approval mode. High-impact decisions, such as shedding industrial customer loads or releasing emergency reserves, require operator sign-off. Shift Dispatch Managers have complete override authority: they can pause the agent, step interval by interval, or override setpoints directly. Finally, every single action is logged into an immutable JSONL audit file: every telemetry point, LLM reasoning trace, tool call, and solver result can be replayed for CERC or KERC regulatory audits. And because we handle pure electrical parameters, there is zero private data risk.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headline business impact. We ran a head-to-head 24-hour comparative benchmark under identical summer weather conditions and injected disturbances: Strategy 1 is traditional rule-based utility operation. Strategy 2 is fixed-weight MILP optimization. Strategy 3 is GridMind Autonomous Agent. The results speak for themselves: Total net operating cost drops by 44.5% — saving Deccan Renewables ₹18.2 Million per day. Contract delivery shortfalls plummet by 88.7%, from 1,312 MWh to just 148 MWh, saving ₹17.4 Million in penalties alone. Most critically, look at unserved critical customer load: the traditional baseline shed 43.2 MWh of critical load, causing brownouts at the hospital and steel plant. GridMind delivered zero shed load — 100% protection.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back up our D2 claim with bulletproof evidence, we ran a continuous 30-day reliability stress test: 2,880 consecutive 15-minute intervals spanning both summer and monsoon seasons. During this test, we injected 21 severe disturbances: sudden cloud cover over Pavagada, extreme IEX price spikes up to ₹10/kWh, transmission corridor deratings, and inverter trips. The verified audit outcome: Zero hard-constraint violations. Zero MWh of unserved critical load. 100% clean energy utilization. The entire 30-day suite runs in under 6 minutes on a standard laptop via python scripts/run_reliability.py, and the complete audit artifact is stored in reliability_summary.json.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hackathon explicitly requires a working demo. Our prototype is not a mock UI or static Figma prototype. It is a fully operational, 8-page Streamlit application that launches locally with a single command: ./scripts/run_demo.sh. Page 1 is the Control Room, showing live generation stacks, battery gauges, and step-by-step dispatch. Page 2 is the Event Injector, allowing judges to inject cloud shocks, price spikes, or line trips and watch the agent react in real time. Page 3 inspects Agent Reasoning, displaying tool calls and natural-language shift briefings. Pages 4 through 8 provide complete audit logging, benchmark comparisons, 30-day reliability reports, interactive GIS asset maps of Karnataka, and system architecture blueprints.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toward real-world industrial deployment: GridMind is built with enterprise engineering discipline. First, computational scalability: our MILP formulation scales linearly. Our 10-asset system solves in 40 milliseconds using the free open-source CBC solver. Even a 50-farm portfolio solves in 250 milliseconds, well within 15-minute dispatch cycles. Second, industrial connectivity: the sensing layer is designed to plug directly into SCADA and EMS systems via Modbus TCP and OPC-UA, and pulls live market prices from IEX. Third, code quality: we have 57 passing unit and integration tests across 5 phases, with zero framework bloat: no LangChain, no CrewAI, no Docker required.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GridMind provides an end-to-end, fully verified answer to Problem Statement 4. We satisfy every single one of the eight hackathon evaluation parameters: Significance: Solving the ₹18M/day dispatch dilemma for Deccan Renewables. Innovation: A neuro-symbolic agent architecture where AI reasons and math optimizes. Agentic capability: Tool-calling Strategy Agent with autonomous self-healing. Business impact: 44.5% cost reduction and 88.7% contract shortfall cut. Demonstrable prototype: An 8-page interactive control room running locally. And rigorous governance: Claiming D2/F3 with verified zero safety violations over 30 simulated days.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365760"/>
          </a:xfrm>
          <a:prstGeom prst="rect">
            <a:avLst/>
          </a:prstGeom>
          <a:noFill/>
        </p:spPr>
        <p:txBody>
          <a:bodyPr wrap="none" lIns="0" tIns="0" rIns="0" bIns="0">
            <a:spAutoFit/>
          </a:bodyPr>
          <a:lstStyle/>
          <a:p>
            <a:pPr>
              <a:defRPr sz="1100" b="1">
                <a:solidFill>
                  <a:srgbClr val="38BDF8"/>
                </a:solidFill>
                <a:latin typeface="Helvetica"/>
              </a:defRPr>
            </a:pPr>
            <a:r>
              <a:t>THE ECONOMIC TIMES  ×  ACCENTURE  |  ET AI HACKATHON: AGENTIC EDITION</a:t>
            </a:r>
          </a:p>
        </p:txBody>
      </p:sp>
      <p:sp>
        <p:nvSpPr>
          <p:cNvPr id="4" name="TextBox 3"/>
          <p:cNvSpPr txBox="1"/>
          <p:nvPr/>
        </p:nvSpPr>
        <p:spPr>
          <a:xfrm>
            <a:off x="914400" y="1188720"/>
            <a:ext cx="10332720" cy="1188720"/>
          </a:xfrm>
          <a:prstGeom prst="rect">
            <a:avLst/>
          </a:prstGeom>
          <a:noFill/>
        </p:spPr>
        <p:txBody>
          <a:bodyPr wrap="none" lIns="0" tIns="0" rIns="0" bIns="0">
            <a:spAutoFit/>
          </a:bodyPr>
          <a:lstStyle/>
          <a:p>
            <a:pPr>
              <a:spcAft>
                <a:spcPts val="600"/>
              </a:spcAft>
              <a:defRPr sz="4600" b="1">
                <a:solidFill>
                  <a:srgbClr val="FFFFFF"/>
                </a:solidFill>
                <a:latin typeface="Helvetica"/>
              </a:defRPr>
            </a:pPr>
            <a:r>
              <a:t>GridMind</a:t>
            </a:r>
          </a:p>
          <a:p>
            <a:pPr>
              <a:defRPr sz="2200" b="1">
                <a:solidFill>
                  <a:srgbClr val="10B981"/>
                </a:solidFill>
                <a:latin typeface="Helvetica"/>
              </a:defRPr>
            </a:pPr>
            <a:r>
              <a:t>Autonomous Renewable Energy Portfolio Orchestrator</a:t>
            </a:r>
          </a:p>
        </p:txBody>
      </p:sp>
      <p:sp>
        <p:nvSpPr>
          <p:cNvPr id="5" name="TextBox 4"/>
          <p:cNvSpPr txBox="1"/>
          <p:nvPr/>
        </p:nvSpPr>
        <p:spPr>
          <a:xfrm>
            <a:off x="914400" y="2514600"/>
            <a:ext cx="10332720" cy="548640"/>
          </a:xfrm>
          <a:prstGeom prst="rect">
            <a:avLst/>
          </a:prstGeom>
          <a:noFill/>
        </p:spPr>
        <p:txBody>
          <a:bodyPr wrap="none" lIns="0" tIns="0" rIns="0" bIns="0">
            <a:spAutoFit/>
          </a:bodyPr>
          <a:lstStyle/>
          <a:p>
            <a:pPr>
              <a:defRPr sz="1300">
                <a:solidFill>
                  <a:srgbClr val="94A3B8"/>
                </a:solidFill>
                <a:latin typeface="Arial"/>
              </a:defRPr>
            </a:pPr>
            <a:r>
              <a:t>A Neuro-Symbolic Agentic Decision System uniting Generative Reasoning (Gemini) with Deterministic MILP Optimization (PuLP) &amp; Hard Safety Guardrails for 15-Minute Electricity Markets.</a:t>
            </a:r>
          </a:p>
        </p:txBody>
      </p:sp>
      <p:sp>
        <p:nvSpPr>
          <p:cNvPr id="6" name="Rounded Rectangle 5"/>
          <p:cNvSpPr/>
          <p:nvPr/>
        </p:nvSpPr>
        <p:spPr>
          <a:xfrm>
            <a:off x="914400" y="3291840"/>
            <a:ext cx="2423160" cy="2377440"/>
          </a:xfrm>
          <a:prstGeom prst="roundRect">
            <a:avLst/>
          </a:prstGeom>
          <a:solidFill>
            <a:srgbClr val="131D38"/>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3429000"/>
            <a:ext cx="2148840" cy="2103120"/>
          </a:xfrm>
          <a:prstGeom prst="rect">
            <a:avLst/>
          </a:prstGeom>
          <a:noFill/>
        </p:spPr>
        <p:txBody>
          <a:bodyPr wrap="square" lIns="0" tIns="0" rIns="0" bIns="0">
            <a:spAutoFit/>
          </a:bodyPr>
          <a:lstStyle/>
          <a:p>
            <a:pPr>
              <a:spcAft>
                <a:spcPts val="300"/>
              </a:spcAft>
              <a:defRPr sz="2600" b="1">
                <a:solidFill>
                  <a:srgbClr val="38BDF8"/>
                </a:solidFill>
                <a:latin typeface="Helvetica"/>
              </a:defRPr>
            </a:pPr>
            <a:r>
              <a:t>PS-4</a:t>
            </a:r>
          </a:p>
          <a:p>
            <a:pPr>
              <a:spcAft>
                <a:spcPts val="200"/>
              </a:spcAft>
              <a:defRPr sz="1100" b="1">
                <a:solidFill>
                  <a:srgbClr val="FFFFFF"/>
                </a:solidFill>
                <a:latin typeface="Arial"/>
              </a:defRPr>
            </a:pPr>
            <a:r>
              <a:t>Utilities Orchestrator</a:t>
            </a:r>
          </a:p>
          <a:p>
            <a:pPr>
              <a:defRPr sz="900">
                <a:solidFill>
                  <a:srgbClr val="94A3B8"/>
                </a:solidFill>
                <a:latin typeface="Arial"/>
              </a:defRPr>
            </a:pPr>
            <a:r>
              <a:t>Renewable generation, BESS, industrial offtake &amp; market arbitrage</a:t>
            </a:r>
          </a:p>
        </p:txBody>
      </p:sp>
      <p:sp>
        <p:nvSpPr>
          <p:cNvPr id="8" name="Rounded Rectangle 7"/>
          <p:cNvSpPr/>
          <p:nvPr/>
        </p:nvSpPr>
        <p:spPr>
          <a:xfrm>
            <a:off x="3547872" y="3291840"/>
            <a:ext cx="2423160" cy="2377440"/>
          </a:xfrm>
          <a:prstGeom prst="roundRect">
            <a:avLst/>
          </a:prstGeom>
          <a:solidFill>
            <a:srgbClr val="131D38"/>
          </a:solidFill>
          <a:ln w="1524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85032" y="3429000"/>
            <a:ext cx="2148840" cy="2103120"/>
          </a:xfrm>
          <a:prstGeom prst="rect">
            <a:avLst/>
          </a:prstGeom>
          <a:noFill/>
        </p:spPr>
        <p:txBody>
          <a:bodyPr wrap="square" lIns="0" tIns="0" rIns="0" bIns="0">
            <a:spAutoFit/>
          </a:bodyPr>
          <a:lstStyle/>
          <a:p>
            <a:pPr>
              <a:spcAft>
                <a:spcPts val="300"/>
              </a:spcAft>
              <a:defRPr sz="2600" b="1">
                <a:solidFill>
                  <a:srgbClr val="818CF8"/>
                </a:solidFill>
                <a:latin typeface="Helvetica"/>
              </a:defRPr>
            </a:pPr>
            <a:r>
              <a:t>D2 / F3</a:t>
            </a:r>
          </a:p>
          <a:p>
            <a:pPr>
              <a:spcAft>
                <a:spcPts val="200"/>
              </a:spcAft>
              <a:defRPr sz="1100" b="1">
                <a:solidFill>
                  <a:srgbClr val="FFFFFF"/>
                </a:solidFill>
                <a:latin typeface="Arial"/>
              </a:defRPr>
            </a:pPr>
            <a:r>
              <a:t>9-Blocker Claim</a:t>
            </a:r>
          </a:p>
          <a:p>
            <a:pPr>
              <a:defRPr sz="900">
                <a:solidFill>
                  <a:srgbClr val="94A3B8"/>
                </a:solidFill>
                <a:latin typeface="Arial"/>
              </a:defRPr>
            </a:pPr>
            <a:r>
              <a:t>High demonstrable reliability + rolling uncertainty simulation</a:t>
            </a:r>
          </a:p>
        </p:txBody>
      </p:sp>
      <p:sp>
        <p:nvSpPr>
          <p:cNvPr id="10" name="Rounded Rectangle 9"/>
          <p:cNvSpPr/>
          <p:nvPr/>
        </p:nvSpPr>
        <p:spPr>
          <a:xfrm>
            <a:off x="6181344" y="3291840"/>
            <a:ext cx="2423160" cy="2377440"/>
          </a:xfrm>
          <a:prstGeom prst="roundRect">
            <a:avLst/>
          </a:prstGeom>
          <a:solidFill>
            <a:srgbClr val="131D38"/>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8504" y="3429000"/>
            <a:ext cx="2148840" cy="2103120"/>
          </a:xfrm>
          <a:prstGeom prst="rect">
            <a:avLst/>
          </a:prstGeom>
          <a:noFill/>
        </p:spPr>
        <p:txBody>
          <a:bodyPr wrap="square" lIns="0" tIns="0" rIns="0" bIns="0">
            <a:spAutoFit/>
          </a:bodyPr>
          <a:lstStyle/>
          <a:p>
            <a:pPr>
              <a:spcAft>
                <a:spcPts val="300"/>
              </a:spcAft>
              <a:defRPr sz="2600" b="1">
                <a:solidFill>
                  <a:srgbClr val="10B981"/>
                </a:solidFill>
                <a:latin typeface="Helvetica"/>
              </a:defRPr>
            </a:pPr>
            <a:r>
              <a:t>-44.5%</a:t>
            </a:r>
          </a:p>
          <a:p>
            <a:pPr>
              <a:spcAft>
                <a:spcPts val="200"/>
              </a:spcAft>
              <a:defRPr sz="1100" b="1">
                <a:solidFill>
                  <a:srgbClr val="FFFFFF"/>
                </a:solidFill>
                <a:latin typeface="Arial"/>
              </a:defRPr>
            </a:pPr>
            <a:r>
              <a:t>Daily Cost Reduction</a:t>
            </a:r>
          </a:p>
          <a:p>
            <a:pPr>
              <a:defRPr sz="900">
                <a:solidFill>
                  <a:srgbClr val="94A3B8"/>
                </a:solidFill>
                <a:latin typeface="Arial"/>
              </a:defRPr>
            </a:pPr>
            <a:r>
              <a:t>₹18.2 Million daily operational savings vs traditional baseline</a:t>
            </a:r>
          </a:p>
        </p:txBody>
      </p:sp>
      <p:sp>
        <p:nvSpPr>
          <p:cNvPr id="12" name="Rounded Rectangle 11"/>
          <p:cNvSpPr/>
          <p:nvPr/>
        </p:nvSpPr>
        <p:spPr>
          <a:xfrm>
            <a:off x="8814816" y="3291840"/>
            <a:ext cx="2423160" cy="2377440"/>
          </a:xfrm>
          <a:prstGeom prst="roundRect">
            <a:avLst/>
          </a:prstGeom>
          <a:solidFill>
            <a:srgbClr val="131D38"/>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51976" y="3429000"/>
            <a:ext cx="2148840" cy="2103120"/>
          </a:xfrm>
          <a:prstGeom prst="rect">
            <a:avLst/>
          </a:prstGeom>
          <a:noFill/>
        </p:spPr>
        <p:txBody>
          <a:bodyPr wrap="square" lIns="0" tIns="0" rIns="0" bIns="0">
            <a:spAutoFit/>
          </a:bodyPr>
          <a:lstStyle/>
          <a:p>
            <a:pPr>
              <a:spcAft>
                <a:spcPts val="300"/>
              </a:spcAft>
              <a:defRPr sz="2600" b="1">
                <a:solidFill>
                  <a:srgbClr val="F59E0B"/>
                </a:solidFill>
                <a:latin typeface="Helvetica"/>
              </a:defRPr>
            </a:pPr>
            <a:r>
              <a:t>0</a:t>
            </a:r>
          </a:p>
          <a:p>
            <a:pPr>
              <a:spcAft>
                <a:spcPts val="200"/>
              </a:spcAft>
              <a:defRPr sz="1100" b="1">
                <a:solidFill>
                  <a:srgbClr val="FFFFFF"/>
                </a:solidFill>
                <a:latin typeface="Arial"/>
              </a:defRPr>
            </a:pPr>
            <a:r>
              <a:t>Safety Violations</a:t>
            </a:r>
          </a:p>
          <a:p>
            <a:pPr>
              <a:defRPr sz="900">
                <a:solidFill>
                  <a:srgbClr val="94A3B8"/>
                </a:solidFill>
                <a:latin typeface="Arial"/>
              </a:defRPr>
            </a:pPr>
            <a:r>
              <a:t>2,880 consecutive intervals (30 days) with zero hard violations &amp; 0 VOLL</a:t>
            </a:r>
          </a:p>
        </p:txBody>
      </p:sp>
      <p:sp>
        <p:nvSpPr>
          <p:cNvPr id="14" name="TextBox 13"/>
          <p:cNvSpPr txBox="1"/>
          <p:nvPr/>
        </p:nvSpPr>
        <p:spPr>
          <a:xfrm>
            <a:off x="914400" y="6035040"/>
            <a:ext cx="10332720" cy="365760"/>
          </a:xfrm>
          <a:prstGeom prst="rect">
            <a:avLst/>
          </a:prstGeom>
          <a:noFill/>
        </p:spPr>
        <p:txBody>
          <a:bodyPr wrap="none" lIns="0" tIns="0" rIns="0" bIns="0">
            <a:spAutoFit/>
          </a:bodyPr>
          <a:lstStyle/>
          <a:p>
            <a:pPr>
              <a:defRPr sz="1000">
                <a:solidFill>
                  <a:srgbClr val="64748B"/>
                </a:solidFill>
                <a:latin typeface="Arial"/>
              </a:defRPr>
            </a:pPr>
            <a:r>
              <a:t>Target Portfolio: Deccan Renewables Pvt. Ltd. (Karnataka, India)  |  Primary Persona: Shift Dispatch Manager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950" b="1">
                <a:solidFill>
                  <a:srgbClr val="38BDF8"/>
                </a:solidFill>
                <a:latin typeface="Helvetica"/>
              </a:defRPr>
            </a:pPr>
            <a:r>
              <a:t>INDUSTRY PROBLEM &amp; REAL-WORLD FRICTION</a:t>
            </a:r>
          </a:p>
        </p:txBody>
      </p:sp>
      <p:sp>
        <p:nvSpPr>
          <p:cNvPr id="4" name="TextBox 3"/>
          <p:cNvSpPr txBox="1"/>
          <p:nvPr/>
        </p:nvSpPr>
        <p:spPr>
          <a:xfrm>
            <a:off x="731520" y="640080"/>
            <a:ext cx="10698480" cy="502920"/>
          </a:xfrm>
          <a:prstGeom prst="rect">
            <a:avLst/>
          </a:prstGeom>
          <a:noFill/>
        </p:spPr>
        <p:txBody>
          <a:bodyPr wrap="square" lIns="0" tIns="0" rIns="0" bIns="0">
            <a:spAutoFit/>
          </a:bodyPr>
          <a:lstStyle/>
          <a:p>
            <a:pPr>
              <a:defRPr sz="2200" b="1">
                <a:solidFill>
                  <a:srgbClr val="FFFFFF"/>
                </a:solidFill>
                <a:latin typeface="Helvetica"/>
              </a:defRPr>
            </a:pPr>
            <a:r>
              <a:t>The 15-Minute Dispatch Crisis in Modern Renewable Grids</a:t>
            </a:r>
          </a:p>
        </p:txBody>
      </p:sp>
      <p:sp>
        <p:nvSpPr>
          <p:cNvPr id="5" name="TextBox 4"/>
          <p:cNvSpPr txBox="1"/>
          <p:nvPr/>
        </p:nvSpPr>
        <p:spPr>
          <a:xfrm>
            <a:off x="731520" y="1170432"/>
            <a:ext cx="10698480" cy="365760"/>
          </a:xfrm>
          <a:prstGeom prst="rect">
            <a:avLst/>
          </a:prstGeom>
          <a:noFill/>
        </p:spPr>
        <p:txBody>
          <a:bodyPr wrap="square" lIns="0" tIns="0" rIns="0" bIns="0">
            <a:spAutoFit/>
          </a:bodyPr>
          <a:lstStyle/>
          <a:p>
            <a:pPr>
              <a:defRPr sz="1200">
                <a:solidFill>
                  <a:srgbClr val="94A3B8"/>
                </a:solidFill>
                <a:latin typeface="Arial"/>
              </a:defRPr>
            </a:pPr>
            <a:r>
              <a:t>Why manual control rooms fail under renewable volatility, battery wear, and strict offtake penalties</a:t>
            </a:r>
          </a:p>
        </p:txBody>
      </p:sp>
      <p:sp>
        <p:nvSpPr>
          <p:cNvPr id="6" name="Rectangle 5"/>
          <p:cNvSpPr/>
          <p:nvPr/>
        </p:nvSpPr>
        <p:spPr>
          <a:xfrm>
            <a:off x="731520" y="6309360"/>
            <a:ext cx="10728655" cy="13716"/>
          </a:xfrm>
          <a:prstGeom prst="rect">
            <a:avLst/>
          </a:prstGeom>
          <a:solidFill>
            <a:srgbClr val="2D3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8229600" cy="274320"/>
          </a:xfrm>
          <a:prstGeom prst="rect">
            <a:avLst/>
          </a:prstGeom>
          <a:noFill/>
        </p:spPr>
        <p:txBody>
          <a:bodyPr wrap="none" lIns="0" tIns="0" rIns="0" bIns="0">
            <a:spAutoFit/>
          </a:bodyPr>
          <a:lstStyle/>
          <a:p>
            <a:pPr>
              <a:defRPr sz="900">
                <a:solidFill>
                  <a:srgbClr val="64748B"/>
                </a:solidFill>
                <a:latin typeface="Arial"/>
              </a:defRPr>
            </a:pPr>
            <a:r>
              <a:t>GridMind | Deccan Renewables Pvt. Ltd. (Karnataka) | Self-Assessment Claim: D2 / F3</a:t>
            </a:r>
          </a:p>
        </p:txBody>
      </p:sp>
      <p:sp>
        <p:nvSpPr>
          <p:cNvPr id="8" name="TextBox 7"/>
          <p:cNvSpPr txBox="1"/>
          <p:nvPr/>
        </p:nvSpPr>
        <p:spPr>
          <a:xfrm>
            <a:off x="10058400" y="6382512"/>
            <a:ext cx="1401775" cy="274320"/>
          </a:xfrm>
          <a:prstGeom prst="rect">
            <a:avLst/>
          </a:prstGeom>
          <a:noFill/>
        </p:spPr>
        <p:txBody>
          <a:bodyPr wrap="none" lIns="0" tIns="0" rIns="0" bIns="0">
            <a:spAutoFit/>
          </a:bodyPr>
          <a:lstStyle/>
          <a:p>
            <a:pPr algn="r">
              <a:defRPr sz="900" b="1">
                <a:solidFill>
                  <a:srgbClr val="94A3B8"/>
                </a:solidFill>
                <a:latin typeface="Arial"/>
              </a:defRPr>
            </a:pPr>
            <a:r>
              <a:t>Slide 2 of 16</a:t>
            </a:r>
          </a:p>
        </p:txBody>
      </p:sp>
      <p:sp>
        <p:nvSpPr>
          <p:cNvPr id="9" name="Rounded Rectangle 8"/>
          <p:cNvSpPr/>
          <p:nvPr/>
        </p:nvSpPr>
        <p:spPr>
          <a:xfrm>
            <a:off x="731520" y="1645920"/>
            <a:ext cx="333756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10512"/>
            <a:ext cx="2971800" cy="4105656"/>
          </a:xfrm>
          <a:prstGeom prst="rect">
            <a:avLst/>
          </a:prstGeom>
          <a:noFill/>
        </p:spPr>
        <p:txBody>
          <a:bodyPr wrap="square" lIns="0" tIns="0" rIns="0" bIns="0">
            <a:spAutoFit/>
          </a:bodyPr>
          <a:lstStyle/>
          <a:p>
            <a:pPr>
              <a:spcAft>
                <a:spcPts val="800"/>
              </a:spcAft>
              <a:defRPr sz="1300" b="1">
                <a:solidFill>
                  <a:srgbClr val="38BDF8"/>
                </a:solidFill>
                <a:latin typeface="Helvetica"/>
              </a:defRPr>
            </a:pPr>
            <a:r>
              <a:t>1. Weather &amp; Asset Volatility</a:t>
            </a:r>
          </a:p>
          <a:p>
            <a:pPr>
              <a:spcAft>
                <a:spcPts val="600"/>
              </a:spcAft>
            </a:pPr>
            <a:r>
              <a:rPr sz="1050" b="1">
                <a:solidFill>
                  <a:srgbClr val="FFFFFF"/>
                </a:solidFill>
                <a:latin typeface="Arial"/>
              </a:rPr>
              <a:t>• Intermittent Solar: </a:t>
            </a:r>
            <a:r>
              <a:rPr sz="1000">
                <a:solidFill>
                  <a:srgbClr val="94A3B8"/>
                </a:solidFill>
                <a:latin typeface="Arial"/>
              </a:rPr>
              <a:t>5 solar parks (Pavagada, Tumakuru, etc.) drop up to 80% generation under cloud cover.</a:t>
            </a:r>
          </a:p>
          <a:p>
            <a:pPr>
              <a:spcAft>
                <a:spcPts val="600"/>
              </a:spcAft>
            </a:pPr>
            <a:r>
              <a:rPr sz="1050" b="1">
                <a:solidFill>
                  <a:srgbClr val="FFFFFF"/>
                </a:solidFill>
                <a:latin typeface="Arial"/>
              </a:rPr>
              <a:t>• Stochastic Wind: </a:t>
            </a:r>
            <a:r>
              <a:rPr sz="1000">
                <a:solidFill>
                  <a:srgbClr val="94A3B8"/>
                </a:solidFill>
                <a:latin typeface="Arial"/>
              </a:rPr>
              <a:t>Wind farms (Chitradurga, Gadag) swing sharply between cut-in (3 m/s) and rated (12 m/s).</a:t>
            </a:r>
          </a:p>
          <a:p>
            <a:pPr>
              <a:spcAft>
                <a:spcPts val="600"/>
              </a:spcAft>
            </a:pPr>
            <a:r>
              <a:rPr sz="1050" b="1">
                <a:solidFill>
                  <a:srgbClr val="FFFFFF"/>
                </a:solidFill>
                <a:latin typeface="Arial"/>
              </a:rPr>
              <a:t>• Transmission Bottlenecks: </a:t>
            </a:r>
            <a:r>
              <a:rPr sz="1000">
                <a:solidFill>
                  <a:srgbClr val="94A3B8"/>
                </a:solidFill>
                <a:latin typeface="Arial"/>
              </a:rPr>
              <a:t>Evacuation corridors derate under thermal congestion and equipment trips.</a:t>
            </a:r>
          </a:p>
        </p:txBody>
      </p:sp>
      <p:sp>
        <p:nvSpPr>
          <p:cNvPr id="11" name="Rounded Rectangle 10"/>
          <p:cNvSpPr/>
          <p:nvPr/>
        </p:nvSpPr>
        <p:spPr>
          <a:xfrm>
            <a:off x="4425696" y="1645920"/>
            <a:ext cx="333756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810512"/>
            <a:ext cx="2971800" cy="4105656"/>
          </a:xfrm>
          <a:prstGeom prst="rect">
            <a:avLst/>
          </a:prstGeom>
          <a:noFill/>
        </p:spPr>
        <p:txBody>
          <a:bodyPr wrap="square" lIns="0" tIns="0" rIns="0" bIns="0">
            <a:spAutoFit/>
          </a:bodyPr>
          <a:lstStyle/>
          <a:p>
            <a:pPr>
              <a:spcAft>
                <a:spcPts val="800"/>
              </a:spcAft>
              <a:defRPr sz="1300" b="1">
                <a:solidFill>
                  <a:srgbClr val="F59E0B"/>
                </a:solidFill>
                <a:latin typeface="Helvetica"/>
              </a:defRPr>
            </a:pPr>
            <a:r>
              <a:t>2. Market &amp; Contractual Risks</a:t>
            </a:r>
          </a:p>
          <a:p>
            <a:pPr>
              <a:spcAft>
                <a:spcPts val="600"/>
              </a:spcAft>
            </a:pPr>
            <a:r>
              <a:rPr sz="1050" b="1">
                <a:solidFill>
                  <a:srgbClr val="FFFFFF"/>
                </a:solidFill>
                <a:latin typeface="Arial"/>
              </a:rPr>
              <a:t>• IEX Price Swings: </a:t>
            </a:r>
            <a:r>
              <a:rPr sz="1000">
                <a:solidFill>
                  <a:srgbClr val="94A3B8"/>
                </a:solidFill>
                <a:latin typeface="Arial"/>
              </a:rPr>
              <a:t>Indian Energy Exchange Real-Time tariffs fluctuate between ₹1,000 and ₹10,000/MWh.</a:t>
            </a:r>
          </a:p>
          <a:p>
            <a:pPr>
              <a:spcAft>
                <a:spcPts val="600"/>
              </a:spcAft>
            </a:pPr>
            <a:r>
              <a:rPr sz="1050" b="1">
                <a:solidFill>
                  <a:srgbClr val="FFFFFF"/>
                </a:solidFill>
                <a:latin typeface="Arial"/>
              </a:rPr>
              <a:t>• Round-The-Clock Contracts: </a:t>
            </a:r>
            <a:r>
              <a:rPr sz="1000">
                <a:solidFill>
                  <a:srgbClr val="94A3B8"/>
                </a:solidFill>
                <a:latin typeface="Arial"/>
              </a:rPr>
              <a:t>Supplying 300 MW RTC power to steel, data center, and cement with severe penalties.</a:t>
            </a:r>
          </a:p>
          <a:p>
            <a:pPr>
              <a:spcAft>
                <a:spcPts val="600"/>
              </a:spcAft>
            </a:pPr>
            <a:r>
              <a:rPr sz="1050" b="1">
                <a:solidFill>
                  <a:srgbClr val="FFFFFF"/>
                </a:solidFill>
                <a:latin typeface="Arial"/>
              </a:rPr>
              <a:t>• ₹15,000/MWh Penalties: </a:t>
            </a:r>
            <a:r>
              <a:rPr sz="1000">
                <a:solidFill>
                  <a:srgbClr val="94A3B8"/>
                </a:solidFill>
                <a:latin typeface="Arial"/>
              </a:rPr>
              <a:t>Missing customer schedule incurs massive financial damages and regulatory penalties.</a:t>
            </a:r>
          </a:p>
        </p:txBody>
      </p:sp>
      <p:sp>
        <p:nvSpPr>
          <p:cNvPr id="13" name="Rounded Rectangle 12"/>
          <p:cNvSpPr/>
          <p:nvPr/>
        </p:nvSpPr>
        <p:spPr>
          <a:xfrm>
            <a:off x="8119872" y="1645920"/>
            <a:ext cx="333756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810512"/>
            <a:ext cx="2971800" cy="4105656"/>
          </a:xfrm>
          <a:prstGeom prst="rect">
            <a:avLst/>
          </a:prstGeom>
          <a:noFill/>
        </p:spPr>
        <p:txBody>
          <a:bodyPr wrap="square" lIns="0" tIns="0" rIns="0" bIns="0">
            <a:spAutoFit/>
          </a:bodyPr>
          <a:lstStyle/>
          <a:p>
            <a:pPr>
              <a:spcAft>
                <a:spcPts val="800"/>
              </a:spcAft>
              <a:defRPr sz="1300" b="1">
                <a:solidFill>
                  <a:srgbClr val="F43F5E"/>
                </a:solidFill>
                <a:latin typeface="Helvetica"/>
              </a:defRPr>
            </a:pPr>
            <a:r>
              <a:t>3. The Operator Bottleneck</a:t>
            </a:r>
          </a:p>
          <a:p>
            <a:pPr>
              <a:spcAft>
                <a:spcPts val="600"/>
              </a:spcAft>
            </a:pPr>
            <a:r>
              <a:rPr sz="1050" b="1">
                <a:solidFill>
                  <a:srgbClr val="FFFFFF"/>
                </a:solidFill>
                <a:latin typeface="Arial"/>
              </a:rPr>
              <a:t>• Cognitive Overload: </a:t>
            </a:r>
            <a:r>
              <a:rPr sz="1000">
                <a:solidFill>
                  <a:srgbClr val="94A3B8"/>
                </a:solidFill>
                <a:latin typeface="Arial"/>
              </a:rPr>
              <a:t>Human Shift Dispatch Managers must balance 10 assets and 4 customers every 15 minutes.</a:t>
            </a:r>
          </a:p>
          <a:p>
            <a:pPr>
              <a:spcAft>
                <a:spcPts val="600"/>
              </a:spcAft>
            </a:pPr>
            <a:r>
              <a:rPr sz="1050" b="1">
                <a:solidFill>
                  <a:srgbClr val="FFFFFF"/>
                </a:solidFill>
                <a:latin typeface="Arial"/>
              </a:rPr>
              <a:t>• BESS Degradation Dilemma: </a:t>
            </a:r>
            <a:r>
              <a:rPr sz="1000">
                <a:solidFill>
                  <a:srgbClr val="94A3B8"/>
                </a:solidFill>
                <a:latin typeface="Arial"/>
              </a:rPr>
              <a:t>Cycling batteries aggressively destroys cell life (₹500/MWh degradation cost).</a:t>
            </a:r>
          </a:p>
          <a:p>
            <a:pPr>
              <a:spcAft>
                <a:spcPts val="600"/>
              </a:spcAft>
            </a:pPr>
            <a:r>
              <a:rPr sz="1050" b="1">
                <a:solidFill>
                  <a:srgbClr val="FFFFFF"/>
                </a:solidFill>
                <a:latin typeface="Arial"/>
              </a:rPr>
              <a:t>• Safety Zero-Tolerance: </a:t>
            </a:r>
            <a:r>
              <a:rPr sz="1000">
                <a:solidFill>
                  <a:srgbClr val="94A3B8"/>
                </a:solidFill>
                <a:latin typeface="Arial"/>
              </a:rPr>
              <a:t>Shedding critical customer loads (₹100,000/MWh VOLL) or line overloads triggers blackouts.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950" b="1">
                <a:solidFill>
                  <a:srgbClr val="38BDF8"/>
                </a:solidFill>
                <a:latin typeface="Helvetica"/>
              </a:defRPr>
            </a:pPr>
            <a:r>
              <a:t>HACKATHON EVALUATION ALIGNMENT</a:t>
            </a:r>
          </a:p>
        </p:txBody>
      </p:sp>
      <p:sp>
        <p:nvSpPr>
          <p:cNvPr id="4" name="TextBox 3"/>
          <p:cNvSpPr txBox="1"/>
          <p:nvPr/>
        </p:nvSpPr>
        <p:spPr>
          <a:xfrm>
            <a:off x="731520" y="640080"/>
            <a:ext cx="10698480" cy="502920"/>
          </a:xfrm>
          <a:prstGeom prst="rect">
            <a:avLst/>
          </a:prstGeom>
          <a:noFill/>
        </p:spPr>
        <p:txBody>
          <a:bodyPr wrap="square" lIns="0" tIns="0" rIns="0" bIns="0">
            <a:spAutoFit/>
          </a:bodyPr>
          <a:lstStyle/>
          <a:p>
            <a:pPr>
              <a:defRPr sz="2200" b="1">
                <a:solidFill>
                  <a:srgbClr val="FFFFFF"/>
                </a:solidFill>
                <a:latin typeface="Helvetica"/>
              </a:defRPr>
            </a:pPr>
            <a:r>
              <a:t>Self-Estimated 9-Blocker Claim: Position D2 / F3</a:t>
            </a:r>
          </a:p>
        </p:txBody>
      </p:sp>
      <p:sp>
        <p:nvSpPr>
          <p:cNvPr id="5" name="TextBox 4"/>
          <p:cNvSpPr txBox="1"/>
          <p:nvPr/>
        </p:nvSpPr>
        <p:spPr>
          <a:xfrm>
            <a:off x="731520" y="1170432"/>
            <a:ext cx="10698480" cy="365760"/>
          </a:xfrm>
          <a:prstGeom prst="rect">
            <a:avLst/>
          </a:prstGeom>
          <a:noFill/>
        </p:spPr>
        <p:txBody>
          <a:bodyPr wrap="square" lIns="0" tIns="0" rIns="0" bIns="0">
            <a:spAutoFit/>
          </a:bodyPr>
          <a:lstStyle/>
          <a:p>
            <a:pPr>
              <a:defRPr sz="1200">
                <a:solidFill>
                  <a:srgbClr val="94A3B8"/>
                </a:solidFill>
                <a:latin typeface="Arial"/>
              </a:defRPr>
            </a:pPr>
            <a:r>
              <a:t>Rigorous justification of our claimed capability level and explicit prevention of overclaiming penalties</a:t>
            </a:r>
          </a:p>
        </p:txBody>
      </p:sp>
      <p:sp>
        <p:nvSpPr>
          <p:cNvPr id="6" name="Rectangle 5"/>
          <p:cNvSpPr/>
          <p:nvPr/>
        </p:nvSpPr>
        <p:spPr>
          <a:xfrm>
            <a:off x="731520" y="6309360"/>
            <a:ext cx="10728655" cy="13716"/>
          </a:xfrm>
          <a:prstGeom prst="rect">
            <a:avLst/>
          </a:prstGeom>
          <a:solidFill>
            <a:srgbClr val="2D3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8229600" cy="274320"/>
          </a:xfrm>
          <a:prstGeom prst="rect">
            <a:avLst/>
          </a:prstGeom>
          <a:noFill/>
        </p:spPr>
        <p:txBody>
          <a:bodyPr wrap="none" lIns="0" tIns="0" rIns="0" bIns="0">
            <a:spAutoFit/>
          </a:bodyPr>
          <a:lstStyle/>
          <a:p>
            <a:pPr>
              <a:defRPr sz="900">
                <a:solidFill>
                  <a:srgbClr val="64748B"/>
                </a:solidFill>
                <a:latin typeface="Arial"/>
              </a:defRPr>
            </a:pPr>
            <a:r>
              <a:t>GridMind | Deccan Renewables Pvt. Ltd. (Karnataka) | Self-Assessment Claim: D2 / F3</a:t>
            </a:r>
          </a:p>
        </p:txBody>
      </p:sp>
      <p:sp>
        <p:nvSpPr>
          <p:cNvPr id="8" name="TextBox 7"/>
          <p:cNvSpPr txBox="1"/>
          <p:nvPr/>
        </p:nvSpPr>
        <p:spPr>
          <a:xfrm>
            <a:off x="10058400" y="6382512"/>
            <a:ext cx="1401775" cy="274320"/>
          </a:xfrm>
          <a:prstGeom prst="rect">
            <a:avLst/>
          </a:prstGeom>
          <a:noFill/>
        </p:spPr>
        <p:txBody>
          <a:bodyPr wrap="none" lIns="0" tIns="0" rIns="0" bIns="0">
            <a:spAutoFit/>
          </a:bodyPr>
          <a:lstStyle/>
          <a:p>
            <a:pPr algn="r">
              <a:defRPr sz="900" b="1">
                <a:solidFill>
                  <a:srgbClr val="94A3B8"/>
                </a:solidFill>
                <a:latin typeface="Arial"/>
              </a:defRPr>
            </a:pPr>
            <a:r>
              <a:t>Slide 3 of 16</a:t>
            </a:r>
          </a:p>
        </p:txBody>
      </p:sp>
      <p:sp>
        <p:nvSpPr>
          <p:cNvPr id="9" name="Rounded Rectangle 8"/>
          <p:cNvSpPr/>
          <p:nvPr/>
        </p:nvSpPr>
        <p:spPr>
          <a:xfrm>
            <a:off x="731520" y="1645920"/>
            <a:ext cx="4206240" cy="4434840"/>
          </a:xfrm>
          <a:prstGeom prst="roundRect">
            <a:avLst/>
          </a:prstGeom>
          <a:solidFill>
            <a:srgbClr val="131D38"/>
          </a:solidFill>
          <a:ln w="1524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83080"/>
            <a:ext cx="3840480" cy="4114800"/>
          </a:xfrm>
          <a:prstGeom prst="rect">
            <a:avLst/>
          </a:prstGeom>
          <a:noFill/>
        </p:spPr>
        <p:txBody>
          <a:bodyPr wrap="square">
            <a:spAutoFit/>
          </a:bodyPr>
          <a:lstStyle/>
          <a:p>
            <a:pPr>
              <a:spcAft>
                <a:spcPts val="1000"/>
              </a:spcAft>
              <a:defRPr sz="1300" b="1">
                <a:solidFill>
                  <a:srgbClr val="38BDF8"/>
                </a:solidFill>
                <a:latin typeface="Helvetica"/>
              </a:defRPr>
            </a:pPr>
            <a:r>
              <a:t>SOLUTION MATRIX (3×3 GRID)</a:t>
            </a:r>
          </a:p>
          <a:p>
            <a:pPr>
              <a:spcAft>
                <a:spcPts val="800"/>
              </a:spcAft>
            </a:pPr>
            <a:r>
              <a:rPr sz="1000" b="1">
                <a:solidFill>
                  <a:srgbClr val="94A3B8"/>
                </a:solidFill>
              </a:rPr>
              <a:t>D3 (Multimodal)       
</a:t>
            </a:r>
            <a:r>
              <a:rPr sz="1100" b="0">
                <a:solidFill>
                  <a:srgbClr val="64748B"/>
                </a:solidFill>
              </a:rPr>
              <a:t>[  F1  ]  [  F2  ]  [  F3  ]
</a:t>
            </a:r>
          </a:p>
          <a:p>
            <a:pPr>
              <a:spcAft>
                <a:spcPts val="800"/>
              </a:spcAft>
            </a:pPr>
            <a:r>
              <a:rPr sz="1000" b="1">
                <a:solidFill>
                  <a:srgbClr val="10B981"/>
                </a:solidFill>
              </a:rPr>
              <a:t>D2 (High Reliability) 
</a:t>
            </a:r>
            <a:r>
              <a:rPr sz="1100" b="1">
                <a:solidFill>
                  <a:srgbClr val="FFFFFF"/>
                </a:solidFill>
              </a:rPr>
              <a:t>[  F1  ]  [  F2  ]  [★ D2/F3 ★]
</a:t>
            </a:r>
          </a:p>
          <a:p>
            <a:pPr>
              <a:spcAft>
                <a:spcPts val="800"/>
              </a:spcAft>
            </a:pPr>
            <a:r>
              <a:rPr sz="1000" b="1">
                <a:solidFill>
                  <a:srgbClr val="94A3B8"/>
                </a:solidFill>
              </a:rPr>
              <a:t>D1 (Structured Baseline)
</a:t>
            </a:r>
            <a:r>
              <a:rPr sz="1100" b="0">
                <a:solidFill>
                  <a:srgbClr val="64748B"/>
                </a:solidFill>
              </a:rPr>
              <a:t>[  F1  ]  [  F2  ]  [  F3  ]
</a:t>
            </a:r>
          </a:p>
          <a:p>
            <a:br/>
            <a:pPr>
              <a:defRPr sz="950">
                <a:solidFill>
                  <a:srgbClr val="F59E0B"/>
                </a:solidFill>
              </a:defRPr>
            </a:pPr>
            <a:r>
              <a:t>★ CLAIMED &amp; VERIFIED: D2 / F3</a:t>
            </a:r>
            <a:br/>
            <a:r>
              <a:t>Penalties strictly avoided: Zero overclaim into D3, zero underclaim into F1/F2.</a:t>
            </a:r>
          </a:p>
        </p:txBody>
      </p:sp>
      <p:sp>
        <p:nvSpPr>
          <p:cNvPr id="11" name="Rounded Rectangle 10"/>
          <p:cNvSpPr/>
          <p:nvPr/>
        </p:nvSpPr>
        <p:spPr>
          <a:xfrm>
            <a:off x="5120640" y="1645920"/>
            <a:ext cx="6339535" cy="210312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0" y="1810512"/>
            <a:ext cx="5973775" cy="1773936"/>
          </a:xfrm>
          <a:prstGeom prst="rect">
            <a:avLst/>
          </a:prstGeom>
          <a:noFill/>
        </p:spPr>
        <p:txBody>
          <a:bodyPr wrap="square" lIns="0" tIns="0" rIns="0" bIns="0">
            <a:spAutoFit/>
          </a:bodyPr>
          <a:lstStyle/>
          <a:p>
            <a:pPr>
              <a:spcAft>
                <a:spcPts val="800"/>
              </a:spcAft>
              <a:defRPr sz="1300" b="1">
                <a:solidFill>
                  <a:srgbClr val="10B981"/>
                </a:solidFill>
                <a:latin typeface="Helvetica"/>
              </a:defRPr>
            </a:pPr>
            <a:r>
              <a:t>Depth D2: High Demonstrable Reliability</a:t>
            </a:r>
          </a:p>
          <a:p>
            <a:pPr>
              <a:spcAft>
                <a:spcPts val="600"/>
              </a:spcAft>
            </a:pPr>
            <a:r>
              <a:rPr sz="1050" b="1">
                <a:solidFill>
                  <a:srgbClr val="FFFFFF"/>
                </a:solidFill>
                <a:latin typeface="Arial"/>
              </a:rPr>
              <a:t>• Zero Hard Violations: </a:t>
            </a:r>
            <a:r>
              <a:rPr sz="1000">
                <a:solidFill>
                  <a:srgbClr val="94A3B8"/>
                </a:solidFill>
                <a:latin typeface="Arial"/>
              </a:rPr>
              <a:t>Mathematically verified 0 hard-constraint violations across 2,880 consecutive intervals (30 days).</a:t>
            </a:r>
          </a:p>
          <a:p>
            <a:pPr>
              <a:spcAft>
                <a:spcPts val="600"/>
              </a:spcAft>
            </a:pPr>
            <a:r>
              <a:rPr sz="1050" b="1">
                <a:solidFill>
                  <a:srgbClr val="FFFFFF"/>
                </a:solidFill>
                <a:latin typeface="Arial"/>
              </a:rPr>
              <a:t>• Zero Critical Load Shedding: </a:t>
            </a:r>
            <a:r>
              <a:rPr sz="1000">
                <a:solidFill>
                  <a:srgbClr val="94A3B8"/>
                </a:solidFill>
                <a:latin typeface="Arial"/>
              </a:rPr>
              <a:t>100% protection of non-sheddable customer loads (0.000 MWh shed vs 43.2 MWh in baseline).</a:t>
            </a:r>
          </a:p>
          <a:p>
            <a:pPr>
              <a:spcAft>
                <a:spcPts val="600"/>
              </a:spcAft>
            </a:pPr>
            <a:r>
              <a:rPr sz="1050" b="1">
                <a:solidFill>
                  <a:srgbClr val="FFFFFF"/>
                </a:solidFill>
                <a:latin typeface="Arial"/>
              </a:rPr>
              <a:t>• Deterministic Gatekeeper: </a:t>
            </a:r>
            <a:r>
              <a:rPr sz="1000">
                <a:solidFill>
                  <a:srgbClr val="94A3B8"/>
                </a:solidFill>
                <a:latin typeface="Arial"/>
              </a:rPr>
              <a:t>Hard Python guardrail intercepts and validates all candidate plans prior to actuation.</a:t>
            </a:r>
          </a:p>
        </p:txBody>
      </p:sp>
      <p:sp>
        <p:nvSpPr>
          <p:cNvPr id="13" name="Rounded Rectangle 12"/>
          <p:cNvSpPr/>
          <p:nvPr/>
        </p:nvSpPr>
        <p:spPr>
          <a:xfrm>
            <a:off x="5120640" y="3977639"/>
            <a:ext cx="6339535" cy="210312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0" y="4142231"/>
            <a:ext cx="5973775" cy="1773936"/>
          </a:xfrm>
          <a:prstGeom prst="rect">
            <a:avLst/>
          </a:prstGeom>
          <a:noFill/>
        </p:spPr>
        <p:txBody>
          <a:bodyPr wrap="square" lIns="0" tIns="0" rIns="0" bIns="0">
            <a:spAutoFit/>
          </a:bodyPr>
          <a:lstStyle/>
          <a:p>
            <a:pPr>
              <a:spcAft>
                <a:spcPts val="800"/>
              </a:spcAft>
              <a:defRPr sz="1300" b="1">
                <a:solidFill>
                  <a:srgbClr val="38BDF8"/>
                </a:solidFill>
                <a:latin typeface="Helvetica"/>
              </a:defRPr>
            </a:pPr>
            <a:r>
              <a:t>Features F3: Rolling Uncertainty Simulation</a:t>
            </a:r>
          </a:p>
          <a:p>
            <a:pPr>
              <a:spcAft>
                <a:spcPts val="600"/>
              </a:spcAft>
            </a:pPr>
            <a:r>
              <a:rPr sz="1050" b="1">
                <a:solidFill>
                  <a:srgbClr val="FFFFFF"/>
                </a:solidFill>
                <a:latin typeface="Arial"/>
              </a:rPr>
              <a:t>• Rolling Horizon MPC: </a:t>
            </a:r>
            <a:r>
              <a:rPr sz="1000">
                <a:solidFill>
                  <a:srgbClr val="94A3B8"/>
                </a:solidFill>
                <a:latin typeface="Arial"/>
              </a:rPr>
              <a:t>Continuously re-optimizes a 32-interval (8-hour) forward horizon every 15 minutes.</a:t>
            </a:r>
          </a:p>
          <a:p>
            <a:pPr>
              <a:spcAft>
                <a:spcPts val="600"/>
              </a:spcAft>
            </a:pPr>
            <a:r>
              <a:rPr sz="1050" b="1">
                <a:solidFill>
                  <a:srgbClr val="FFFFFF"/>
                </a:solidFill>
                <a:latin typeface="Arial"/>
              </a:rPr>
              <a:t>• Multi-Quantile Forecast Cones: </a:t>
            </a:r>
            <a:r>
              <a:rPr sz="1000">
                <a:solidFill>
                  <a:srgbClr val="94A3B8"/>
                </a:solidFill>
                <a:latin typeface="Arial"/>
              </a:rPr>
              <a:t>Evaluates P10 (pessimistic), P50 (expected), and P90 (optimistic) bounds across weather and demand.</a:t>
            </a:r>
          </a:p>
          <a:p>
            <a:pPr>
              <a:spcAft>
                <a:spcPts val="600"/>
              </a:spcAft>
            </a:pPr>
            <a:r>
              <a:rPr sz="1050" b="1">
                <a:solidFill>
                  <a:srgbClr val="FFFFFF"/>
                </a:solidFill>
                <a:latin typeface="Arial"/>
              </a:rPr>
              <a:t>• Stochastic Monte Carlo Risk: </a:t>
            </a:r>
            <a:r>
              <a:rPr sz="1000">
                <a:solidFill>
                  <a:srgbClr val="94A3B8"/>
                </a:solidFill>
                <a:latin typeface="Arial"/>
              </a:rPr>
              <a:t>Evaluates candidate plans across 20 randomized weather/price shock scenarios.</a:t>
            </a:r>
          </a:p>
          <a:p>
            <a:pPr>
              <a:spcAft>
                <a:spcPts val="600"/>
              </a:spcAft>
            </a:pPr>
            <a:r>
              <a:rPr sz="1050" b="1">
                <a:solidFill>
                  <a:srgbClr val="FFFFFF"/>
                </a:solidFill>
                <a:latin typeface="Arial"/>
              </a:rPr>
              <a:t>• Multi-Season Testing: </a:t>
            </a:r>
            <a:r>
              <a:rPr sz="1000">
                <a:solidFill>
                  <a:srgbClr val="94A3B8"/>
                </a:solidFill>
                <a:latin typeface="Arial"/>
              </a:rPr>
              <a:t>Audited under real meteorological data across Summer (April) and Monsoon (July) regimes.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950" b="1">
                <a:solidFill>
                  <a:srgbClr val="38BDF8"/>
                </a:solidFill>
                <a:latin typeface="Helvetica"/>
              </a:defRPr>
            </a:pPr>
            <a:r>
              <a:t>CORE INNOVATION &amp; DESIGN PHILOSOPHY</a:t>
            </a:r>
          </a:p>
        </p:txBody>
      </p:sp>
      <p:sp>
        <p:nvSpPr>
          <p:cNvPr id="4" name="TextBox 3"/>
          <p:cNvSpPr txBox="1"/>
          <p:nvPr/>
        </p:nvSpPr>
        <p:spPr>
          <a:xfrm>
            <a:off x="731520" y="640080"/>
            <a:ext cx="10698480" cy="502920"/>
          </a:xfrm>
          <a:prstGeom prst="rect">
            <a:avLst/>
          </a:prstGeom>
          <a:noFill/>
        </p:spPr>
        <p:txBody>
          <a:bodyPr wrap="square" lIns="0" tIns="0" rIns="0" bIns="0">
            <a:spAutoFit/>
          </a:bodyPr>
          <a:lstStyle/>
          <a:p>
            <a:pPr>
              <a:defRPr sz="2200" b="1">
                <a:solidFill>
                  <a:srgbClr val="FFFFFF"/>
                </a:solidFill>
                <a:latin typeface="Helvetica"/>
              </a:defRPr>
            </a:pPr>
            <a:r>
              <a:t>The Neuro-Symbolic Agentic Paradigm</a:t>
            </a:r>
          </a:p>
        </p:txBody>
      </p:sp>
      <p:sp>
        <p:nvSpPr>
          <p:cNvPr id="5" name="TextBox 4"/>
          <p:cNvSpPr txBox="1"/>
          <p:nvPr/>
        </p:nvSpPr>
        <p:spPr>
          <a:xfrm>
            <a:off x="731520" y="1170432"/>
            <a:ext cx="10698480" cy="365760"/>
          </a:xfrm>
          <a:prstGeom prst="rect">
            <a:avLst/>
          </a:prstGeom>
          <a:noFill/>
        </p:spPr>
        <p:txBody>
          <a:bodyPr wrap="square" lIns="0" tIns="0" rIns="0" bIns="0">
            <a:spAutoFit/>
          </a:bodyPr>
          <a:lstStyle/>
          <a:p>
            <a:pPr>
              <a:defRPr sz="1200">
                <a:solidFill>
                  <a:srgbClr val="94A3B8"/>
                </a:solidFill>
                <a:latin typeface="Arial"/>
              </a:defRPr>
            </a:pPr>
            <a:r>
              <a:t>Why generative AI must never compute dispatch numbers — and how we bridge reasoning with mathematical rigor</a:t>
            </a:r>
          </a:p>
        </p:txBody>
      </p:sp>
      <p:sp>
        <p:nvSpPr>
          <p:cNvPr id="6" name="Rectangle 5"/>
          <p:cNvSpPr/>
          <p:nvPr/>
        </p:nvSpPr>
        <p:spPr>
          <a:xfrm>
            <a:off x="731520" y="6309360"/>
            <a:ext cx="10728655" cy="13716"/>
          </a:xfrm>
          <a:prstGeom prst="rect">
            <a:avLst/>
          </a:prstGeom>
          <a:solidFill>
            <a:srgbClr val="2D3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8229600" cy="274320"/>
          </a:xfrm>
          <a:prstGeom prst="rect">
            <a:avLst/>
          </a:prstGeom>
          <a:noFill/>
        </p:spPr>
        <p:txBody>
          <a:bodyPr wrap="none" lIns="0" tIns="0" rIns="0" bIns="0">
            <a:spAutoFit/>
          </a:bodyPr>
          <a:lstStyle/>
          <a:p>
            <a:pPr>
              <a:defRPr sz="900">
                <a:solidFill>
                  <a:srgbClr val="64748B"/>
                </a:solidFill>
                <a:latin typeface="Arial"/>
              </a:defRPr>
            </a:pPr>
            <a:r>
              <a:t>GridMind | Deccan Renewables Pvt. Ltd. (Karnataka) | Self-Assessment Claim: D2 / F3</a:t>
            </a:r>
          </a:p>
        </p:txBody>
      </p:sp>
      <p:sp>
        <p:nvSpPr>
          <p:cNvPr id="8" name="TextBox 7"/>
          <p:cNvSpPr txBox="1"/>
          <p:nvPr/>
        </p:nvSpPr>
        <p:spPr>
          <a:xfrm>
            <a:off x="10058400" y="6382512"/>
            <a:ext cx="1401775" cy="274320"/>
          </a:xfrm>
          <a:prstGeom prst="rect">
            <a:avLst/>
          </a:prstGeom>
          <a:noFill/>
        </p:spPr>
        <p:txBody>
          <a:bodyPr wrap="none" lIns="0" tIns="0" rIns="0" bIns="0">
            <a:spAutoFit/>
          </a:bodyPr>
          <a:lstStyle/>
          <a:p>
            <a:pPr algn="r">
              <a:defRPr sz="900" b="1">
                <a:solidFill>
                  <a:srgbClr val="94A3B8"/>
                </a:solidFill>
                <a:latin typeface="Arial"/>
              </a:defRPr>
            </a:pPr>
            <a:r>
              <a:t>Slide 4 of 16</a:t>
            </a:r>
          </a:p>
        </p:txBody>
      </p:sp>
      <p:sp>
        <p:nvSpPr>
          <p:cNvPr id="9" name="Rounded Rectangle 8"/>
          <p:cNvSpPr/>
          <p:nvPr/>
        </p:nvSpPr>
        <p:spPr>
          <a:xfrm>
            <a:off x="731520" y="1645920"/>
            <a:ext cx="333756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10512"/>
            <a:ext cx="2971800" cy="4105656"/>
          </a:xfrm>
          <a:prstGeom prst="rect">
            <a:avLst/>
          </a:prstGeom>
          <a:noFill/>
        </p:spPr>
        <p:txBody>
          <a:bodyPr wrap="square" lIns="0" tIns="0" rIns="0" bIns="0">
            <a:spAutoFit/>
          </a:bodyPr>
          <a:lstStyle/>
          <a:p>
            <a:pPr>
              <a:spcAft>
                <a:spcPts val="800"/>
              </a:spcAft>
              <a:defRPr sz="1300" b="1">
                <a:solidFill>
                  <a:srgbClr val="F43F5E"/>
                </a:solidFill>
                <a:latin typeface="Helvetica"/>
              </a:defRPr>
            </a:pPr>
            <a:r>
              <a:t>1. The Pure LLM Failure</a:t>
            </a:r>
          </a:p>
          <a:p>
            <a:pPr>
              <a:spcAft>
                <a:spcPts val="600"/>
              </a:spcAft>
            </a:pPr>
            <a:r>
              <a:rPr sz="1050" b="1">
                <a:solidFill>
                  <a:srgbClr val="FFFFFF"/>
                </a:solidFill>
                <a:latin typeface="Arial"/>
              </a:rPr>
              <a:t>• Hallucination Risk: </a:t>
            </a:r>
            <a:r>
              <a:rPr sz="1000">
                <a:solidFill>
                  <a:srgbClr val="94A3B8"/>
                </a:solidFill>
                <a:latin typeface="Arial"/>
              </a:rPr>
              <a:t>Language models cannot compute linear power flow conservation laws reliably.</a:t>
            </a:r>
          </a:p>
          <a:p>
            <a:pPr>
              <a:spcAft>
                <a:spcPts val="600"/>
              </a:spcAft>
            </a:pPr>
            <a:r>
              <a:rPr sz="1050" b="1">
                <a:solidFill>
                  <a:srgbClr val="FFFFFF"/>
                </a:solidFill>
                <a:latin typeface="Arial"/>
              </a:rPr>
              <a:t>• Non-Physical Megawatts: </a:t>
            </a:r>
            <a:r>
              <a:rPr sz="1000">
                <a:solidFill>
                  <a:srgbClr val="94A3B8"/>
                </a:solidFill>
                <a:latin typeface="Arial"/>
              </a:rPr>
              <a:t>A 10 MW arithmetic error in high voltage grids trips protection relays and collapses the grid.</a:t>
            </a:r>
          </a:p>
          <a:p>
            <a:pPr>
              <a:spcAft>
                <a:spcPts val="600"/>
              </a:spcAft>
            </a:pPr>
            <a:r>
              <a:rPr sz="1050" b="1">
                <a:solidFill>
                  <a:srgbClr val="FFFFFF"/>
                </a:solidFill>
                <a:latin typeface="Arial"/>
              </a:rPr>
              <a:t>• Unbounded Latency: </a:t>
            </a:r>
            <a:r>
              <a:rPr sz="1000">
                <a:solidFill>
                  <a:srgbClr val="94A3B8"/>
                </a:solidFill>
                <a:latin typeface="Arial"/>
              </a:rPr>
              <a:t>External API delays or timeouts cannot be tolerated in 15-minute dispatch deadlines.</a:t>
            </a:r>
          </a:p>
          <a:p>
            <a:pPr>
              <a:spcAft>
                <a:spcPts val="600"/>
              </a:spcAft>
            </a:pPr>
            <a:r>
              <a:rPr sz="1050" b="1">
                <a:solidFill>
                  <a:srgbClr val="FFFFFF"/>
                </a:solidFill>
                <a:latin typeface="Arial"/>
              </a:rPr>
              <a:t>• Verdict: </a:t>
            </a:r>
            <a:r>
              <a:rPr sz="1000">
                <a:solidFill>
                  <a:srgbClr val="94A3B8"/>
                </a:solidFill>
                <a:latin typeface="Arial"/>
              </a:rPr>
              <a:t>Pure generative agents are fundamentally unsafe for physical infrastructure.</a:t>
            </a:r>
          </a:p>
        </p:txBody>
      </p:sp>
      <p:sp>
        <p:nvSpPr>
          <p:cNvPr id="11" name="Rounded Rectangle 10"/>
          <p:cNvSpPr/>
          <p:nvPr/>
        </p:nvSpPr>
        <p:spPr>
          <a:xfrm>
            <a:off x="4425696" y="1645920"/>
            <a:ext cx="333756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810512"/>
            <a:ext cx="2971800" cy="4105656"/>
          </a:xfrm>
          <a:prstGeom prst="rect">
            <a:avLst/>
          </a:prstGeom>
          <a:noFill/>
        </p:spPr>
        <p:txBody>
          <a:bodyPr wrap="square" lIns="0" tIns="0" rIns="0" bIns="0">
            <a:spAutoFit/>
          </a:bodyPr>
          <a:lstStyle/>
          <a:p>
            <a:pPr>
              <a:spcAft>
                <a:spcPts val="800"/>
              </a:spcAft>
              <a:defRPr sz="1300" b="1">
                <a:solidFill>
                  <a:srgbClr val="F59E0B"/>
                </a:solidFill>
                <a:latin typeface="Helvetica"/>
              </a:defRPr>
            </a:pPr>
            <a:r>
              <a:t>2. The Static MILP Failure</a:t>
            </a:r>
          </a:p>
          <a:p>
            <a:pPr>
              <a:spcAft>
                <a:spcPts val="600"/>
              </a:spcAft>
            </a:pPr>
            <a:r>
              <a:rPr sz="1050" b="1">
                <a:solidFill>
                  <a:srgbClr val="FFFFFF"/>
                </a:solidFill>
                <a:latin typeface="Arial"/>
              </a:rPr>
              <a:t>• Rigid Objective Weights: </a:t>
            </a:r>
            <a:r>
              <a:rPr sz="1000">
                <a:solidFill>
                  <a:srgbClr val="94A3B8"/>
                </a:solidFill>
                <a:latin typeface="Arial"/>
              </a:rPr>
              <a:t>Traditional optimization uses hardcoded, static cost weights that cannot adapt.</a:t>
            </a:r>
          </a:p>
          <a:p>
            <a:pPr>
              <a:spcAft>
                <a:spcPts val="600"/>
              </a:spcAft>
            </a:pPr>
            <a:r>
              <a:rPr sz="1050" b="1">
                <a:solidFill>
                  <a:srgbClr val="FFFFFF"/>
                </a:solidFill>
                <a:latin typeface="Arial"/>
              </a:rPr>
              <a:t>• Blind to Context: </a:t>
            </a:r>
            <a:r>
              <a:rPr sz="1000">
                <a:solidFill>
                  <a:srgbClr val="94A3B8"/>
                </a:solidFill>
                <a:latin typeface="Arial"/>
              </a:rPr>
              <a:t>MILP solvers cannot read storm alerts, understand incoming weather fronts, or shift operating posture.</a:t>
            </a:r>
          </a:p>
          <a:p>
            <a:pPr>
              <a:spcAft>
                <a:spcPts val="600"/>
              </a:spcAft>
            </a:pPr>
            <a:r>
              <a:rPr sz="1050" b="1">
                <a:solidFill>
                  <a:srgbClr val="FFFFFF"/>
                </a:solidFill>
                <a:latin typeface="Arial"/>
              </a:rPr>
              <a:t>• Black-Box Outputs: </a:t>
            </a:r>
            <a:r>
              <a:rPr sz="1000">
                <a:solidFill>
                  <a:srgbClr val="94A3B8"/>
                </a:solidFill>
                <a:latin typeface="Arial"/>
              </a:rPr>
              <a:t>Generates raw numeric matrices with zero operational explanation for control room shift managers.</a:t>
            </a:r>
          </a:p>
          <a:p>
            <a:pPr>
              <a:spcAft>
                <a:spcPts val="600"/>
              </a:spcAft>
            </a:pPr>
            <a:r>
              <a:rPr sz="1050" b="1">
                <a:solidFill>
                  <a:srgbClr val="FFFFFF"/>
                </a:solidFill>
                <a:latin typeface="Arial"/>
              </a:rPr>
              <a:t>• Verdict: </a:t>
            </a:r>
            <a:r>
              <a:rPr sz="1000">
                <a:solidFill>
                  <a:srgbClr val="94A3B8"/>
                </a:solidFill>
                <a:latin typeface="Arial"/>
              </a:rPr>
              <a:t>Classical mathematical optimization lacks situational intelligence.</a:t>
            </a:r>
          </a:p>
        </p:txBody>
      </p:sp>
      <p:sp>
        <p:nvSpPr>
          <p:cNvPr id="13" name="Rounded Rectangle 12"/>
          <p:cNvSpPr/>
          <p:nvPr/>
        </p:nvSpPr>
        <p:spPr>
          <a:xfrm>
            <a:off x="8119872" y="1645920"/>
            <a:ext cx="3337560" cy="4434840"/>
          </a:xfrm>
          <a:prstGeom prst="roundRect">
            <a:avLst/>
          </a:prstGeom>
          <a:solidFill>
            <a:srgbClr val="131D38"/>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810512"/>
            <a:ext cx="2971800" cy="4105656"/>
          </a:xfrm>
          <a:prstGeom prst="rect">
            <a:avLst/>
          </a:prstGeom>
          <a:noFill/>
        </p:spPr>
        <p:txBody>
          <a:bodyPr wrap="square" lIns="0" tIns="0" rIns="0" bIns="0">
            <a:spAutoFit/>
          </a:bodyPr>
          <a:lstStyle/>
          <a:p>
            <a:pPr>
              <a:spcAft>
                <a:spcPts val="800"/>
              </a:spcAft>
              <a:defRPr sz="1300" b="1">
                <a:solidFill>
                  <a:srgbClr val="10B981"/>
                </a:solidFill>
                <a:latin typeface="Helvetica"/>
              </a:defRPr>
            </a:pPr>
            <a:r>
              <a:t>3. The GridMind Solution</a:t>
            </a:r>
          </a:p>
          <a:p>
            <a:pPr>
              <a:spcAft>
                <a:spcPts val="600"/>
              </a:spcAft>
            </a:pPr>
            <a:r>
              <a:rPr sz="1050" b="1">
                <a:solidFill>
                  <a:srgbClr val="FFFFFF"/>
                </a:solidFill>
                <a:latin typeface="Arial"/>
              </a:rPr>
              <a:t>• The LLM Reasons &amp; Directs: </a:t>
            </a:r>
            <a:r>
              <a:rPr sz="1000">
                <a:solidFill>
                  <a:srgbClr val="94A3B8"/>
                </a:solidFill>
                <a:latin typeface="Arial"/>
              </a:rPr>
              <a:t>Gemini interprets anomalies, selects operational modes, tunes multi-objective weights, and compares risk.</a:t>
            </a:r>
          </a:p>
          <a:p>
            <a:pPr>
              <a:spcAft>
                <a:spcPts val="600"/>
              </a:spcAft>
            </a:pPr>
            <a:r>
              <a:rPr sz="1050" b="1">
                <a:solidFill>
                  <a:srgbClr val="FFFFFF"/>
                </a:solidFill>
                <a:latin typeface="Arial"/>
              </a:rPr>
              <a:t>• The Solver Solves: </a:t>
            </a:r>
            <a:r>
              <a:rPr sz="1000">
                <a:solidFill>
                  <a:srgbClr val="94A3B8"/>
                </a:solidFill>
                <a:latin typeface="Arial"/>
              </a:rPr>
              <a:t>Deterministic MILP (PuLP/CBC) computes exact, physically guaranteed megawatt setpoints in &lt;40 ms.</a:t>
            </a:r>
          </a:p>
          <a:p>
            <a:pPr>
              <a:spcAft>
                <a:spcPts val="600"/>
              </a:spcAft>
            </a:pPr>
            <a:r>
              <a:rPr sz="1050" b="1">
                <a:solidFill>
                  <a:srgbClr val="FFFFFF"/>
                </a:solidFill>
                <a:latin typeface="Arial"/>
              </a:rPr>
              <a:t>• Code Enforces Safety: </a:t>
            </a:r>
            <a:r>
              <a:rPr sz="1000">
                <a:solidFill>
                  <a:srgbClr val="94A3B8"/>
                </a:solidFill>
                <a:latin typeface="Arial"/>
              </a:rPr>
              <a:t>Deterministic Python guardrails intercept every plan before actuation. Zero AI hallucinations execute.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950" b="1">
                <a:solidFill>
                  <a:srgbClr val="38BDF8"/>
                </a:solidFill>
                <a:latin typeface="Helvetica"/>
              </a:defRPr>
            </a:pPr>
            <a:r>
              <a:t>OPERATIONAL ASSET MODELING</a:t>
            </a:r>
          </a:p>
        </p:txBody>
      </p:sp>
      <p:sp>
        <p:nvSpPr>
          <p:cNvPr id="4" name="TextBox 3"/>
          <p:cNvSpPr txBox="1"/>
          <p:nvPr/>
        </p:nvSpPr>
        <p:spPr>
          <a:xfrm>
            <a:off x="731520" y="640080"/>
            <a:ext cx="10698480" cy="502920"/>
          </a:xfrm>
          <a:prstGeom prst="rect">
            <a:avLst/>
          </a:prstGeom>
          <a:noFill/>
        </p:spPr>
        <p:txBody>
          <a:bodyPr wrap="square" lIns="0" tIns="0" rIns="0" bIns="0">
            <a:spAutoFit/>
          </a:bodyPr>
          <a:lstStyle/>
          <a:p>
            <a:pPr>
              <a:defRPr sz="2200" b="1">
                <a:solidFill>
                  <a:srgbClr val="FFFFFF"/>
                </a:solidFill>
                <a:latin typeface="Helvetica"/>
              </a:defRPr>
            </a:pPr>
            <a:r>
              <a:t>Portfolio Topology: Deccan Renewables Pvt. Ltd. (Karnataka)</a:t>
            </a:r>
          </a:p>
        </p:txBody>
      </p:sp>
      <p:sp>
        <p:nvSpPr>
          <p:cNvPr id="5" name="TextBox 4"/>
          <p:cNvSpPr txBox="1"/>
          <p:nvPr/>
        </p:nvSpPr>
        <p:spPr>
          <a:xfrm>
            <a:off x="731520" y="1170432"/>
            <a:ext cx="10698480" cy="365760"/>
          </a:xfrm>
          <a:prstGeom prst="rect">
            <a:avLst/>
          </a:prstGeom>
          <a:noFill/>
        </p:spPr>
        <p:txBody>
          <a:bodyPr wrap="square" lIns="0" tIns="0" rIns="0" bIns="0">
            <a:spAutoFit/>
          </a:bodyPr>
          <a:lstStyle/>
          <a:p>
            <a:pPr>
              <a:defRPr sz="1200">
                <a:solidFill>
                  <a:srgbClr val="94A3B8"/>
                </a:solidFill>
                <a:latin typeface="Arial"/>
              </a:defRPr>
            </a:pPr>
            <a:r>
              <a:t>740 MW Generation, 400 MWh Storage, and 300 MW Industrial Demand under Indian Energy Exchange (IEX) Tariffs</a:t>
            </a:r>
          </a:p>
        </p:txBody>
      </p:sp>
      <p:sp>
        <p:nvSpPr>
          <p:cNvPr id="6" name="Rectangle 5"/>
          <p:cNvSpPr/>
          <p:nvPr/>
        </p:nvSpPr>
        <p:spPr>
          <a:xfrm>
            <a:off x="731520" y="6309360"/>
            <a:ext cx="10728655" cy="13716"/>
          </a:xfrm>
          <a:prstGeom prst="rect">
            <a:avLst/>
          </a:prstGeom>
          <a:solidFill>
            <a:srgbClr val="2D3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8229600" cy="274320"/>
          </a:xfrm>
          <a:prstGeom prst="rect">
            <a:avLst/>
          </a:prstGeom>
          <a:noFill/>
        </p:spPr>
        <p:txBody>
          <a:bodyPr wrap="none" lIns="0" tIns="0" rIns="0" bIns="0">
            <a:spAutoFit/>
          </a:bodyPr>
          <a:lstStyle/>
          <a:p>
            <a:pPr>
              <a:defRPr sz="900">
                <a:solidFill>
                  <a:srgbClr val="64748B"/>
                </a:solidFill>
                <a:latin typeface="Arial"/>
              </a:defRPr>
            </a:pPr>
            <a:r>
              <a:t>GridMind | Deccan Renewables Pvt. Ltd. (Karnataka) | Self-Assessment Claim: D2 / F3</a:t>
            </a:r>
          </a:p>
        </p:txBody>
      </p:sp>
      <p:sp>
        <p:nvSpPr>
          <p:cNvPr id="8" name="TextBox 7"/>
          <p:cNvSpPr txBox="1"/>
          <p:nvPr/>
        </p:nvSpPr>
        <p:spPr>
          <a:xfrm>
            <a:off x="10058400" y="6382512"/>
            <a:ext cx="1401775" cy="274320"/>
          </a:xfrm>
          <a:prstGeom prst="rect">
            <a:avLst/>
          </a:prstGeom>
          <a:noFill/>
        </p:spPr>
        <p:txBody>
          <a:bodyPr wrap="none" lIns="0" tIns="0" rIns="0" bIns="0">
            <a:spAutoFit/>
          </a:bodyPr>
          <a:lstStyle/>
          <a:p>
            <a:pPr algn="r">
              <a:defRPr sz="900" b="1">
                <a:solidFill>
                  <a:srgbClr val="94A3B8"/>
                </a:solidFill>
                <a:latin typeface="Arial"/>
              </a:defRPr>
            </a:pPr>
            <a:r>
              <a:t>Slide 5 of 16</a:t>
            </a:r>
          </a:p>
        </p:txBody>
      </p:sp>
      <p:sp>
        <p:nvSpPr>
          <p:cNvPr id="9" name="Rounded Rectangle 8"/>
          <p:cNvSpPr/>
          <p:nvPr/>
        </p:nvSpPr>
        <p:spPr>
          <a:xfrm>
            <a:off x="731520" y="1645920"/>
            <a:ext cx="5175504" cy="210312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10512"/>
            <a:ext cx="4809744" cy="1773936"/>
          </a:xfrm>
          <a:prstGeom prst="rect">
            <a:avLst/>
          </a:prstGeom>
          <a:noFill/>
        </p:spPr>
        <p:txBody>
          <a:bodyPr wrap="square" lIns="0" tIns="0" rIns="0" bIns="0">
            <a:spAutoFit/>
          </a:bodyPr>
          <a:lstStyle/>
          <a:p>
            <a:pPr>
              <a:spcAft>
                <a:spcPts val="800"/>
              </a:spcAft>
              <a:defRPr sz="1300" b="1">
                <a:solidFill>
                  <a:srgbClr val="38BDF8"/>
                </a:solidFill>
                <a:latin typeface="Helvetica"/>
              </a:defRPr>
            </a:pPr>
            <a:r>
              <a:t>Renewable Generation: 740 MW</a:t>
            </a:r>
          </a:p>
          <a:p>
            <a:pPr>
              <a:spcAft>
                <a:spcPts val="600"/>
              </a:spcAft>
            </a:pPr>
            <a:r>
              <a:rPr sz="1050" b="1">
                <a:solidFill>
                  <a:srgbClr val="FFFFFF"/>
                </a:solidFill>
                <a:latin typeface="Arial"/>
              </a:rPr>
              <a:t>• 5 Solar Parks (500 MW): </a:t>
            </a:r>
            <a:r>
              <a:rPr sz="1000">
                <a:solidFill>
                  <a:srgbClr val="94A3B8"/>
                </a:solidFill>
                <a:latin typeface="Arial"/>
              </a:rPr>
              <a:t>Pavagada (150MW), Tumakuru (120MW), Koppal (100MW), Raichur (80MW), Kalaburagi (50MW). Modeled with PR: 0.80, Temp Coeff: -0.4%/°C.</a:t>
            </a:r>
          </a:p>
          <a:p>
            <a:pPr>
              <a:spcAft>
                <a:spcPts val="600"/>
              </a:spcAft>
            </a:pPr>
            <a:r>
              <a:rPr sz="1050" b="1">
                <a:solidFill>
                  <a:srgbClr val="FFFFFF"/>
                </a:solidFill>
                <a:latin typeface="Arial"/>
              </a:rPr>
              <a:t>• 3 Wind Farms (240 MW): </a:t>
            </a:r>
            <a:r>
              <a:rPr sz="1000">
                <a:solidFill>
                  <a:srgbClr val="94A3B8"/>
                </a:solidFill>
                <a:latin typeface="Arial"/>
              </a:rPr>
              <a:t>Chitradurga (100MW), Gadag (80MW), Harapanahalli (60MW). Modeled with IEC cubic power curves (3 m/s cut-in, 12 m/s rated, 25 m/s cut-out).</a:t>
            </a:r>
          </a:p>
        </p:txBody>
      </p:sp>
      <p:sp>
        <p:nvSpPr>
          <p:cNvPr id="11" name="Rounded Rectangle 10"/>
          <p:cNvSpPr/>
          <p:nvPr/>
        </p:nvSpPr>
        <p:spPr>
          <a:xfrm>
            <a:off x="6272784" y="1645920"/>
            <a:ext cx="5175504" cy="210312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5664" y="1810512"/>
            <a:ext cx="4809744" cy="1773936"/>
          </a:xfrm>
          <a:prstGeom prst="rect">
            <a:avLst/>
          </a:prstGeom>
          <a:noFill/>
        </p:spPr>
        <p:txBody>
          <a:bodyPr wrap="square" lIns="0" tIns="0" rIns="0" bIns="0">
            <a:spAutoFit/>
          </a:bodyPr>
          <a:lstStyle/>
          <a:p>
            <a:pPr>
              <a:spcAft>
                <a:spcPts val="800"/>
              </a:spcAft>
              <a:defRPr sz="1300" b="1">
                <a:solidFill>
                  <a:srgbClr val="F59E0B"/>
                </a:solidFill>
                <a:latin typeface="Helvetica"/>
              </a:defRPr>
            </a:pPr>
            <a:r>
              <a:t>Battery Storage (BESS): 100 MW / 400 MWh</a:t>
            </a:r>
          </a:p>
          <a:p>
            <a:pPr>
              <a:spcAft>
                <a:spcPts val="600"/>
              </a:spcAft>
            </a:pPr>
            <a:r>
              <a:rPr sz="1050" b="1">
                <a:solidFill>
                  <a:srgbClr val="FFFFFF"/>
                </a:solidFill>
                <a:latin typeface="Arial"/>
              </a:rPr>
              <a:t>• B1 Storage (60 MW / 240 MWh): </a:t>
            </a:r>
            <a:r>
              <a:rPr sz="1000">
                <a:solidFill>
                  <a:srgbClr val="94A3B8"/>
                </a:solidFill>
                <a:latin typeface="Arial"/>
              </a:rPr>
              <a:t>4-hour duration, 95% charge/discharge efficiency (90.25% round-trip), operating SoC band: 10%–95%.</a:t>
            </a:r>
          </a:p>
          <a:p>
            <a:pPr>
              <a:spcAft>
                <a:spcPts val="600"/>
              </a:spcAft>
            </a:pPr>
            <a:r>
              <a:rPr sz="1050" b="1">
                <a:solidFill>
                  <a:srgbClr val="FFFFFF"/>
                </a:solidFill>
                <a:latin typeface="Arial"/>
              </a:rPr>
              <a:t>• B2 Storage (40 MW / 160 MWh): </a:t>
            </a:r>
            <a:r>
              <a:rPr sz="1000">
                <a:solidFill>
                  <a:srgbClr val="94A3B8"/>
                </a:solidFill>
                <a:latin typeface="Arial"/>
              </a:rPr>
              <a:t>4-hour duration, 90.25% round-trip efficiency, degradation cost model: ₹500 / MWh throughput to protect cell longevity.</a:t>
            </a:r>
          </a:p>
        </p:txBody>
      </p:sp>
      <p:sp>
        <p:nvSpPr>
          <p:cNvPr id="13" name="Rounded Rectangle 12"/>
          <p:cNvSpPr/>
          <p:nvPr/>
        </p:nvSpPr>
        <p:spPr>
          <a:xfrm>
            <a:off x="731520" y="3977639"/>
            <a:ext cx="5175504" cy="210312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142231"/>
            <a:ext cx="4809744" cy="1773936"/>
          </a:xfrm>
          <a:prstGeom prst="rect">
            <a:avLst/>
          </a:prstGeom>
          <a:noFill/>
        </p:spPr>
        <p:txBody>
          <a:bodyPr wrap="square" lIns="0" tIns="0" rIns="0" bIns="0">
            <a:spAutoFit/>
          </a:bodyPr>
          <a:lstStyle/>
          <a:p>
            <a:pPr>
              <a:spcAft>
                <a:spcPts val="800"/>
              </a:spcAft>
              <a:defRPr sz="1300" b="1">
                <a:solidFill>
                  <a:srgbClr val="10B981"/>
                </a:solidFill>
                <a:latin typeface="Helvetica"/>
              </a:defRPr>
            </a:pPr>
            <a:r>
              <a:t>RTC Industrial Customers: 300 MW Base</a:t>
            </a:r>
          </a:p>
          <a:p>
            <a:pPr>
              <a:spcAft>
                <a:spcPts val="600"/>
              </a:spcAft>
            </a:pPr>
            <a:r>
              <a:rPr sz="1050" b="1">
                <a:solidFill>
                  <a:srgbClr val="FFFFFF"/>
                </a:solidFill>
                <a:latin typeface="Arial"/>
              </a:rPr>
              <a:t>• Bellary Steel Plant (120 MW): </a:t>
            </a:r>
            <a:r>
              <a:rPr sz="1000">
                <a:solidFill>
                  <a:srgbClr val="94A3B8"/>
                </a:solidFill>
                <a:latin typeface="Arial"/>
              </a:rPr>
              <a:t>60% non-sheddable critical load (72 MW hard floor), 25 MW max Demand Response @ ₹3,000/MWh.</a:t>
            </a:r>
          </a:p>
          <a:p>
            <a:pPr>
              <a:spcAft>
                <a:spcPts val="600"/>
              </a:spcAft>
            </a:pPr>
            <a:r>
              <a:rPr sz="1050" b="1">
                <a:solidFill>
                  <a:srgbClr val="FFFFFF"/>
                </a:solidFill>
                <a:latin typeface="Arial"/>
              </a:rPr>
              <a:t>• Bengaluru Data Centre (60 MW): </a:t>
            </a:r>
            <a:r>
              <a:rPr sz="1000">
                <a:solidFill>
                  <a:srgbClr val="94A3B8"/>
                </a:solidFill>
                <a:latin typeface="Arial"/>
              </a:rPr>
              <a:t>90% non-sheddable critical load (54 MW hard floor), 5 MW max DR @ ₹6,000/MWh.</a:t>
            </a:r>
          </a:p>
          <a:p>
            <a:pPr>
              <a:spcAft>
                <a:spcPts val="600"/>
              </a:spcAft>
            </a:pPr>
            <a:r>
              <a:rPr sz="1050" b="1">
                <a:solidFill>
                  <a:srgbClr val="FFFFFF"/>
                </a:solidFill>
                <a:latin typeface="Arial"/>
              </a:rPr>
              <a:t>• Davanagere Textile (50 MW): </a:t>
            </a:r>
            <a:r>
              <a:rPr sz="1000">
                <a:solidFill>
                  <a:srgbClr val="94A3B8"/>
                </a:solidFill>
                <a:latin typeface="Arial"/>
              </a:rPr>
              <a:t>40% critical floor (20 MW), 15 MW max DR @ ₹2,500/MWh.</a:t>
            </a:r>
          </a:p>
          <a:p>
            <a:pPr>
              <a:spcAft>
                <a:spcPts val="600"/>
              </a:spcAft>
            </a:pPr>
            <a:r>
              <a:rPr sz="1050" b="1">
                <a:solidFill>
                  <a:srgbClr val="FFFFFF"/>
                </a:solidFill>
                <a:latin typeface="Arial"/>
              </a:rPr>
              <a:t>• Bagalkot Cement (70 MW): </a:t>
            </a:r>
            <a:r>
              <a:rPr sz="1000">
                <a:solidFill>
                  <a:srgbClr val="94A3B8"/>
                </a:solidFill>
                <a:latin typeface="Arial"/>
              </a:rPr>
              <a:t>50% critical floor (35 MW), 20 MW max DR @ ₹2,800/MWh.</a:t>
            </a:r>
          </a:p>
        </p:txBody>
      </p:sp>
      <p:sp>
        <p:nvSpPr>
          <p:cNvPr id="15" name="Rounded Rectangle 14"/>
          <p:cNvSpPr/>
          <p:nvPr/>
        </p:nvSpPr>
        <p:spPr>
          <a:xfrm>
            <a:off x="6272784" y="3977639"/>
            <a:ext cx="5175504" cy="210312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5664" y="4142231"/>
            <a:ext cx="4809744" cy="1773936"/>
          </a:xfrm>
          <a:prstGeom prst="rect">
            <a:avLst/>
          </a:prstGeom>
          <a:noFill/>
        </p:spPr>
        <p:txBody>
          <a:bodyPr wrap="square" lIns="0" tIns="0" rIns="0" bIns="0">
            <a:spAutoFit/>
          </a:bodyPr>
          <a:lstStyle/>
          <a:p>
            <a:pPr>
              <a:spcAft>
                <a:spcPts val="800"/>
              </a:spcAft>
              <a:defRPr sz="1300" b="1">
                <a:solidFill>
                  <a:srgbClr val="818CF8"/>
                </a:solidFill>
                <a:latin typeface="Helvetica"/>
              </a:defRPr>
            </a:pPr>
            <a:r>
              <a:t>Grid Interconnection &amp; Market Rules</a:t>
            </a:r>
          </a:p>
          <a:p>
            <a:pPr>
              <a:spcAft>
                <a:spcPts val="600"/>
              </a:spcAft>
            </a:pPr>
            <a:r>
              <a:rPr sz="1050" b="1">
                <a:solidFill>
                  <a:srgbClr val="FFFFFF"/>
                </a:solidFill>
                <a:latin typeface="Arial"/>
              </a:rPr>
              <a:t>• Grid Evacuation Limits: </a:t>
            </a:r>
            <a:r>
              <a:rPr sz="1000">
                <a:solidFill>
                  <a:srgbClr val="94A3B8"/>
                </a:solidFill>
                <a:latin typeface="Arial"/>
              </a:rPr>
              <a:t>Max Import Limit: 150 MW | Max Export Limit: 200 MW (enforced by binary interlocks).</a:t>
            </a:r>
          </a:p>
          <a:p>
            <a:pPr>
              <a:spcAft>
                <a:spcPts val="600"/>
              </a:spcAft>
            </a:pPr>
            <a:r>
              <a:rPr sz="1050" b="1">
                <a:solidFill>
                  <a:srgbClr val="FFFFFF"/>
                </a:solidFill>
                <a:latin typeface="Arial"/>
              </a:rPr>
              <a:t>• Contract Shortfall Penalty: </a:t>
            </a:r>
            <a:r>
              <a:rPr sz="1000">
                <a:solidFill>
                  <a:srgbClr val="94A3B8"/>
                </a:solidFill>
                <a:latin typeface="Arial"/>
              </a:rPr>
              <a:t>₹15,000 / MWh for unserved committed RTC schedule.</a:t>
            </a:r>
          </a:p>
          <a:p>
            <a:pPr>
              <a:spcAft>
                <a:spcPts val="600"/>
              </a:spcAft>
            </a:pPr>
            <a:r>
              <a:rPr sz="1050" b="1">
                <a:solidFill>
                  <a:srgbClr val="FFFFFF"/>
                </a:solidFill>
                <a:latin typeface="Arial"/>
              </a:rPr>
              <a:t>• Value of Lost Load (VOLL): </a:t>
            </a:r>
            <a:r>
              <a:rPr sz="1000">
                <a:solidFill>
                  <a:srgbClr val="94A3B8"/>
                </a:solidFill>
                <a:latin typeface="Arial"/>
              </a:rPr>
              <a:t>₹100,000 / MWh mathematical slack penalty guaranteeing zero critical outage.</a:t>
            </a:r>
          </a:p>
          <a:p>
            <a:pPr>
              <a:spcAft>
                <a:spcPts val="600"/>
              </a:spcAft>
            </a:pPr>
            <a:r>
              <a:rPr sz="1050" b="1">
                <a:solidFill>
                  <a:srgbClr val="FFFFFF"/>
                </a:solidFill>
                <a:latin typeface="Arial"/>
              </a:rPr>
              <a:t>• Grid Carbon Intensity: </a:t>
            </a:r>
            <a:r>
              <a:rPr sz="1000">
                <a:solidFill>
                  <a:srgbClr val="94A3B8"/>
                </a:solidFill>
                <a:latin typeface="Arial"/>
              </a:rPr>
              <a:t>0.71 tCO₂/MWh (Central Electricity Authority Baseline) with ₹1,500/tCO₂ shadow price.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950" b="1">
                <a:solidFill>
                  <a:srgbClr val="38BDF8"/>
                </a:solidFill>
                <a:latin typeface="Helvetica"/>
              </a:defRPr>
            </a:pPr>
            <a:r>
              <a:t>DETAILED STRUCTURAL ARCHITECTURE</a:t>
            </a:r>
          </a:p>
        </p:txBody>
      </p:sp>
      <p:sp>
        <p:nvSpPr>
          <p:cNvPr id="4" name="TextBox 3"/>
          <p:cNvSpPr txBox="1"/>
          <p:nvPr/>
        </p:nvSpPr>
        <p:spPr>
          <a:xfrm>
            <a:off x="731520" y="640080"/>
            <a:ext cx="10698480" cy="502920"/>
          </a:xfrm>
          <a:prstGeom prst="rect">
            <a:avLst/>
          </a:prstGeom>
          <a:noFill/>
        </p:spPr>
        <p:txBody>
          <a:bodyPr wrap="square" lIns="0" tIns="0" rIns="0" bIns="0">
            <a:spAutoFit/>
          </a:bodyPr>
          <a:lstStyle/>
          <a:p>
            <a:pPr>
              <a:defRPr sz="2200" b="1">
                <a:solidFill>
                  <a:srgbClr val="FFFFFF"/>
                </a:solidFill>
                <a:latin typeface="Helvetica"/>
              </a:defRPr>
            </a:pPr>
            <a:r>
              <a:t>The 4-Stage Closed Control Loop Pipeline</a:t>
            </a:r>
          </a:p>
        </p:txBody>
      </p:sp>
      <p:sp>
        <p:nvSpPr>
          <p:cNvPr id="5" name="TextBox 4"/>
          <p:cNvSpPr txBox="1"/>
          <p:nvPr/>
        </p:nvSpPr>
        <p:spPr>
          <a:xfrm>
            <a:off x="731520" y="1170432"/>
            <a:ext cx="10698480" cy="365760"/>
          </a:xfrm>
          <a:prstGeom prst="rect">
            <a:avLst/>
          </a:prstGeom>
          <a:noFill/>
        </p:spPr>
        <p:txBody>
          <a:bodyPr wrap="square" lIns="0" tIns="0" rIns="0" bIns="0">
            <a:spAutoFit/>
          </a:bodyPr>
          <a:lstStyle/>
          <a:p>
            <a:pPr>
              <a:defRPr sz="1200">
                <a:solidFill>
                  <a:srgbClr val="94A3B8"/>
                </a:solidFill>
                <a:latin typeface="Arial"/>
              </a:defRPr>
            </a:pPr>
            <a:r>
              <a:t>End-to-end execution flow executed autonomously every 15 minutes with human oversight</a:t>
            </a:r>
          </a:p>
        </p:txBody>
      </p:sp>
      <p:sp>
        <p:nvSpPr>
          <p:cNvPr id="6" name="Rectangle 5"/>
          <p:cNvSpPr/>
          <p:nvPr/>
        </p:nvSpPr>
        <p:spPr>
          <a:xfrm>
            <a:off x="731520" y="6309360"/>
            <a:ext cx="10728655" cy="13716"/>
          </a:xfrm>
          <a:prstGeom prst="rect">
            <a:avLst/>
          </a:prstGeom>
          <a:solidFill>
            <a:srgbClr val="2D3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8229600" cy="274320"/>
          </a:xfrm>
          <a:prstGeom prst="rect">
            <a:avLst/>
          </a:prstGeom>
          <a:noFill/>
        </p:spPr>
        <p:txBody>
          <a:bodyPr wrap="none" lIns="0" tIns="0" rIns="0" bIns="0">
            <a:spAutoFit/>
          </a:bodyPr>
          <a:lstStyle/>
          <a:p>
            <a:pPr>
              <a:defRPr sz="900">
                <a:solidFill>
                  <a:srgbClr val="64748B"/>
                </a:solidFill>
                <a:latin typeface="Arial"/>
              </a:defRPr>
            </a:pPr>
            <a:r>
              <a:t>GridMind | Deccan Renewables Pvt. Ltd. (Karnataka) | Self-Assessment Claim: D2 / F3</a:t>
            </a:r>
          </a:p>
        </p:txBody>
      </p:sp>
      <p:sp>
        <p:nvSpPr>
          <p:cNvPr id="8" name="TextBox 7"/>
          <p:cNvSpPr txBox="1"/>
          <p:nvPr/>
        </p:nvSpPr>
        <p:spPr>
          <a:xfrm>
            <a:off x="10058400" y="6382512"/>
            <a:ext cx="1401775" cy="274320"/>
          </a:xfrm>
          <a:prstGeom prst="rect">
            <a:avLst/>
          </a:prstGeom>
          <a:noFill/>
        </p:spPr>
        <p:txBody>
          <a:bodyPr wrap="none" lIns="0" tIns="0" rIns="0" bIns="0">
            <a:spAutoFit/>
          </a:bodyPr>
          <a:lstStyle/>
          <a:p>
            <a:pPr algn="r">
              <a:defRPr sz="900" b="1">
                <a:solidFill>
                  <a:srgbClr val="94A3B8"/>
                </a:solidFill>
                <a:latin typeface="Arial"/>
              </a:defRPr>
            </a:pPr>
            <a:r>
              <a:t>Slide 6 of 16</a:t>
            </a:r>
          </a:p>
        </p:txBody>
      </p:sp>
      <p:sp>
        <p:nvSpPr>
          <p:cNvPr id="9" name="Rounded Rectangle 8"/>
          <p:cNvSpPr/>
          <p:nvPr/>
        </p:nvSpPr>
        <p:spPr>
          <a:xfrm>
            <a:off x="731520" y="1645920"/>
            <a:ext cx="251460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10512"/>
            <a:ext cx="2148840" cy="4105656"/>
          </a:xfrm>
          <a:prstGeom prst="rect">
            <a:avLst/>
          </a:prstGeom>
          <a:noFill/>
        </p:spPr>
        <p:txBody>
          <a:bodyPr wrap="square" lIns="0" tIns="0" rIns="0" bIns="0">
            <a:spAutoFit/>
          </a:bodyPr>
          <a:lstStyle/>
          <a:p>
            <a:pPr>
              <a:spcAft>
                <a:spcPts val="800"/>
              </a:spcAft>
              <a:defRPr sz="1300" b="1">
                <a:solidFill>
                  <a:srgbClr val="38BDF8"/>
                </a:solidFill>
                <a:latin typeface="Helvetica"/>
              </a:defRPr>
            </a:pPr>
            <a:r>
              <a:t>Stage 1: Sensing</a:t>
            </a:r>
          </a:p>
          <a:p>
            <a:pPr>
              <a:spcAft>
                <a:spcPts val="600"/>
              </a:spcAft>
            </a:pPr>
            <a:r>
              <a:rPr sz="1050" b="1">
                <a:solidFill>
                  <a:srgbClr val="FFFFFF"/>
                </a:solidFill>
                <a:latin typeface="Arial"/>
              </a:rPr>
              <a:t>• Telemetry Ingestion: </a:t>
            </a:r>
            <a:r>
              <a:rPr sz="1000">
                <a:solidFill>
                  <a:srgbClr val="94A3B8"/>
                </a:solidFill>
                <a:latin typeface="Arial"/>
              </a:rPr>
              <a:t>Polls 10 asset outputs, battery SoCs, and customer meters.</a:t>
            </a:r>
          </a:p>
          <a:p>
            <a:pPr>
              <a:spcAft>
                <a:spcPts val="600"/>
              </a:spcAft>
            </a:pPr>
            <a:r>
              <a:rPr sz="1050" b="1">
                <a:solidFill>
                  <a:srgbClr val="FFFFFF"/>
                </a:solidFill>
                <a:latin typeface="Arial"/>
              </a:rPr>
              <a:t>• Weather Physics: </a:t>
            </a:r>
            <a:r>
              <a:rPr sz="1000">
                <a:solidFill>
                  <a:srgbClr val="94A3B8"/>
                </a:solidFill>
                <a:latin typeface="Arial"/>
              </a:rPr>
              <a:t>Converts Open-Meteo GHI, DNI, and wind speeds via physical curves.</a:t>
            </a:r>
          </a:p>
          <a:p>
            <a:pPr>
              <a:spcAft>
                <a:spcPts val="600"/>
              </a:spcAft>
            </a:pPr>
            <a:r>
              <a:rPr sz="1050" b="1">
                <a:solidFill>
                  <a:srgbClr val="FFFFFF"/>
                </a:solidFill>
                <a:latin typeface="Arial"/>
              </a:rPr>
              <a:t>• Forecaster Cones: </a:t>
            </a:r>
            <a:r>
              <a:rPr sz="1000">
                <a:solidFill>
                  <a:srgbClr val="94A3B8"/>
                </a:solidFill>
                <a:latin typeface="Arial"/>
              </a:rPr>
              <a:t>Computes rolling 32-interval P10, P50, P90 forecast cones.</a:t>
            </a:r>
          </a:p>
          <a:p>
            <a:pPr>
              <a:spcAft>
                <a:spcPts val="600"/>
              </a:spcAft>
            </a:pPr>
            <a:r>
              <a:rPr sz="1050" b="1">
                <a:solidFill>
                  <a:srgbClr val="FFFFFF"/>
                </a:solidFill>
                <a:latin typeface="Arial"/>
              </a:rPr>
              <a:t>• IEX Tariffs: </a:t>
            </a:r>
            <a:r>
              <a:rPr sz="1000">
                <a:solidFill>
                  <a:srgbClr val="94A3B8"/>
                </a:solidFill>
                <a:latin typeface="Arial"/>
              </a:rPr>
              <a:t>Ingests Day-Ahead &amp; Real-Time market pricing feeds.</a:t>
            </a:r>
          </a:p>
        </p:txBody>
      </p:sp>
      <p:sp>
        <p:nvSpPr>
          <p:cNvPr id="11" name="Rounded Rectangle 10"/>
          <p:cNvSpPr/>
          <p:nvPr/>
        </p:nvSpPr>
        <p:spPr>
          <a:xfrm>
            <a:off x="3465576" y="1645920"/>
            <a:ext cx="251460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48456" y="1810512"/>
            <a:ext cx="2148840" cy="4105656"/>
          </a:xfrm>
          <a:prstGeom prst="rect">
            <a:avLst/>
          </a:prstGeom>
          <a:noFill/>
        </p:spPr>
        <p:txBody>
          <a:bodyPr wrap="square" lIns="0" tIns="0" rIns="0" bIns="0">
            <a:spAutoFit/>
          </a:bodyPr>
          <a:lstStyle/>
          <a:p>
            <a:pPr>
              <a:spcAft>
                <a:spcPts val="800"/>
              </a:spcAft>
              <a:defRPr sz="1300" b="1">
                <a:solidFill>
                  <a:srgbClr val="818CF8"/>
                </a:solidFill>
                <a:latin typeface="Helvetica"/>
              </a:defRPr>
            </a:pPr>
            <a:r>
              <a:t>Stage 2: Agentic Layer</a:t>
            </a:r>
          </a:p>
          <a:p>
            <a:pPr>
              <a:spcAft>
                <a:spcPts val="600"/>
              </a:spcAft>
            </a:pPr>
            <a:r>
              <a:rPr sz="1050" b="1">
                <a:solidFill>
                  <a:srgbClr val="FFFFFF"/>
                </a:solidFill>
                <a:latin typeface="Arial"/>
              </a:rPr>
              <a:t>• Monitor Agent: </a:t>
            </a:r>
            <a:r>
              <a:rPr sz="1000">
                <a:solidFill>
                  <a:srgbClr val="94A3B8"/>
                </a:solidFill>
                <a:latin typeface="Arial"/>
              </a:rPr>
              <a:t>Calculates telemetry deltas; generates anomaly briefings when severity &gt;= medium.</a:t>
            </a:r>
          </a:p>
          <a:p>
            <a:pPr>
              <a:spcAft>
                <a:spcPts val="600"/>
              </a:spcAft>
            </a:pPr>
            <a:r>
              <a:rPr sz="1050" b="1">
                <a:solidFill>
                  <a:srgbClr val="FFFFFF"/>
                </a:solidFill>
                <a:latin typeface="Arial"/>
              </a:rPr>
              <a:t>• Strategist Agent: </a:t>
            </a:r>
            <a:r>
              <a:rPr sz="1000">
                <a:solidFill>
                  <a:srgbClr val="94A3B8"/>
                </a:solidFill>
                <a:latin typeface="Arial"/>
              </a:rPr>
              <a:t>Selects operational mode (green, economic, storm, etc.) and tunes weights.</a:t>
            </a:r>
          </a:p>
          <a:p>
            <a:pPr>
              <a:spcAft>
                <a:spcPts val="600"/>
              </a:spcAft>
            </a:pPr>
            <a:r>
              <a:rPr sz="1050" b="1">
                <a:solidFill>
                  <a:srgbClr val="FFFFFF"/>
                </a:solidFill>
                <a:latin typeface="Arial"/>
              </a:rPr>
              <a:t>• Bounded Tool Loop: </a:t>
            </a:r>
            <a:r>
              <a:rPr sz="1000">
                <a:solidFill>
                  <a:srgbClr val="94A3B8"/>
                </a:solidFill>
                <a:latin typeface="Arial"/>
              </a:rPr>
              <a:t>Calls run_milp, evaluate_risk, and compare_plans (max 6 calls).</a:t>
            </a:r>
          </a:p>
          <a:p>
            <a:pPr>
              <a:spcAft>
                <a:spcPts val="600"/>
              </a:spcAft>
            </a:pPr>
            <a:r>
              <a:rPr sz="1050" b="1">
                <a:solidFill>
                  <a:srgbClr val="FFFFFF"/>
                </a:solidFill>
                <a:latin typeface="Arial"/>
              </a:rPr>
              <a:t>• PuLP MILP Solver: </a:t>
            </a:r>
            <a:r>
              <a:rPr sz="1000">
                <a:solidFill>
                  <a:srgbClr val="94A3B8"/>
                </a:solidFill>
                <a:latin typeface="Arial"/>
              </a:rPr>
              <a:t>Solves 32-interval dispatch in &lt;40 ms.</a:t>
            </a:r>
          </a:p>
        </p:txBody>
      </p:sp>
      <p:sp>
        <p:nvSpPr>
          <p:cNvPr id="13" name="Rounded Rectangle 12"/>
          <p:cNvSpPr/>
          <p:nvPr/>
        </p:nvSpPr>
        <p:spPr>
          <a:xfrm>
            <a:off x="6199632" y="1645920"/>
            <a:ext cx="251460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810512"/>
            <a:ext cx="2148840" cy="4105656"/>
          </a:xfrm>
          <a:prstGeom prst="rect">
            <a:avLst/>
          </a:prstGeom>
          <a:noFill/>
        </p:spPr>
        <p:txBody>
          <a:bodyPr wrap="square" lIns="0" tIns="0" rIns="0" bIns="0">
            <a:spAutoFit/>
          </a:bodyPr>
          <a:lstStyle/>
          <a:p>
            <a:pPr>
              <a:spcAft>
                <a:spcPts val="800"/>
              </a:spcAft>
              <a:defRPr sz="1300" b="1">
                <a:solidFill>
                  <a:srgbClr val="F43F5E"/>
                </a:solidFill>
                <a:latin typeface="Helvetica"/>
              </a:defRPr>
            </a:pPr>
            <a:r>
              <a:t>Stage 3: Safety Gate</a:t>
            </a:r>
          </a:p>
          <a:p>
            <a:pPr>
              <a:spcAft>
                <a:spcPts val="600"/>
              </a:spcAft>
            </a:pPr>
            <a:r>
              <a:rPr sz="1050" b="1">
                <a:solidFill>
                  <a:srgbClr val="FFFFFF"/>
                </a:solidFill>
                <a:latin typeface="Arial"/>
              </a:rPr>
              <a:t>• Hard Guardrails: </a:t>
            </a:r>
            <a:r>
              <a:rPr sz="1000">
                <a:solidFill>
                  <a:srgbClr val="94A3B8"/>
                </a:solidFill>
                <a:latin typeface="Arial"/>
              </a:rPr>
              <a:t>Validates 7 physical safety interlocks before execution.</a:t>
            </a:r>
          </a:p>
          <a:p>
            <a:pPr>
              <a:spcAft>
                <a:spcPts val="600"/>
              </a:spcAft>
            </a:pPr>
            <a:r>
              <a:rPr sz="1050" b="1">
                <a:solidFill>
                  <a:srgbClr val="FFFFFF"/>
                </a:solidFill>
                <a:latin typeface="Arial"/>
              </a:rPr>
              <a:t>• Self-Healing Loop: </a:t>
            </a:r>
            <a:r>
              <a:rPr sz="1000">
                <a:solidFill>
                  <a:srgbClr val="94A3B8"/>
                </a:solidFill>
                <a:latin typeface="Arial"/>
              </a:rPr>
              <a:t>On violation, feeds error to Strategist to re-solve (up to 2 retries).</a:t>
            </a:r>
          </a:p>
          <a:p>
            <a:pPr>
              <a:spcAft>
                <a:spcPts val="600"/>
              </a:spcAft>
            </a:pPr>
            <a:r>
              <a:rPr sz="1050" b="1">
                <a:solidFill>
                  <a:srgbClr val="FFFFFF"/>
                </a:solidFill>
                <a:latin typeface="Arial"/>
              </a:rPr>
              <a:t>• Safe-Mode Fallback: </a:t>
            </a:r>
            <a:r>
              <a:rPr sz="1000">
                <a:solidFill>
                  <a:srgbClr val="94A3B8"/>
                </a:solidFill>
                <a:latin typeface="Arial"/>
              </a:rPr>
              <a:t>If retries fail, executes deterministic 40% reserve hold.</a:t>
            </a:r>
          </a:p>
          <a:p>
            <a:pPr>
              <a:spcAft>
                <a:spcPts val="600"/>
              </a:spcAft>
            </a:pPr>
            <a:r>
              <a:rPr sz="1050" b="1">
                <a:solidFill>
                  <a:srgbClr val="FFFFFF"/>
                </a:solidFill>
                <a:latin typeface="Arial"/>
              </a:rPr>
              <a:t>• Operator Gate: </a:t>
            </a:r>
            <a:r>
              <a:rPr sz="1000">
                <a:solidFill>
                  <a:srgbClr val="94A3B8"/>
                </a:solidFill>
                <a:latin typeface="Arial"/>
              </a:rPr>
              <a:t>High-impact actions prompt for operator sign-off in UI.</a:t>
            </a:r>
          </a:p>
        </p:txBody>
      </p:sp>
      <p:sp>
        <p:nvSpPr>
          <p:cNvPr id="15" name="Rounded Rectangle 14"/>
          <p:cNvSpPr/>
          <p:nvPr/>
        </p:nvSpPr>
        <p:spPr>
          <a:xfrm>
            <a:off x="8933688" y="1645920"/>
            <a:ext cx="251460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16568" y="1810512"/>
            <a:ext cx="2148840" cy="4105656"/>
          </a:xfrm>
          <a:prstGeom prst="rect">
            <a:avLst/>
          </a:prstGeom>
          <a:noFill/>
        </p:spPr>
        <p:txBody>
          <a:bodyPr wrap="square" lIns="0" tIns="0" rIns="0" bIns="0">
            <a:spAutoFit/>
          </a:bodyPr>
          <a:lstStyle/>
          <a:p>
            <a:pPr>
              <a:spcAft>
                <a:spcPts val="800"/>
              </a:spcAft>
              <a:defRPr sz="1300" b="1">
                <a:solidFill>
                  <a:srgbClr val="10B981"/>
                </a:solidFill>
                <a:latin typeface="Helvetica"/>
              </a:defRPr>
            </a:pPr>
            <a:r>
              <a:t>Stage 4: Actuation</a:t>
            </a:r>
          </a:p>
          <a:p>
            <a:pPr>
              <a:spcAft>
                <a:spcPts val="600"/>
              </a:spcAft>
            </a:pPr>
            <a:r>
              <a:rPr sz="1050" b="1">
                <a:solidFill>
                  <a:srgbClr val="FFFFFF"/>
                </a:solidFill>
                <a:latin typeface="Arial"/>
              </a:rPr>
              <a:t>• Dispatch Executor: </a:t>
            </a:r>
            <a:r>
              <a:rPr sz="1000">
                <a:solidFill>
                  <a:srgbClr val="94A3B8"/>
                </a:solidFill>
                <a:latin typeface="Arial"/>
              </a:rPr>
              <a:t>Dispatches interval t=0 setpoints to physical assets.</a:t>
            </a:r>
          </a:p>
          <a:p>
            <a:pPr>
              <a:spcAft>
                <a:spcPts val="600"/>
              </a:spcAft>
            </a:pPr>
            <a:r>
              <a:rPr sz="1050" b="1">
                <a:solidFill>
                  <a:srgbClr val="FFFFFF"/>
                </a:solidFill>
                <a:latin typeface="Arial"/>
              </a:rPr>
              <a:t>• JSONL Audit Logger: </a:t>
            </a:r>
            <a:r>
              <a:rPr sz="1000">
                <a:solidFill>
                  <a:srgbClr val="94A3B8"/>
                </a:solidFill>
                <a:latin typeface="Arial"/>
              </a:rPr>
              <a:t>Writes complete immutable decision trace for compliance.</a:t>
            </a:r>
          </a:p>
          <a:p>
            <a:pPr>
              <a:spcAft>
                <a:spcPts val="600"/>
              </a:spcAft>
            </a:pPr>
            <a:r>
              <a:rPr sz="1050" b="1">
                <a:solidFill>
                  <a:srgbClr val="FFFFFF"/>
                </a:solidFill>
                <a:latin typeface="Arial"/>
              </a:rPr>
              <a:t>• Explainer Agent: </a:t>
            </a:r>
            <a:r>
              <a:rPr sz="1000">
                <a:solidFill>
                  <a:srgbClr val="94A3B8"/>
                </a:solidFill>
                <a:latin typeface="Arial"/>
              </a:rPr>
              <a:t>Generates natural language shift briefing with underlying motives.</a:t>
            </a:r>
          </a:p>
          <a:p>
            <a:pPr>
              <a:spcAft>
                <a:spcPts val="600"/>
              </a:spcAft>
            </a:pPr>
            <a:r>
              <a:rPr sz="1050" b="1">
                <a:solidFill>
                  <a:srgbClr val="FFFFFF"/>
                </a:solidFill>
                <a:latin typeface="Arial"/>
              </a:rPr>
              <a:t>• Streamlit UI: </a:t>
            </a:r>
            <a:r>
              <a:rPr sz="1000">
                <a:solidFill>
                  <a:srgbClr val="94A3B8"/>
                </a:solidFill>
                <a:latin typeface="Arial"/>
              </a:rPr>
              <a:t>Updates live Control Room telemetry and gauges.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950" b="1">
                <a:solidFill>
                  <a:srgbClr val="38BDF8"/>
                </a:solidFill>
                <a:latin typeface="Helvetica"/>
              </a:defRPr>
            </a:pPr>
            <a:r>
              <a:t>AUTONOMOUS MULTI-AGENT SYSTEM</a:t>
            </a:r>
          </a:p>
        </p:txBody>
      </p:sp>
      <p:sp>
        <p:nvSpPr>
          <p:cNvPr id="4" name="TextBox 3"/>
          <p:cNvSpPr txBox="1"/>
          <p:nvPr/>
        </p:nvSpPr>
        <p:spPr>
          <a:xfrm>
            <a:off x="731520" y="640080"/>
            <a:ext cx="10698480" cy="502920"/>
          </a:xfrm>
          <a:prstGeom prst="rect">
            <a:avLst/>
          </a:prstGeom>
          <a:noFill/>
        </p:spPr>
        <p:txBody>
          <a:bodyPr wrap="square" lIns="0" tIns="0" rIns="0" bIns="0">
            <a:spAutoFit/>
          </a:bodyPr>
          <a:lstStyle/>
          <a:p>
            <a:pPr>
              <a:defRPr sz="2200" b="1">
                <a:solidFill>
                  <a:srgbClr val="FFFFFF"/>
                </a:solidFill>
                <a:latin typeface="Helvetica"/>
              </a:defRPr>
            </a:pPr>
            <a:r>
              <a:t>The Agentic Triad: Monitor, Strategist &amp; Explainer</a:t>
            </a:r>
          </a:p>
        </p:txBody>
      </p:sp>
      <p:sp>
        <p:nvSpPr>
          <p:cNvPr id="5" name="TextBox 4"/>
          <p:cNvSpPr txBox="1"/>
          <p:nvPr/>
        </p:nvSpPr>
        <p:spPr>
          <a:xfrm>
            <a:off x="731520" y="1170432"/>
            <a:ext cx="10698480" cy="365760"/>
          </a:xfrm>
          <a:prstGeom prst="rect">
            <a:avLst/>
          </a:prstGeom>
          <a:noFill/>
        </p:spPr>
        <p:txBody>
          <a:bodyPr wrap="square" lIns="0" tIns="0" rIns="0" bIns="0">
            <a:spAutoFit/>
          </a:bodyPr>
          <a:lstStyle/>
          <a:p>
            <a:pPr>
              <a:defRPr sz="1200">
                <a:solidFill>
                  <a:srgbClr val="94A3B8"/>
                </a:solidFill>
                <a:latin typeface="Arial"/>
              </a:defRPr>
            </a:pPr>
            <a:r>
              <a:t>How agents reason, use bounded tools, resolve trade-offs, and maintain strict schema validation</a:t>
            </a:r>
          </a:p>
        </p:txBody>
      </p:sp>
      <p:sp>
        <p:nvSpPr>
          <p:cNvPr id="6" name="Rectangle 5"/>
          <p:cNvSpPr/>
          <p:nvPr/>
        </p:nvSpPr>
        <p:spPr>
          <a:xfrm>
            <a:off x="731520" y="6309360"/>
            <a:ext cx="10728655" cy="13716"/>
          </a:xfrm>
          <a:prstGeom prst="rect">
            <a:avLst/>
          </a:prstGeom>
          <a:solidFill>
            <a:srgbClr val="2D3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8229600" cy="274320"/>
          </a:xfrm>
          <a:prstGeom prst="rect">
            <a:avLst/>
          </a:prstGeom>
          <a:noFill/>
        </p:spPr>
        <p:txBody>
          <a:bodyPr wrap="none" lIns="0" tIns="0" rIns="0" bIns="0">
            <a:spAutoFit/>
          </a:bodyPr>
          <a:lstStyle/>
          <a:p>
            <a:pPr>
              <a:defRPr sz="900">
                <a:solidFill>
                  <a:srgbClr val="64748B"/>
                </a:solidFill>
                <a:latin typeface="Arial"/>
              </a:defRPr>
            </a:pPr>
            <a:r>
              <a:t>GridMind | Deccan Renewables Pvt. Ltd. (Karnataka) | Self-Assessment Claim: D2 / F3</a:t>
            </a:r>
          </a:p>
        </p:txBody>
      </p:sp>
      <p:sp>
        <p:nvSpPr>
          <p:cNvPr id="8" name="TextBox 7"/>
          <p:cNvSpPr txBox="1"/>
          <p:nvPr/>
        </p:nvSpPr>
        <p:spPr>
          <a:xfrm>
            <a:off x="10058400" y="6382512"/>
            <a:ext cx="1401775" cy="274320"/>
          </a:xfrm>
          <a:prstGeom prst="rect">
            <a:avLst/>
          </a:prstGeom>
          <a:noFill/>
        </p:spPr>
        <p:txBody>
          <a:bodyPr wrap="none" lIns="0" tIns="0" rIns="0" bIns="0">
            <a:spAutoFit/>
          </a:bodyPr>
          <a:lstStyle/>
          <a:p>
            <a:pPr algn="r">
              <a:defRPr sz="900" b="1">
                <a:solidFill>
                  <a:srgbClr val="94A3B8"/>
                </a:solidFill>
                <a:latin typeface="Arial"/>
              </a:defRPr>
            </a:pPr>
            <a:r>
              <a:t>Slide 7 of 16</a:t>
            </a:r>
          </a:p>
        </p:txBody>
      </p:sp>
      <p:sp>
        <p:nvSpPr>
          <p:cNvPr id="9" name="Rounded Rectangle 8"/>
          <p:cNvSpPr/>
          <p:nvPr/>
        </p:nvSpPr>
        <p:spPr>
          <a:xfrm>
            <a:off x="731520" y="1645920"/>
            <a:ext cx="333756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10512"/>
            <a:ext cx="2971800" cy="4105656"/>
          </a:xfrm>
          <a:prstGeom prst="rect">
            <a:avLst/>
          </a:prstGeom>
          <a:noFill/>
        </p:spPr>
        <p:txBody>
          <a:bodyPr wrap="square" lIns="0" tIns="0" rIns="0" bIns="0">
            <a:spAutoFit/>
          </a:bodyPr>
          <a:lstStyle/>
          <a:p>
            <a:pPr>
              <a:spcAft>
                <a:spcPts val="800"/>
              </a:spcAft>
              <a:defRPr sz="1300" b="1">
                <a:solidFill>
                  <a:srgbClr val="38BDF8"/>
                </a:solidFill>
                <a:latin typeface="Helvetica"/>
              </a:defRPr>
            </a:pPr>
            <a:r>
              <a:t>Monitor Agent</a:t>
            </a:r>
          </a:p>
          <a:p>
            <a:pPr>
              <a:spcAft>
                <a:spcPts val="600"/>
              </a:spcAft>
            </a:pPr>
            <a:r>
              <a:rPr sz="1050" b="1">
                <a:solidFill>
                  <a:srgbClr val="FFFFFF"/>
                </a:solidFill>
                <a:latin typeface="Arial"/>
              </a:rPr>
              <a:t>• Telemetry Synthesis: </a:t>
            </a:r>
            <a:r>
              <a:rPr sz="1000">
                <a:solidFill>
                  <a:srgbClr val="94A3B8"/>
                </a:solidFill>
                <a:latin typeface="Arial"/>
              </a:rPr>
              <a:t>Computes divergence between actual generation and forecast cones.</a:t>
            </a:r>
          </a:p>
          <a:p>
            <a:pPr>
              <a:spcAft>
                <a:spcPts val="600"/>
              </a:spcAft>
            </a:pPr>
            <a:r>
              <a:rPr sz="1050" b="1">
                <a:solidFill>
                  <a:srgbClr val="FFFFFF"/>
                </a:solidFill>
                <a:latin typeface="Arial"/>
              </a:rPr>
              <a:t>• Anomaly Classification: </a:t>
            </a:r>
            <a:r>
              <a:rPr sz="1000">
                <a:solidFill>
                  <a:srgbClr val="94A3B8"/>
                </a:solidFill>
                <a:latin typeface="Arial"/>
              </a:rPr>
              <a:t>Classifies severity (Low, Medium, High, Critical) based on asset thresholds.</a:t>
            </a:r>
          </a:p>
          <a:p>
            <a:pPr>
              <a:spcAft>
                <a:spcPts val="600"/>
              </a:spcAft>
            </a:pPr>
            <a:r>
              <a:rPr sz="1050" b="1">
                <a:solidFill>
                  <a:srgbClr val="FFFFFF"/>
                </a:solidFill>
                <a:latin typeface="Arial"/>
              </a:rPr>
              <a:t>• Contextual Briefing: </a:t>
            </a:r>
            <a:r>
              <a:rPr sz="1000">
                <a:solidFill>
                  <a:srgbClr val="94A3B8"/>
                </a:solidFill>
                <a:latin typeface="Arial"/>
              </a:rPr>
              <a:t>When severity &gt;= medium, LLM synthesizes a concise 2-sentence situational briefing.</a:t>
            </a:r>
          </a:p>
          <a:p>
            <a:pPr>
              <a:spcAft>
                <a:spcPts val="600"/>
              </a:spcAft>
            </a:pPr>
            <a:r>
              <a:rPr sz="1050" b="1">
                <a:solidFill>
                  <a:srgbClr val="FFFFFF"/>
                </a:solidFill>
                <a:latin typeface="Arial"/>
              </a:rPr>
              <a:t>• Zero Token Waste: </a:t>
            </a:r>
            <a:r>
              <a:rPr sz="1000">
                <a:solidFill>
                  <a:srgbClr val="94A3B8"/>
                </a:solidFill>
                <a:latin typeface="Arial"/>
              </a:rPr>
              <a:t>Skips LLM calls during quiescent normal operations.</a:t>
            </a:r>
          </a:p>
        </p:txBody>
      </p:sp>
      <p:sp>
        <p:nvSpPr>
          <p:cNvPr id="11" name="Rounded Rectangle 10"/>
          <p:cNvSpPr/>
          <p:nvPr/>
        </p:nvSpPr>
        <p:spPr>
          <a:xfrm>
            <a:off x="4425696" y="1645920"/>
            <a:ext cx="333756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810512"/>
            <a:ext cx="2971800" cy="4105656"/>
          </a:xfrm>
          <a:prstGeom prst="rect">
            <a:avLst/>
          </a:prstGeom>
          <a:noFill/>
        </p:spPr>
        <p:txBody>
          <a:bodyPr wrap="square" lIns="0" tIns="0" rIns="0" bIns="0">
            <a:spAutoFit/>
          </a:bodyPr>
          <a:lstStyle/>
          <a:p>
            <a:pPr>
              <a:spcAft>
                <a:spcPts val="800"/>
              </a:spcAft>
              <a:defRPr sz="1300" b="1">
                <a:solidFill>
                  <a:srgbClr val="818CF8"/>
                </a:solidFill>
                <a:latin typeface="Helvetica"/>
              </a:defRPr>
            </a:pPr>
            <a:r>
              <a:t>Strategy Agent</a:t>
            </a:r>
          </a:p>
          <a:p>
            <a:pPr>
              <a:spcAft>
                <a:spcPts val="600"/>
              </a:spcAft>
            </a:pPr>
            <a:r>
              <a:rPr sz="1050" b="1">
                <a:solidFill>
                  <a:srgbClr val="FFFFFF"/>
                </a:solidFill>
                <a:latin typeface="Arial"/>
              </a:rPr>
              <a:t>• Dynamic Mode Selection: </a:t>
            </a:r>
            <a:r>
              <a:rPr sz="1000">
                <a:solidFill>
                  <a:srgbClr val="94A3B8"/>
                </a:solidFill>
                <a:latin typeface="Arial"/>
              </a:rPr>
              <a:t>Shifts operational mode (e.g. green, economic, storm_preparation, outage_recovery).</a:t>
            </a:r>
          </a:p>
          <a:p>
            <a:pPr>
              <a:spcAft>
                <a:spcPts val="600"/>
              </a:spcAft>
            </a:pPr>
            <a:r>
              <a:rPr sz="1050" b="1">
                <a:solidFill>
                  <a:srgbClr val="FFFFFF"/>
                </a:solidFill>
                <a:latin typeface="Arial"/>
              </a:rPr>
              <a:t>• Weight Tuning: </a:t>
            </a:r>
            <a:r>
              <a:rPr sz="1000">
                <a:solidFill>
                  <a:srgbClr val="94A3B8"/>
                </a:solidFill>
                <a:latin typeface="Arial"/>
              </a:rPr>
              <a:t>Dynamically tunes weights w in [0, 5] across cost, carbon, curtailment, degradation, reliability.</a:t>
            </a:r>
          </a:p>
          <a:p>
            <a:pPr>
              <a:spcAft>
                <a:spcPts val="600"/>
              </a:spcAft>
            </a:pPr>
            <a:r>
              <a:rPr sz="1050" b="1">
                <a:solidFill>
                  <a:srgbClr val="FFFFFF"/>
                </a:solidFill>
                <a:latin typeface="Arial"/>
              </a:rPr>
              <a:t>• Tool-Calling Exploration: </a:t>
            </a:r>
            <a:r>
              <a:rPr sz="1000">
                <a:solidFill>
                  <a:srgbClr val="94A3B8"/>
                </a:solidFill>
                <a:latin typeface="Arial"/>
              </a:rPr>
              <a:t>Interactively executes run_milp(), evaluate_risk(), and compare_plans().</a:t>
            </a:r>
          </a:p>
          <a:p>
            <a:pPr>
              <a:spcAft>
                <a:spcPts val="600"/>
              </a:spcAft>
            </a:pPr>
            <a:r>
              <a:rPr sz="1050" b="1">
                <a:solidFill>
                  <a:srgbClr val="FFFFFF"/>
                </a:solidFill>
                <a:latin typeface="Arial"/>
              </a:rPr>
              <a:t>• Trade-Off Articulation: </a:t>
            </a:r>
            <a:r>
              <a:rPr sz="1000">
                <a:solidFill>
                  <a:srgbClr val="94A3B8"/>
                </a:solidFill>
                <a:latin typeface="Arial"/>
              </a:rPr>
              <a:t>Articulates explicit mathematical trade-off justification before selecting optimal plan.</a:t>
            </a:r>
          </a:p>
        </p:txBody>
      </p:sp>
      <p:sp>
        <p:nvSpPr>
          <p:cNvPr id="13" name="Rounded Rectangle 12"/>
          <p:cNvSpPr/>
          <p:nvPr/>
        </p:nvSpPr>
        <p:spPr>
          <a:xfrm>
            <a:off x="8119872" y="1645920"/>
            <a:ext cx="333756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810512"/>
            <a:ext cx="2971800" cy="4105656"/>
          </a:xfrm>
          <a:prstGeom prst="rect">
            <a:avLst/>
          </a:prstGeom>
          <a:noFill/>
        </p:spPr>
        <p:txBody>
          <a:bodyPr wrap="square" lIns="0" tIns="0" rIns="0" bIns="0">
            <a:spAutoFit/>
          </a:bodyPr>
          <a:lstStyle/>
          <a:p>
            <a:pPr>
              <a:spcAft>
                <a:spcPts val="800"/>
              </a:spcAft>
              <a:defRPr sz="1300" b="1">
                <a:solidFill>
                  <a:srgbClr val="10B981"/>
                </a:solidFill>
                <a:latin typeface="Helvetica"/>
              </a:defRPr>
            </a:pPr>
            <a:r>
              <a:t>Explainer Agent</a:t>
            </a:r>
          </a:p>
          <a:p>
            <a:pPr>
              <a:spcAft>
                <a:spcPts val="600"/>
              </a:spcAft>
            </a:pPr>
            <a:r>
              <a:rPr sz="1050" b="1">
                <a:solidFill>
                  <a:srgbClr val="FFFFFF"/>
                </a:solidFill>
                <a:latin typeface="Arial"/>
              </a:rPr>
              <a:t>• Operator Briefing: </a:t>
            </a:r>
            <a:r>
              <a:rPr sz="1000">
                <a:solidFill>
                  <a:srgbClr val="94A3B8"/>
                </a:solidFill>
                <a:latin typeface="Arial"/>
              </a:rPr>
              <a:t>Generates an executive headline (&lt;= 15 words) for shift dispatchers.</a:t>
            </a:r>
          </a:p>
          <a:p>
            <a:pPr>
              <a:spcAft>
                <a:spcPts val="600"/>
              </a:spcAft>
            </a:pPr>
            <a:r>
              <a:rPr sz="1050" b="1">
                <a:solidFill>
                  <a:srgbClr val="FFFFFF"/>
                </a:solidFill>
                <a:latin typeface="Arial"/>
              </a:rPr>
              <a:t>• Underlying Motives: </a:t>
            </a:r>
            <a:r>
              <a:rPr sz="1000">
                <a:solidFill>
                  <a:srgbClr val="94A3B8"/>
                </a:solidFill>
                <a:latin typeface="Arial"/>
              </a:rPr>
              <a:t>Explains WHY specific batteries charged or why imports were dispatched.</a:t>
            </a:r>
          </a:p>
          <a:p>
            <a:pPr>
              <a:spcAft>
                <a:spcPts val="600"/>
              </a:spcAft>
            </a:pPr>
            <a:r>
              <a:rPr sz="1050" b="1">
                <a:solidFill>
                  <a:srgbClr val="FFFFFF"/>
                </a:solidFill>
                <a:latin typeface="Arial"/>
              </a:rPr>
              <a:t>• Accepted Trade-Offs: </a:t>
            </a:r>
            <a:r>
              <a:rPr sz="1000">
                <a:solidFill>
                  <a:srgbClr val="94A3B8"/>
                </a:solidFill>
                <a:latin typeface="Arial"/>
              </a:rPr>
              <a:t>Explicitly documents what trade-offs were made (e.g. accepted Rs. 50k degradation to avoid Rs. 2M shortfall).</a:t>
            </a:r>
          </a:p>
          <a:p>
            <a:pPr>
              <a:spcAft>
                <a:spcPts val="600"/>
              </a:spcAft>
            </a:pPr>
            <a:r>
              <a:rPr sz="1050" b="1">
                <a:solidFill>
                  <a:srgbClr val="FFFFFF"/>
                </a:solidFill>
                <a:latin typeface="Arial"/>
              </a:rPr>
              <a:t>• Pivot Conditions: </a:t>
            </a:r>
            <a:r>
              <a:rPr sz="1000">
                <a:solidFill>
                  <a:srgbClr val="94A3B8"/>
                </a:solidFill>
                <a:latin typeface="Arial"/>
              </a:rPr>
              <a:t>Specifies exact triggers that will require abandoning the plan.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950" b="1">
                <a:solidFill>
                  <a:srgbClr val="38BDF8"/>
                </a:solidFill>
                <a:latin typeface="Helvetica"/>
              </a:defRPr>
            </a:pPr>
            <a:r>
              <a:t>MATHEMATICAL FORMULATION &amp; TRADE-OFFS</a:t>
            </a:r>
          </a:p>
        </p:txBody>
      </p:sp>
      <p:sp>
        <p:nvSpPr>
          <p:cNvPr id="4" name="TextBox 3"/>
          <p:cNvSpPr txBox="1"/>
          <p:nvPr/>
        </p:nvSpPr>
        <p:spPr>
          <a:xfrm>
            <a:off x="731520" y="640080"/>
            <a:ext cx="10698480" cy="502920"/>
          </a:xfrm>
          <a:prstGeom prst="rect">
            <a:avLst/>
          </a:prstGeom>
          <a:noFill/>
        </p:spPr>
        <p:txBody>
          <a:bodyPr wrap="square" lIns="0" tIns="0" rIns="0" bIns="0">
            <a:spAutoFit/>
          </a:bodyPr>
          <a:lstStyle/>
          <a:p>
            <a:pPr>
              <a:defRPr sz="2200" b="1">
                <a:solidFill>
                  <a:srgbClr val="FFFFFF"/>
                </a:solidFill>
                <a:latin typeface="Helvetica"/>
              </a:defRPr>
            </a:pPr>
            <a:r>
              <a:t>Dynamic Multi-Objective Optimization &amp; Conflict Resolution</a:t>
            </a:r>
          </a:p>
        </p:txBody>
      </p:sp>
      <p:sp>
        <p:nvSpPr>
          <p:cNvPr id="5" name="TextBox 4"/>
          <p:cNvSpPr txBox="1"/>
          <p:nvPr/>
        </p:nvSpPr>
        <p:spPr>
          <a:xfrm>
            <a:off x="731520" y="1170432"/>
            <a:ext cx="10698480" cy="365760"/>
          </a:xfrm>
          <a:prstGeom prst="rect">
            <a:avLst/>
          </a:prstGeom>
          <a:noFill/>
        </p:spPr>
        <p:txBody>
          <a:bodyPr wrap="square" lIns="0" tIns="0" rIns="0" bIns="0">
            <a:spAutoFit/>
          </a:bodyPr>
          <a:lstStyle/>
          <a:p>
            <a:pPr>
              <a:defRPr sz="1200">
                <a:solidFill>
                  <a:srgbClr val="94A3B8"/>
                </a:solidFill>
                <a:latin typeface="Arial"/>
              </a:defRPr>
            </a:pPr>
            <a:r>
              <a:t>Formal MILP objective formulation and explicit penalty hierarchy for competing operational goals</a:t>
            </a:r>
          </a:p>
        </p:txBody>
      </p:sp>
      <p:sp>
        <p:nvSpPr>
          <p:cNvPr id="6" name="Rectangle 5"/>
          <p:cNvSpPr/>
          <p:nvPr/>
        </p:nvSpPr>
        <p:spPr>
          <a:xfrm>
            <a:off x="731520" y="6309360"/>
            <a:ext cx="10728655" cy="13716"/>
          </a:xfrm>
          <a:prstGeom prst="rect">
            <a:avLst/>
          </a:prstGeom>
          <a:solidFill>
            <a:srgbClr val="2D3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8229600" cy="274320"/>
          </a:xfrm>
          <a:prstGeom prst="rect">
            <a:avLst/>
          </a:prstGeom>
          <a:noFill/>
        </p:spPr>
        <p:txBody>
          <a:bodyPr wrap="none" lIns="0" tIns="0" rIns="0" bIns="0">
            <a:spAutoFit/>
          </a:bodyPr>
          <a:lstStyle/>
          <a:p>
            <a:pPr>
              <a:defRPr sz="900">
                <a:solidFill>
                  <a:srgbClr val="64748B"/>
                </a:solidFill>
                <a:latin typeface="Arial"/>
              </a:defRPr>
            </a:pPr>
            <a:r>
              <a:t>GridMind | Deccan Renewables Pvt. Ltd. (Karnataka) | Self-Assessment Claim: D2 / F3</a:t>
            </a:r>
          </a:p>
        </p:txBody>
      </p:sp>
      <p:sp>
        <p:nvSpPr>
          <p:cNvPr id="8" name="TextBox 7"/>
          <p:cNvSpPr txBox="1"/>
          <p:nvPr/>
        </p:nvSpPr>
        <p:spPr>
          <a:xfrm>
            <a:off x="10058400" y="6382512"/>
            <a:ext cx="1401775" cy="274320"/>
          </a:xfrm>
          <a:prstGeom prst="rect">
            <a:avLst/>
          </a:prstGeom>
          <a:noFill/>
        </p:spPr>
        <p:txBody>
          <a:bodyPr wrap="none" lIns="0" tIns="0" rIns="0" bIns="0">
            <a:spAutoFit/>
          </a:bodyPr>
          <a:lstStyle/>
          <a:p>
            <a:pPr algn="r">
              <a:defRPr sz="900" b="1">
                <a:solidFill>
                  <a:srgbClr val="94A3B8"/>
                </a:solidFill>
                <a:latin typeface="Arial"/>
              </a:defRPr>
            </a:pPr>
            <a:r>
              <a:t>Slide 8 of 16</a:t>
            </a:r>
          </a:p>
        </p:txBody>
      </p:sp>
      <p:sp>
        <p:nvSpPr>
          <p:cNvPr id="9" name="Rounded Rectangle 8"/>
          <p:cNvSpPr/>
          <p:nvPr/>
        </p:nvSpPr>
        <p:spPr>
          <a:xfrm>
            <a:off x="731520" y="1645920"/>
            <a:ext cx="6309360" cy="201168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10512"/>
            <a:ext cx="5943600" cy="1682496"/>
          </a:xfrm>
          <a:prstGeom prst="rect">
            <a:avLst/>
          </a:prstGeom>
          <a:noFill/>
        </p:spPr>
        <p:txBody>
          <a:bodyPr wrap="square" lIns="0" tIns="0" rIns="0" bIns="0">
            <a:spAutoFit/>
          </a:bodyPr>
          <a:lstStyle/>
          <a:p>
            <a:pPr>
              <a:spcAft>
                <a:spcPts val="800"/>
              </a:spcAft>
              <a:defRPr sz="1300" b="1">
                <a:solidFill>
                  <a:srgbClr val="818CF8"/>
                </a:solidFill>
                <a:latin typeface="Helvetica"/>
              </a:defRPr>
            </a:pPr>
            <a:r>
              <a:t>Formal Rolling MILP Formulation (PuLP / CBC)</a:t>
            </a:r>
          </a:p>
          <a:p>
            <a:pPr>
              <a:spcAft>
                <a:spcPts val="600"/>
              </a:spcAft>
            </a:pPr>
            <a:r>
              <a:rPr sz="1050" b="1">
                <a:solidFill>
                  <a:srgbClr val="FFFFFF"/>
                </a:solidFill>
                <a:latin typeface="Arial"/>
              </a:rPr>
              <a:t>• Objective Function: </a:t>
            </a:r>
            <a:r>
              <a:rPr sz="1000">
                <a:solidFill>
                  <a:srgbClr val="94A3B8"/>
                </a:solidFill>
                <a:latin typeface="Arial"/>
              </a:rPr>
              <a:t>MIN w_cost * Cost + w_carbon * Carbon + w_curt * Curtailment + w_degr * Degradation + w_reliab * Shortfall + VOLL * Unserved_Load</a:t>
            </a:r>
          </a:p>
          <a:p>
            <a:pPr>
              <a:spcAft>
                <a:spcPts val="600"/>
              </a:spcAft>
            </a:pPr>
            <a:r>
              <a:rPr sz="1050" b="1">
                <a:solidFill>
                  <a:srgbClr val="FFFFFF"/>
                </a:solidFill>
                <a:latin typeface="Arial"/>
              </a:rPr>
              <a:t>• Physical Power Balance: </a:t>
            </a:r>
            <a:r>
              <a:rPr sz="1000">
                <a:solidFill>
                  <a:srgbClr val="94A3B8"/>
                </a:solidFill>
                <a:latin typeface="Arial"/>
              </a:rPr>
              <a:t>Sum(Gen_net) + Sum(Discharge) + Import == Sum(Demand_net) + Sum(Charge) + Export</a:t>
            </a:r>
          </a:p>
          <a:p>
            <a:pPr>
              <a:spcAft>
                <a:spcPts val="600"/>
              </a:spcAft>
            </a:pPr>
            <a:r>
              <a:rPr sz="1050" b="1">
                <a:solidFill>
                  <a:srgbClr val="FFFFFF"/>
                </a:solidFill>
                <a:latin typeface="Arial"/>
              </a:rPr>
              <a:t>• Physical Constraints: </a:t>
            </a:r>
            <a:r>
              <a:rPr sz="1000">
                <a:solidFill>
                  <a:srgbClr val="94A3B8"/>
                </a:solidFill>
                <a:latin typeface="Arial"/>
              </a:rPr>
              <a:t>BESS dynamic SoC continuity; Mutex charge/discharge; Mutex grid import/export; Line limits; 100% Critical Load floor.</a:t>
            </a:r>
          </a:p>
        </p:txBody>
      </p:sp>
      <p:sp>
        <p:nvSpPr>
          <p:cNvPr id="11" name="Rounded Rectangle 10"/>
          <p:cNvSpPr/>
          <p:nvPr/>
        </p:nvSpPr>
        <p:spPr>
          <a:xfrm>
            <a:off x="7315200" y="1645920"/>
            <a:ext cx="4144975" cy="201168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0" y="1810512"/>
            <a:ext cx="3779215" cy="1682496"/>
          </a:xfrm>
          <a:prstGeom prst="rect">
            <a:avLst/>
          </a:prstGeom>
          <a:noFill/>
        </p:spPr>
        <p:txBody>
          <a:bodyPr wrap="square" lIns="0" tIns="0" rIns="0" bIns="0">
            <a:spAutoFit/>
          </a:bodyPr>
          <a:lstStyle/>
          <a:p>
            <a:pPr>
              <a:spcAft>
                <a:spcPts val="800"/>
              </a:spcAft>
              <a:defRPr sz="1300" b="1">
                <a:solidFill>
                  <a:srgbClr val="F43F5E"/>
                </a:solidFill>
                <a:latin typeface="Helvetica"/>
              </a:defRPr>
            </a:pPr>
            <a:r>
              <a:t>Conflict Resolution Penalty Hierarchy</a:t>
            </a:r>
          </a:p>
          <a:p>
            <a:pPr>
              <a:spcAft>
                <a:spcPts val="600"/>
              </a:spcAft>
            </a:pPr>
            <a:r>
              <a:rPr sz="1050" b="1">
                <a:solidFill>
                  <a:srgbClr val="FFFFFF"/>
                </a:solidFill>
                <a:latin typeface="Arial"/>
              </a:rPr>
              <a:t>• Level 1: Critical Blackout: </a:t>
            </a:r>
            <a:r>
              <a:rPr sz="1000">
                <a:solidFill>
                  <a:srgbClr val="94A3B8"/>
                </a:solidFill>
                <a:latin typeface="Arial"/>
              </a:rPr>
              <a:t>VOLL (₹100,000/MWh) strictly dominates. Never shed critical hospital/datacenter load.</a:t>
            </a:r>
          </a:p>
          <a:p>
            <a:pPr>
              <a:spcAft>
                <a:spcPts val="600"/>
              </a:spcAft>
            </a:pPr>
            <a:r>
              <a:rPr sz="1050" b="1">
                <a:solidFill>
                  <a:srgbClr val="FFFFFF"/>
                </a:solidFill>
                <a:latin typeface="Arial"/>
              </a:rPr>
              <a:t>• Level 2: Defensive Reserves: </a:t>
            </a:r>
            <a:r>
              <a:rPr sz="1000">
                <a:solidFill>
                  <a:srgbClr val="94A3B8"/>
                </a:solidFill>
                <a:latin typeface="Arial"/>
              </a:rPr>
              <a:t>Holding storm reserves (₹25,000/MWh slack) dominates non-critical contract shortfall (₹15,000/MWh).</a:t>
            </a:r>
          </a:p>
          <a:p>
            <a:pPr>
              <a:spcAft>
                <a:spcPts val="600"/>
              </a:spcAft>
            </a:pPr>
            <a:r>
              <a:rPr sz="1050" b="1">
                <a:solidFill>
                  <a:srgbClr val="FFFFFF"/>
                </a:solidFill>
                <a:latin typeface="Arial"/>
              </a:rPr>
              <a:t>• Level 3: Contract Schedules: </a:t>
            </a:r>
            <a:r>
              <a:rPr sz="1000">
                <a:solidFill>
                  <a:srgbClr val="94A3B8"/>
                </a:solidFill>
                <a:latin typeface="Arial"/>
              </a:rPr>
              <a:t>Shortfall penalties (₹15,000/MWh) dominate market tariff spikes (₹10,000/MWh).</a:t>
            </a:r>
          </a:p>
          <a:p>
            <a:pPr>
              <a:spcAft>
                <a:spcPts val="600"/>
              </a:spcAft>
            </a:pPr>
            <a:r>
              <a:rPr sz="1050" b="1">
                <a:solidFill>
                  <a:srgbClr val="FFFFFF"/>
                </a:solidFill>
                <a:latin typeface="Arial"/>
              </a:rPr>
              <a:t>• Level 4: Cell Degradation: </a:t>
            </a:r>
            <a:r>
              <a:rPr sz="1000">
                <a:solidFill>
                  <a:srgbClr val="94A3B8"/>
                </a:solidFill>
                <a:latin typeface="Arial"/>
              </a:rPr>
              <a:t>Degradation (₹500/MWh) prevents battery cycling unless price spreads exceed efficiency losses.</a:t>
            </a:r>
          </a:p>
        </p:txBody>
      </p:sp>
      <p:graphicFrame>
        <p:nvGraphicFramePr>
          <p:cNvPr id="13" name="Table 12"/>
          <p:cNvGraphicFramePr>
            <a:graphicFrameLocks noGrp="1"/>
          </p:cNvGraphicFramePr>
          <p:nvPr/>
        </p:nvGraphicFramePr>
        <p:xfrm>
          <a:off x="731520" y="3840480"/>
          <a:ext cx="10728655" cy="2240280"/>
        </p:xfrm>
        <a:graphic>
          <a:graphicData uri="http://schemas.openxmlformats.org/drawingml/2006/table">
            <a:tbl>
              <a:tblPr firstRow="1" bandRow="1">
                <a:tableStyleId>{5C22544A-7EE6-4342-B048-85BDC9FD1C3A}</a:tableStyleId>
              </a:tblPr>
              <a:tblGrid>
                <a:gridCol w="1645920"/>
                <a:gridCol w="3291840"/>
                <a:gridCol w="822960"/>
                <a:gridCol w="914400"/>
                <a:gridCol w="914400"/>
                <a:gridCol w="914400"/>
                <a:gridCol w="914400"/>
                <a:gridCol w="1310335"/>
              </a:tblGrid>
              <a:tr h="320040">
                <a:tc>
                  <a:txBody>
                    <a:bodyPr lIns="36576" tIns="36576"/>
                    <a:lstStyle/>
                    <a:p>
                      <a:pPr>
                        <a:defRPr sz="950" b="1">
                          <a:solidFill>
                            <a:srgbClr val="38BDF8"/>
                          </a:solidFill>
                          <a:latin typeface="Helvetica"/>
                        </a:defRPr>
                      </a:pPr>
                      <a:r>
                        <a:t>Operational Mode</a:t>
                      </a:r>
                    </a:p>
                  </a:txBody>
                  <a:tcPr>
                    <a:solidFill>
                      <a:srgbClr val="2D3A5D"/>
                    </a:solidFill>
                  </a:tcPr>
                </a:tc>
                <a:tc>
                  <a:txBody>
                    <a:bodyPr lIns="36576" tIns="36576"/>
                    <a:lstStyle/>
                    <a:p>
                      <a:pPr>
                        <a:defRPr sz="950" b="1">
                          <a:solidFill>
                            <a:srgbClr val="38BDF8"/>
                          </a:solidFill>
                          <a:latin typeface="Helvetica"/>
                        </a:defRPr>
                      </a:pPr>
                      <a:r>
                        <a:t>Operational Context / Trigger</a:t>
                      </a:r>
                    </a:p>
                  </a:txBody>
                  <a:tcPr>
                    <a:solidFill>
                      <a:srgbClr val="2D3A5D"/>
                    </a:solidFill>
                  </a:tcPr>
                </a:tc>
                <a:tc>
                  <a:txBody>
                    <a:bodyPr lIns="36576" tIns="36576"/>
                    <a:lstStyle/>
                    <a:p>
                      <a:pPr>
                        <a:defRPr sz="950" b="1">
                          <a:solidFill>
                            <a:srgbClr val="38BDF8"/>
                          </a:solidFill>
                          <a:latin typeface="Helvetica"/>
                        </a:defRPr>
                      </a:pPr>
                      <a:r>
                        <a:t>Cost (w1)</a:t>
                      </a:r>
                    </a:p>
                  </a:txBody>
                  <a:tcPr>
                    <a:solidFill>
                      <a:srgbClr val="2D3A5D"/>
                    </a:solidFill>
                  </a:tcPr>
                </a:tc>
                <a:tc>
                  <a:txBody>
                    <a:bodyPr lIns="36576" tIns="36576"/>
                    <a:lstStyle/>
                    <a:p>
                      <a:pPr>
                        <a:defRPr sz="950" b="1">
                          <a:solidFill>
                            <a:srgbClr val="38BDF8"/>
                          </a:solidFill>
                          <a:latin typeface="Helvetica"/>
                        </a:defRPr>
                      </a:pPr>
                      <a:r>
                        <a:t>Carbon (w2)</a:t>
                      </a:r>
                    </a:p>
                  </a:txBody>
                  <a:tcPr>
                    <a:solidFill>
                      <a:srgbClr val="2D3A5D"/>
                    </a:solidFill>
                  </a:tcPr>
                </a:tc>
                <a:tc>
                  <a:txBody>
                    <a:bodyPr lIns="36576" tIns="36576"/>
                    <a:lstStyle/>
                    <a:p>
                      <a:pPr>
                        <a:defRPr sz="950" b="1">
                          <a:solidFill>
                            <a:srgbClr val="38BDF8"/>
                          </a:solidFill>
                          <a:latin typeface="Helvetica"/>
                        </a:defRPr>
                      </a:pPr>
                      <a:r>
                        <a:t>Curtail (w3)</a:t>
                      </a:r>
                    </a:p>
                  </a:txBody>
                  <a:tcPr>
                    <a:solidFill>
                      <a:srgbClr val="2D3A5D"/>
                    </a:solidFill>
                  </a:tcPr>
                </a:tc>
                <a:tc>
                  <a:txBody>
                    <a:bodyPr lIns="36576" tIns="36576"/>
                    <a:lstStyle/>
                    <a:p>
                      <a:pPr>
                        <a:defRPr sz="950" b="1">
                          <a:solidFill>
                            <a:srgbClr val="38BDF8"/>
                          </a:solidFill>
                          <a:latin typeface="Helvetica"/>
                        </a:defRPr>
                      </a:pPr>
                      <a:r>
                        <a:t>Degrad (w4)</a:t>
                      </a:r>
                    </a:p>
                  </a:txBody>
                  <a:tcPr>
                    <a:solidFill>
                      <a:srgbClr val="2D3A5D"/>
                    </a:solidFill>
                  </a:tcPr>
                </a:tc>
                <a:tc>
                  <a:txBody>
                    <a:bodyPr lIns="36576" tIns="36576"/>
                    <a:lstStyle/>
                    <a:p>
                      <a:pPr>
                        <a:defRPr sz="950" b="1">
                          <a:solidFill>
                            <a:srgbClr val="38BDF8"/>
                          </a:solidFill>
                          <a:latin typeface="Helvetica"/>
                        </a:defRPr>
                      </a:pPr>
                      <a:r>
                        <a:t>Reliab (w5)</a:t>
                      </a:r>
                    </a:p>
                  </a:txBody>
                  <a:tcPr>
                    <a:solidFill>
                      <a:srgbClr val="2D3A5D"/>
                    </a:solidFill>
                  </a:tcPr>
                </a:tc>
                <a:tc>
                  <a:txBody>
                    <a:bodyPr lIns="36576" tIns="36576"/>
                    <a:lstStyle/>
                    <a:p>
                      <a:pPr>
                        <a:defRPr sz="950" b="1">
                          <a:solidFill>
                            <a:srgbClr val="38BDF8"/>
                          </a:solidFill>
                          <a:latin typeface="Helvetica"/>
                        </a:defRPr>
                      </a:pPr>
                      <a:r>
                        <a:t>Reserve Floor</a:t>
                      </a:r>
                    </a:p>
                  </a:txBody>
                  <a:tcPr>
                    <a:solidFill>
                      <a:srgbClr val="2D3A5D"/>
                    </a:solidFill>
                  </a:tcPr>
                </a:tc>
              </a:tr>
              <a:tr h="320040">
                <a:tc>
                  <a:txBody>
                    <a:bodyPr lIns="36576" tIns="36576"/>
                    <a:lstStyle/>
                    <a:p>
                      <a:pPr>
                        <a:defRPr sz="900">
                          <a:solidFill>
                            <a:srgbClr val="10B981"/>
                          </a:solidFill>
                          <a:latin typeface="Arial"/>
                        </a:defRPr>
                      </a:pPr>
                      <a:r>
                        <a:t>green</a:t>
                      </a:r>
                    </a:p>
                  </a:txBody>
                  <a:tcPr>
                    <a:solidFill>
                      <a:srgbClr val="131D38"/>
                    </a:solidFill>
                  </a:tcPr>
                </a:tc>
                <a:tc>
                  <a:txBody>
                    <a:bodyPr lIns="36576" tIns="36576"/>
                    <a:lstStyle/>
                    <a:p>
                      <a:pPr>
                        <a:defRPr sz="900">
                          <a:solidFill>
                            <a:srgbClr val="94A3B8"/>
                          </a:solidFill>
                          <a:latin typeface="Arial"/>
                        </a:defRPr>
                      </a:pPr>
                      <a:r>
                        <a:t>High solar/wind midday; low market price</a:t>
                      </a:r>
                    </a:p>
                  </a:txBody>
                  <a:tcPr>
                    <a:solidFill>
                      <a:srgbClr val="131D38"/>
                    </a:solidFill>
                  </a:tcPr>
                </a:tc>
                <a:tc>
                  <a:txBody>
                    <a:bodyPr lIns="36576" tIns="36576"/>
                    <a:lstStyle/>
                    <a:p>
                      <a:pPr>
                        <a:defRPr sz="900">
                          <a:solidFill>
                            <a:srgbClr val="FFFFFF"/>
                          </a:solidFill>
                          <a:latin typeface="Arial"/>
                        </a:defRPr>
                      </a:pPr>
                      <a:r>
                        <a:t>1.0</a:t>
                      </a:r>
                    </a:p>
                  </a:txBody>
                  <a:tcPr>
                    <a:solidFill>
                      <a:srgbClr val="131D38"/>
                    </a:solidFill>
                  </a:tcPr>
                </a:tc>
                <a:tc>
                  <a:txBody>
                    <a:bodyPr lIns="36576" tIns="36576"/>
                    <a:lstStyle/>
                    <a:p>
                      <a:pPr>
                        <a:defRPr sz="900">
                          <a:solidFill>
                            <a:srgbClr val="FFFFFF"/>
                          </a:solidFill>
                          <a:latin typeface="Arial"/>
                        </a:defRPr>
                      </a:pPr>
                      <a:r>
                        <a:t>2.5</a:t>
                      </a:r>
                    </a:p>
                  </a:txBody>
                  <a:tcPr>
                    <a:solidFill>
                      <a:srgbClr val="131D38"/>
                    </a:solidFill>
                  </a:tcPr>
                </a:tc>
                <a:tc>
                  <a:txBody>
                    <a:bodyPr lIns="36576" tIns="36576"/>
                    <a:lstStyle/>
                    <a:p>
                      <a:pPr>
                        <a:defRPr sz="900">
                          <a:solidFill>
                            <a:srgbClr val="FFFFFF"/>
                          </a:solidFill>
                          <a:latin typeface="Arial"/>
                        </a:defRPr>
                      </a:pPr>
                      <a:r>
                        <a:t>3.0</a:t>
                      </a:r>
                    </a:p>
                  </a:txBody>
                  <a:tcPr>
                    <a:solidFill>
                      <a:srgbClr val="131D38"/>
                    </a:solidFill>
                  </a:tcPr>
                </a:tc>
                <a:tc>
                  <a:txBody>
                    <a:bodyPr lIns="36576" tIns="36576"/>
                    <a:lstStyle/>
                    <a:p>
                      <a:pPr>
                        <a:defRPr sz="900">
                          <a:solidFill>
                            <a:srgbClr val="FFFFFF"/>
                          </a:solidFill>
                          <a:latin typeface="Arial"/>
                        </a:defRPr>
                      </a:pPr>
                      <a:r>
                        <a:t>0.8</a:t>
                      </a:r>
                    </a:p>
                  </a:txBody>
                  <a:tcPr>
                    <a:solidFill>
                      <a:srgbClr val="131D38"/>
                    </a:solidFill>
                  </a:tcPr>
                </a:tc>
                <a:tc>
                  <a:txBody>
                    <a:bodyPr lIns="36576" tIns="36576"/>
                    <a:lstStyle/>
                    <a:p>
                      <a:pPr>
                        <a:defRPr sz="900">
                          <a:solidFill>
                            <a:srgbClr val="FFFFFF"/>
                          </a:solidFill>
                          <a:latin typeface="Arial"/>
                        </a:defRPr>
                      </a:pPr>
                      <a:r>
                        <a:t>3.0</a:t>
                      </a:r>
                    </a:p>
                  </a:txBody>
                  <a:tcPr>
                    <a:solidFill>
                      <a:srgbClr val="131D38"/>
                    </a:solidFill>
                  </a:tcPr>
                </a:tc>
                <a:tc>
                  <a:txBody>
                    <a:bodyPr lIns="36576" tIns="36576"/>
                    <a:lstStyle/>
                    <a:p>
                      <a:pPr>
                        <a:defRPr sz="900">
                          <a:solidFill>
                            <a:srgbClr val="FFFFFF"/>
                          </a:solidFill>
                          <a:latin typeface="Arial"/>
                        </a:defRPr>
                      </a:pPr>
                      <a:r>
                        <a:t>15%</a:t>
                      </a:r>
                    </a:p>
                  </a:txBody>
                  <a:tcPr>
                    <a:solidFill>
                      <a:srgbClr val="131D38"/>
                    </a:solidFill>
                  </a:tcPr>
                </a:tc>
              </a:tr>
              <a:tr h="320040">
                <a:tc>
                  <a:txBody>
                    <a:bodyPr lIns="36576" tIns="36576"/>
                    <a:lstStyle/>
                    <a:p>
                      <a:pPr>
                        <a:defRPr sz="900">
                          <a:solidFill>
                            <a:srgbClr val="10B981"/>
                          </a:solidFill>
                          <a:latin typeface="Arial"/>
                        </a:defRPr>
                      </a:pPr>
                      <a:r>
                        <a:t>economic</a:t>
                      </a:r>
                    </a:p>
                  </a:txBody>
                  <a:tcPr>
                    <a:solidFill>
                      <a:srgbClr val="0F172A"/>
                    </a:solidFill>
                  </a:tcPr>
                </a:tc>
                <a:tc>
                  <a:txBody>
                    <a:bodyPr lIns="36576" tIns="36576"/>
                    <a:lstStyle/>
                    <a:p>
                      <a:pPr>
                        <a:defRPr sz="900">
                          <a:solidFill>
                            <a:srgbClr val="94A3B8"/>
                          </a:solidFill>
                          <a:latin typeface="Arial"/>
                        </a:defRPr>
                      </a:pPr>
                      <a:r>
                        <a:t>High price spread (&gt;₹6/kWh); normal grid</a:t>
                      </a:r>
                    </a:p>
                  </a:txBody>
                  <a:tcPr>
                    <a:solidFill>
                      <a:srgbClr val="0F172A"/>
                    </a:solidFill>
                  </a:tcPr>
                </a:tc>
                <a:tc>
                  <a:txBody>
                    <a:bodyPr lIns="36576" tIns="36576"/>
                    <a:lstStyle/>
                    <a:p>
                      <a:pPr>
                        <a:defRPr sz="900">
                          <a:solidFill>
                            <a:srgbClr val="FFFFFF"/>
                          </a:solidFill>
                          <a:latin typeface="Arial"/>
                        </a:defRPr>
                      </a:pPr>
                      <a:r>
                        <a:t>3.5</a:t>
                      </a:r>
                    </a:p>
                  </a:txBody>
                  <a:tcPr>
                    <a:solidFill>
                      <a:srgbClr val="0F172A"/>
                    </a:solidFill>
                  </a:tcPr>
                </a:tc>
                <a:tc>
                  <a:txBody>
                    <a:bodyPr lIns="36576" tIns="36576"/>
                    <a:lstStyle/>
                    <a:p>
                      <a:pPr>
                        <a:defRPr sz="900">
                          <a:solidFill>
                            <a:srgbClr val="FFFFFF"/>
                          </a:solidFill>
                          <a:latin typeface="Arial"/>
                        </a:defRPr>
                      </a:pPr>
                      <a:r>
                        <a:t>0.8</a:t>
                      </a:r>
                    </a:p>
                  </a:txBody>
                  <a:tcPr>
                    <a:solidFill>
                      <a:srgbClr val="0F172A"/>
                    </a:solidFill>
                  </a:tcPr>
                </a:tc>
                <a:tc>
                  <a:txBody>
                    <a:bodyPr lIns="36576" tIns="36576"/>
                    <a:lstStyle/>
                    <a:p>
                      <a:pPr>
                        <a:defRPr sz="900">
                          <a:solidFill>
                            <a:srgbClr val="FFFFFF"/>
                          </a:solidFill>
                          <a:latin typeface="Arial"/>
                        </a:defRPr>
                      </a:pPr>
                      <a:r>
                        <a:t>1.0</a:t>
                      </a:r>
                    </a:p>
                  </a:txBody>
                  <a:tcPr>
                    <a:solidFill>
                      <a:srgbClr val="0F172A"/>
                    </a:solidFill>
                  </a:tcPr>
                </a:tc>
                <a:tc>
                  <a:txBody>
                    <a:bodyPr lIns="36576" tIns="36576"/>
                    <a:lstStyle/>
                    <a:p>
                      <a:pPr>
                        <a:defRPr sz="900">
                          <a:solidFill>
                            <a:srgbClr val="FFFFFF"/>
                          </a:solidFill>
                          <a:latin typeface="Arial"/>
                        </a:defRPr>
                      </a:pPr>
                      <a:r>
                        <a:t>1.2</a:t>
                      </a:r>
                    </a:p>
                  </a:txBody>
                  <a:tcPr>
                    <a:solidFill>
                      <a:srgbClr val="0F172A"/>
                    </a:solidFill>
                  </a:tcPr>
                </a:tc>
                <a:tc>
                  <a:txBody>
                    <a:bodyPr lIns="36576" tIns="36576"/>
                    <a:lstStyle/>
                    <a:p>
                      <a:pPr>
                        <a:defRPr sz="900">
                          <a:solidFill>
                            <a:srgbClr val="FFFFFF"/>
                          </a:solidFill>
                          <a:latin typeface="Arial"/>
                        </a:defRPr>
                      </a:pPr>
                      <a:r>
                        <a:t>2.5</a:t>
                      </a:r>
                    </a:p>
                  </a:txBody>
                  <a:tcPr>
                    <a:solidFill>
                      <a:srgbClr val="0F172A"/>
                    </a:solidFill>
                  </a:tcPr>
                </a:tc>
                <a:tc>
                  <a:txBody>
                    <a:bodyPr lIns="36576" tIns="36576"/>
                    <a:lstStyle/>
                    <a:p>
                      <a:pPr>
                        <a:defRPr sz="900">
                          <a:solidFill>
                            <a:srgbClr val="FFFFFF"/>
                          </a:solidFill>
                          <a:latin typeface="Arial"/>
                        </a:defRPr>
                      </a:pPr>
                      <a:r>
                        <a:t>10%</a:t>
                      </a:r>
                    </a:p>
                  </a:txBody>
                  <a:tcPr>
                    <a:solidFill>
                      <a:srgbClr val="0F172A"/>
                    </a:solidFill>
                  </a:tcPr>
                </a:tc>
              </a:tr>
              <a:tr h="320040">
                <a:tc>
                  <a:txBody>
                    <a:bodyPr lIns="36576" tIns="36576"/>
                    <a:lstStyle/>
                    <a:p>
                      <a:pPr>
                        <a:defRPr sz="900">
                          <a:solidFill>
                            <a:srgbClr val="10B981"/>
                          </a:solidFill>
                          <a:latin typeface="Arial"/>
                        </a:defRPr>
                      </a:pPr>
                      <a:r>
                        <a:t>reliability_first</a:t>
                      </a:r>
                    </a:p>
                  </a:txBody>
                  <a:tcPr>
                    <a:solidFill>
                      <a:srgbClr val="131D38"/>
                    </a:solidFill>
                  </a:tcPr>
                </a:tc>
                <a:tc>
                  <a:txBody>
                    <a:bodyPr lIns="36576" tIns="36576"/>
                    <a:lstStyle/>
                    <a:p>
                      <a:pPr>
                        <a:defRPr sz="900">
                          <a:solidFill>
                            <a:srgbClr val="94A3B8"/>
                          </a:solidFill>
                          <a:latin typeface="Arial"/>
                        </a:defRPr>
                      </a:pPr>
                      <a:r>
                        <a:t>Forecast deficit; unhedged industrial demand</a:t>
                      </a:r>
                    </a:p>
                  </a:txBody>
                  <a:tcPr>
                    <a:solidFill>
                      <a:srgbClr val="131D38"/>
                    </a:solidFill>
                  </a:tcPr>
                </a:tc>
                <a:tc>
                  <a:txBody>
                    <a:bodyPr lIns="36576" tIns="36576"/>
                    <a:lstStyle/>
                    <a:p>
                      <a:pPr>
                        <a:defRPr sz="900">
                          <a:solidFill>
                            <a:srgbClr val="FFFFFF"/>
                          </a:solidFill>
                          <a:latin typeface="Arial"/>
                        </a:defRPr>
                      </a:pPr>
                      <a:r>
                        <a:t>1.0</a:t>
                      </a:r>
                    </a:p>
                  </a:txBody>
                  <a:tcPr>
                    <a:solidFill>
                      <a:srgbClr val="131D38"/>
                    </a:solidFill>
                  </a:tcPr>
                </a:tc>
                <a:tc>
                  <a:txBody>
                    <a:bodyPr lIns="36576" tIns="36576"/>
                    <a:lstStyle/>
                    <a:p>
                      <a:pPr>
                        <a:defRPr sz="900">
                          <a:solidFill>
                            <a:srgbClr val="FFFFFF"/>
                          </a:solidFill>
                          <a:latin typeface="Arial"/>
                        </a:defRPr>
                      </a:pPr>
                      <a:r>
                        <a:t>0.5</a:t>
                      </a:r>
                    </a:p>
                  </a:txBody>
                  <a:tcPr>
                    <a:solidFill>
                      <a:srgbClr val="131D38"/>
                    </a:solidFill>
                  </a:tcPr>
                </a:tc>
                <a:tc>
                  <a:txBody>
                    <a:bodyPr lIns="36576" tIns="36576"/>
                    <a:lstStyle/>
                    <a:p>
                      <a:pPr>
                        <a:defRPr sz="900">
                          <a:solidFill>
                            <a:srgbClr val="FFFFFF"/>
                          </a:solidFill>
                          <a:latin typeface="Arial"/>
                        </a:defRPr>
                      </a:pPr>
                      <a:r>
                        <a:t>0.5</a:t>
                      </a:r>
                    </a:p>
                  </a:txBody>
                  <a:tcPr>
                    <a:solidFill>
                      <a:srgbClr val="131D38"/>
                    </a:solidFill>
                  </a:tcPr>
                </a:tc>
                <a:tc>
                  <a:txBody>
                    <a:bodyPr lIns="36576" tIns="36576"/>
                    <a:lstStyle/>
                    <a:p>
                      <a:pPr>
                        <a:defRPr sz="900">
                          <a:solidFill>
                            <a:srgbClr val="FFFFFF"/>
                          </a:solidFill>
                          <a:latin typeface="Arial"/>
                        </a:defRPr>
                      </a:pPr>
                      <a:r>
                        <a:t>0.5</a:t>
                      </a:r>
                    </a:p>
                  </a:txBody>
                  <a:tcPr>
                    <a:solidFill>
                      <a:srgbClr val="131D38"/>
                    </a:solidFill>
                  </a:tcPr>
                </a:tc>
                <a:tc>
                  <a:txBody>
                    <a:bodyPr lIns="36576" tIns="36576"/>
                    <a:lstStyle/>
                    <a:p>
                      <a:pPr>
                        <a:defRPr sz="900">
                          <a:solidFill>
                            <a:srgbClr val="FFFFFF"/>
                          </a:solidFill>
                          <a:latin typeface="Arial"/>
                        </a:defRPr>
                      </a:pPr>
                      <a:r>
                        <a:t>5.0</a:t>
                      </a:r>
                    </a:p>
                  </a:txBody>
                  <a:tcPr>
                    <a:solidFill>
                      <a:srgbClr val="131D38"/>
                    </a:solidFill>
                  </a:tcPr>
                </a:tc>
                <a:tc>
                  <a:txBody>
                    <a:bodyPr lIns="36576" tIns="36576"/>
                    <a:lstStyle/>
                    <a:p>
                      <a:pPr>
                        <a:defRPr sz="900">
                          <a:solidFill>
                            <a:srgbClr val="FFFFFF"/>
                          </a:solidFill>
                          <a:latin typeface="Arial"/>
                        </a:defRPr>
                      </a:pPr>
                      <a:r>
                        <a:t>35%</a:t>
                      </a:r>
                    </a:p>
                  </a:txBody>
                  <a:tcPr>
                    <a:solidFill>
                      <a:srgbClr val="131D38"/>
                    </a:solidFill>
                  </a:tcPr>
                </a:tc>
              </a:tr>
              <a:tr h="320040">
                <a:tc>
                  <a:txBody>
                    <a:bodyPr lIns="36576" tIns="36576"/>
                    <a:lstStyle/>
                    <a:p>
                      <a:pPr>
                        <a:defRPr sz="900">
                          <a:solidFill>
                            <a:srgbClr val="10B981"/>
                          </a:solidFill>
                          <a:latin typeface="Arial"/>
                        </a:defRPr>
                      </a:pPr>
                      <a:r>
                        <a:t>storm_preparation</a:t>
                      </a:r>
                    </a:p>
                  </a:txBody>
                  <a:tcPr>
                    <a:solidFill>
                      <a:srgbClr val="0F172A"/>
                    </a:solidFill>
                  </a:tcPr>
                </a:tc>
                <a:tc>
                  <a:txBody>
                    <a:bodyPr lIns="36576" tIns="36576"/>
                    <a:lstStyle/>
                    <a:p>
                      <a:pPr>
                        <a:defRPr sz="900">
                          <a:solidFill>
                            <a:srgbClr val="94A3B8"/>
                          </a:solidFill>
                          <a:latin typeface="Arial"/>
                        </a:defRPr>
                      </a:pPr>
                      <a:r>
                        <a:t>Severe cyclone or weather warning detected</a:t>
                      </a:r>
                    </a:p>
                  </a:txBody>
                  <a:tcPr>
                    <a:solidFill>
                      <a:srgbClr val="0F172A"/>
                    </a:solidFill>
                  </a:tcPr>
                </a:tc>
                <a:tc>
                  <a:txBody>
                    <a:bodyPr lIns="36576" tIns="36576"/>
                    <a:lstStyle/>
                    <a:p>
                      <a:pPr>
                        <a:defRPr sz="900">
                          <a:solidFill>
                            <a:srgbClr val="FFFFFF"/>
                          </a:solidFill>
                          <a:latin typeface="Arial"/>
                        </a:defRPr>
                      </a:pPr>
                      <a:r>
                        <a:t>0.5</a:t>
                      </a:r>
                    </a:p>
                  </a:txBody>
                  <a:tcPr>
                    <a:solidFill>
                      <a:srgbClr val="0F172A"/>
                    </a:solidFill>
                  </a:tcPr>
                </a:tc>
                <a:tc>
                  <a:txBody>
                    <a:bodyPr lIns="36576" tIns="36576"/>
                    <a:lstStyle/>
                    <a:p>
                      <a:pPr>
                        <a:defRPr sz="900">
                          <a:solidFill>
                            <a:srgbClr val="FFFFFF"/>
                          </a:solidFill>
                          <a:latin typeface="Arial"/>
                        </a:defRPr>
                      </a:pPr>
                      <a:r>
                        <a:t>0.5</a:t>
                      </a:r>
                    </a:p>
                  </a:txBody>
                  <a:tcPr>
                    <a:solidFill>
                      <a:srgbClr val="0F172A"/>
                    </a:solidFill>
                  </a:tcPr>
                </a:tc>
                <a:tc>
                  <a:txBody>
                    <a:bodyPr lIns="36576" tIns="36576"/>
                    <a:lstStyle/>
                    <a:p>
                      <a:pPr>
                        <a:defRPr sz="900">
                          <a:solidFill>
                            <a:srgbClr val="FFFFFF"/>
                          </a:solidFill>
                          <a:latin typeface="Arial"/>
                        </a:defRPr>
                      </a:pPr>
                      <a:r>
                        <a:t>0.5</a:t>
                      </a:r>
                    </a:p>
                  </a:txBody>
                  <a:tcPr>
                    <a:solidFill>
                      <a:srgbClr val="0F172A"/>
                    </a:solidFill>
                  </a:tcPr>
                </a:tc>
                <a:tc>
                  <a:txBody>
                    <a:bodyPr lIns="36576" tIns="36576"/>
                    <a:lstStyle/>
                    <a:p>
                      <a:pPr>
                        <a:defRPr sz="900">
                          <a:solidFill>
                            <a:srgbClr val="FFFFFF"/>
                          </a:solidFill>
                          <a:latin typeface="Arial"/>
                        </a:defRPr>
                      </a:pPr>
                      <a:r>
                        <a:t>0.5</a:t>
                      </a:r>
                    </a:p>
                  </a:txBody>
                  <a:tcPr>
                    <a:solidFill>
                      <a:srgbClr val="0F172A"/>
                    </a:solidFill>
                  </a:tcPr>
                </a:tc>
                <a:tc>
                  <a:txBody>
                    <a:bodyPr lIns="36576" tIns="36576"/>
                    <a:lstStyle/>
                    <a:p>
                      <a:pPr>
                        <a:defRPr sz="900">
                          <a:solidFill>
                            <a:srgbClr val="FFFFFF"/>
                          </a:solidFill>
                          <a:latin typeface="Arial"/>
                        </a:defRPr>
                      </a:pPr>
                      <a:r>
                        <a:t>5.0</a:t>
                      </a:r>
                    </a:p>
                  </a:txBody>
                  <a:tcPr>
                    <a:solidFill>
                      <a:srgbClr val="0F172A"/>
                    </a:solidFill>
                  </a:tcPr>
                </a:tc>
                <a:tc>
                  <a:txBody>
                    <a:bodyPr lIns="36576" tIns="36576"/>
                    <a:lstStyle/>
                    <a:p>
                      <a:pPr>
                        <a:defRPr sz="900">
                          <a:solidFill>
                            <a:srgbClr val="FFFFFF"/>
                          </a:solidFill>
                          <a:latin typeface="Arial"/>
                        </a:defRPr>
                      </a:pPr>
                      <a:r>
                        <a:t>60%</a:t>
                      </a:r>
                    </a:p>
                  </a:txBody>
                  <a:tcPr>
                    <a:solidFill>
                      <a:srgbClr val="0F172A"/>
                    </a:solidFill>
                  </a:tcPr>
                </a:tc>
              </a:tr>
              <a:tr h="320040">
                <a:tc>
                  <a:txBody>
                    <a:bodyPr lIns="36576" tIns="36576"/>
                    <a:lstStyle/>
                    <a:p>
                      <a:pPr>
                        <a:defRPr sz="900">
                          <a:solidFill>
                            <a:srgbClr val="10B981"/>
                          </a:solidFill>
                          <a:latin typeface="Arial"/>
                        </a:defRPr>
                      </a:pPr>
                      <a:r>
                        <a:t>outage_recovery</a:t>
                      </a:r>
                    </a:p>
                  </a:txBody>
                  <a:tcPr>
                    <a:solidFill>
                      <a:srgbClr val="131D38"/>
                    </a:solidFill>
                  </a:tcPr>
                </a:tc>
                <a:tc>
                  <a:txBody>
                    <a:bodyPr lIns="36576" tIns="36576"/>
                    <a:lstStyle/>
                    <a:p>
                      <a:pPr>
                        <a:defRPr sz="900">
                          <a:solidFill>
                            <a:srgbClr val="94A3B8"/>
                          </a:solidFill>
                          <a:latin typeface="Arial"/>
                        </a:defRPr>
                      </a:pPr>
                      <a:r>
                        <a:t>Tripped inverter or derated transmission line</a:t>
                      </a:r>
                    </a:p>
                  </a:txBody>
                  <a:tcPr>
                    <a:solidFill>
                      <a:srgbClr val="131D38"/>
                    </a:solidFill>
                  </a:tcPr>
                </a:tc>
                <a:tc>
                  <a:txBody>
                    <a:bodyPr lIns="36576" tIns="36576"/>
                    <a:lstStyle/>
                    <a:p>
                      <a:pPr>
                        <a:defRPr sz="900">
                          <a:solidFill>
                            <a:srgbClr val="FFFFFF"/>
                          </a:solidFill>
                          <a:latin typeface="Arial"/>
                        </a:defRPr>
                      </a:pPr>
                      <a:r>
                        <a:t>1.2</a:t>
                      </a:r>
                    </a:p>
                  </a:txBody>
                  <a:tcPr>
                    <a:solidFill>
                      <a:srgbClr val="131D38"/>
                    </a:solidFill>
                  </a:tcPr>
                </a:tc>
                <a:tc>
                  <a:txBody>
                    <a:bodyPr lIns="36576" tIns="36576"/>
                    <a:lstStyle/>
                    <a:p>
                      <a:pPr>
                        <a:defRPr sz="900">
                          <a:solidFill>
                            <a:srgbClr val="FFFFFF"/>
                          </a:solidFill>
                          <a:latin typeface="Arial"/>
                        </a:defRPr>
                      </a:pPr>
                      <a:r>
                        <a:t>1.0</a:t>
                      </a:r>
                    </a:p>
                  </a:txBody>
                  <a:tcPr>
                    <a:solidFill>
                      <a:srgbClr val="131D38"/>
                    </a:solidFill>
                  </a:tcPr>
                </a:tc>
                <a:tc>
                  <a:txBody>
                    <a:bodyPr lIns="36576" tIns="36576"/>
                    <a:lstStyle/>
                    <a:p>
                      <a:pPr>
                        <a:defRPr sz="900">
                          <a:solidFill>
                            <a:srgbClr val="FFFFFF"/>
                          </a:solidFill>
                          <a:latin typeface="Arial"/>
                        </a:defRPr>
                      </a:pPr>
                      <a:r>
                        <a:t>1.0</a:t>
                      </a:r>
                    </a:p>
                  </a:txBody>
                  <a:tcPr>
                    <a:solidFill>
                      <a:srgbClr val="131D38"/>
                    </a:solidFill>
                  </a:tcPr>
                </a:tc>
                <a:tc>
                  <a:txBody>
                    <a:bodyPr lIns="36576" tIns="36576"/>
                    <a:lstStyle/>
                    <a:p>
                      <a:pPr>
                        <a:defRPr sz="900">
                          <a:solidFill>
                            <a:srgbClr val="FFFFFF"/>
                          </a:solidFill>
                          <a:latin typeface="Arial"/>
                        </a:defRPr>
                      </a:pPr>
                      <a:r>
                        <a:t>0.5</a:t>
                      </a:r>
                    </a:p>
                  </a:txBody>
                  <a:tcPr>
                    <a:solidFill>
                      <a:srgbClr val="131D38"/>
                    </a:solidFill>
                  </a:tcPr>
                </a:tc>
                <a:tc>
                  <a:txBody>
                    <a:bodyPr lIns="36576" tIns="36576"/>
                    <a:lstStyle/>
                    <a:p>
                      <a:pPr>
                        <a:defRPr sz="900">
                          <a:solidFill>
                            <a:srgbClr val="FFFFFF"/>
                          </a:solidFill>
                          <a:latin typeface="Arial"/>
                        </a:defRPr>
                      </a:pPr>
                      <a:r>
                        <a:t>4.5</a:t>
                      </a:r>
                    </a:p>
                  </a:txBody>
                  <a:tcPr>
                    <a:solidFill>
                      <a:srgbClr val="131D38"/>
                    </a:solidFill>
                  </a:tcPr>
                </a:tc>
                <a:tc>
                  <a:txBody>
                    <a:bodyPr lIns="36576" tIns="36576"/>
                    <a:lstStyle/>
                    <a:p>
                      <a:pPr>
                        <a:defRPr sz="900">
                          <a:solidFill>
                            <a:srgbClr val="FFFFFF"/>
                          </a:solidFill>
                          <a:latin typeface="Arial"/>
                        </a:defRPr>
                      </a:pPr>
                      <a:r>
                        <a:t>35%</a:t>
                      </a:r>
                    </a:p>
                  </a:txBody>
                  <a:tcPr>
                    <a:solidFill>
                      <a:srgbClr val="131D38"/>
                    </a:solidFill>
                  </a:tcPr>
                </a:tc>
              </a:tr>
              <a:tr h="320040">
                <a:tc>
                  <a:txBody>
                    <a:bodyPr lIns="36576" tIns="36576"/>
                    <a:lstStyle/>
                    <a:p>
                      <a:pPr>
                        <a:defRPr sz="900">
                          <a:solidFill>
                            <a:srgbClr val="10B981"/>
                          </a:solidFill>
                          <a:latin typeface="Arial"/>
                        </a:defRPr>
                      </a:pPr>
                      <a:r>
                        <a:t>congestion_mgmt</a:t>
                      </a:r>
                    </a:p>
                  </a:txBody>
                  <a:tcPr>
                    <a:solidFill>
                      <a:srgbClr val="0F172A"/>
                    </a:solidFill>
                  </a:tcPr>
                </a:tc>
                <a:tc>
                  <a:txBody>
                    <a:bodyPr lIns="36576" tIns="36576"/>
                    <a:lstStyle/>
                    <a:p>
                      <a:pPr>
                        <a:defRPr sz="900">
                          <a:solidFill>
                            <a:srgbClr val="94A3B8"/>
                          </a:solidFill>
                          <a:latin typeface="Arial"/>
                        </a:defRPr>
                      </a:pPr>
                      <a:r>
                        <a:t>Local substation thermal limit reached</a:t>
                      </a:r>
                    </a:p>
                  </a:txBody>
                  <a:tcPr>
                    <a:solidFill>
                      <a:srgbClr val="0F172A"/>
                    </a:solidFill>
                  </a:tcPr>
                </a:tc>
                <a:tc>
                  <a:txBody>
                    <a:bodyPr lIns="36576" tIns="36576"/>
                    <a:lstStyle/>
                    <a:p>
                      <a:pPr>
                        <a:defRPr sz="900">
                          <a:solidFill>
                            <a:srgbClr val="FFFFFF"/>
                          </a:solidFill>
                          <a:latin typeface="Arial"/>
                        </a:defRPr>
                      </a:pPr>
                      <a:r>
                        <a:t>2.0</a:t>
                      </a:r>
                    </a:p>
                  </a:txBody>
                  <a:tcPr>
                    <a:solidFill>
                      <a:srgbClr val="0F172A"/>
                    </a:solidFill>
                  </a:tcPr>
                </a:tc>
                <a:tc>
                  <a:txBody>
                    <a:bodyPr lIns="36576" tIns="36576"/>
                    <a:lstStyle/>
                    <a:p>
                      <a:pPr>
                        <a:defRPr sz="900">
                          <a:solidFill>
                            <a:srgbClr val="FFFFFF"/>
                          </a:solidFill>
                          <a:latin typeface="Arial"/>
                        </a:defRPr>
                      </a:pPr>
                      <a:r>
                        <a:t>1.0</a:t>
                      </a:r>
                    </a:p>
                  </a:txBody>
                  <a:tcPr>
                    <a:solidFill>
                      <a:srgbClr val="0F172A"/>
                    </a:solidFill>
                  </a:tcPr>
                </a:tc>
                <a:tc>
                  <a:txBody>
                    <a:bodyPr lIns="36576" tIns="36576"/>
                    <a:lstStyle/>
                    <a:p>
                      <a:pPr>
                        <a:defRPr sz="900">
                          <a:solidFill>
                            <a:srgbClr val="FFFFFF"/>
                          </a:solidFill>
                          <a:latin typeface="Arial"/>
                        </a:defRPr>
                      </a:pPr>
                      <a:r>
                        <a:t>3.0</a:t>
                      </a:r>
                    </a:p>
                  </a:txBody>
                  <a:tcPr>
                    <a:solidFill>
                      <a:srgbClr val="0F172A"/>
                    </a:solidFill>
                  </a:tcPr>
                </a:tc>
                <a:tc>
                  <a:txBody>
                    <a:bodyPr lIns="36576" tIns="36576"/>
                    <a:lstStyle/>
                    <a:p>
                      <a:pPr>
                        <a:defRPr sz="900">
                          <a:solidFill>
                            <a:srgbClr val="FFFFFF"/>
                          </a:solidFill>
                          <a:latin typeface="Arial"/>
                        </a:defRPr>
                      </a:pPr>
                      <a:r>
                        <a:t>0.8</a:t>
                      </a:r>
                    </a:p>
                  </a:txBody>
                  <a:tcPr>
                    <a:solidFill>
                      <a:srgbClr val="0F172A"/>
                    </a:solidFill>
                  </a:tcPr>
                </a:tc>
                <a:tc>
                  <a:txBody>
                    <a:bodyPr lIns="36576" tIns="36576"/>
                    <a:lstStyle/>
                    <a:p>
                      <a:pPr>
                        <a:defRPr sz="900">
                          <a:solidFill>
                            <a:srgbClr val="FFFFFF"/>
                          </a:solidFill>
                          <a:latin typeface="Arial"/>
                        </a:defRPr>
                      </a:pPr>
                      <a:r>
                        <a:t>3.5</a:t>
                      </a:r>
                    </a:p>
                  </a:txBody>
                  <a:tcPr>
                    <a:solidFill>
                      <a:srgbClr val="0F172A"/>
                    </a:solidFill>
                  </a:tcPr>
                </a:tc>
                <a:tc>
                  <a:txBody>
                    <a:bodyPr lIns="36576" tIns="36576"/>
                    <a:lstStyle/>
                    <a:p>
                      <a:pPr>
                        <a:defRPr sz="900">
                          <a:solidFill>
                            <a:srgbClr val="FFFFFF"/>
                          </a:solidFill>
                          <a:latin typeface="Arial"/>
                        </a:defRPr>
                      </a:pPr>
                      <a:r>
                        <a:t>20%</a:t>
                      </a:r>
                    </a:p>
                  </a:txBody>
                  <a:tcPr>
                    <a:solidFill>
                      <a:srgbClr val="0F172A"/>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950" b="1">
                <a:solidFill>
                  <a:srgbClr val="38BDF8"/>
                </a:solidFill>
                <a:latin typeface="Helvetica"/>
              </a:defRPr>
            </a:pPr>
            <a:r>
              <a:t>UNCERTAINTY &amp; ROLLING OPTIMIZATION</a:t>
            </a:r>
          </a:p>
        </p:txBody>
      </p:sp>
      <p:sp>
        <p:nvSpPr>
          <p:cNvPr id="4" name="TextBox 3"/>
          <p:cNvSpPr txBox="1"/>
          <p:nvPr/>
        </p:nvSpPr>
        <p:spPr>
          <a:xfrm>
            <a:off x="731520" y="640080"/>
            <a:ext cx="10698480" cy="502920"/>
          </a:xfrm>
          <a:prstGeom prst="rect">
            <a:avLst/>
          </a:prstGeom>
          <a:noFill/>
        </p:spPr>
        <p:txBody>
          <a:bodyPr wrap="square" lIns="0" tIns="0" rIns="0" bIns="0">
            <a:spAutoFit/>
          </a:bodyPr>
          <a:lstStyle/>
          <a:p>
            <a:pPr>
              <a:defRPr sz="2200" b="1">
                <a:solidFill>
                  <a:srgbClr val="FFFFFF"/>
                </a:solidFill>
                <a:latin typeface="Helvetica"/>
              </a:defRPr>
            </a:pPr>
            <a:r>
              <a:t>3-Tier Uncertainty Handling &amp; Model Predictive Control</a:t>
            </a:r>
          </a:p>
        </p:txBody>
      </p:sp>
      <p:sp>
        <p:nvSpPr>
          <p:cNvPr id="5" name="TextBox 4"/>
          <p:cNvSpPr txBox="1"/>
          <p:nvPr/>
        </p:nvSpPr>
        <p:spPr>
          <a:xfrm>
            <a:off x="731520" y="1170432"/>
            <a:ext cx="10698480" cy="365760"/>
          </a:xfrm>
          <a:prstGeom prst="rect">
            <a:avLst/>
          </a:prstGeom>
          <a:noFill/>
        </p:spPr>
        <p:txBody>
          <a:bodyPr wrap="square" lIns="0" tIns="0" rIns="0" bIns="0">
            <a:spAutoFit/>
          </a:bodyPr>
          <a:lstStyle/>
          <a:p>
            <a:pPr>
              <a:defRPr sz="1200">
                <a:solidFill>
                  <a:srgbClr val="94A3B8"/>
                </a:solidFill>
                <a:latin typeface="Arial"/>
              </a:defRPr>
            </a:pPr>
            <a:r>
              <a:t>How GridMind eliminates forecast drift and evaluates tail risk across dynamic weather regimes</a:t>
            </a:r>
          </a:p>
        </p:txBody>
      </p:sp>
      <p:sp>
        <p:nvSpPr>
          <p:cNvPr id="6" name="Rectangle 5"/>
          <p:cNvSpPr/>
          <p:nvPr/>
        </p:nvSpPr>
        <p:spPr>
          <a:xfrm>
            <a:off x="731520" y="6309360"/>
            <a:ext cx="10728655" cy="13716"/>
          </a:xfrm>
          <a:prstGeom prst="rect">
            <a:avLst/>
          </a:prstGeom>
          <a:solidFill>
            <a:srgbClr val="2D3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8229600" cy="274320"/>
          </a:xfrm>
          <a:prstGeom prst="rect">
            <a:avLst/>
          </a:prstGeom>
          <a:noFill/>
        </p:spPr>
        <p:txBody>
          <a:bodyPr wrap="none" lIns="0" tIns="0" rIns="0" bIns="0">
            <a:spAutoFit/>
          </a:bodyPr>
          <a:lstStyle/>
          <a:p>
            <a:pPr>
              <a:defRPr sz="900">
                <a:solidFill>
                  <a:srgbClr val="64748B"/>
                </a:solidFill>
                <a:latin typeface="Arial"/>
              </a:defRPr>
            </a:pPr>
            <a:r>
              <a:t>GridMind | Deccan Renewables Pvt. Ltd. (Karnataka) | Self-Assessment Claim: D2 / F3</a:t>
            </a:r>
          </a:p>
        </p:txBody>
      </p:sp>
      <p:sp>
        <p:nvSpPr>
          <p:cNvPr id="8" name="TextBox 7"/>
          <p:cNvSpPr txBox="1"/>
          <p:nvPr/>
        </p:nvSpPr>
        <p:spPr>
          <a:xfrm>
            <a:off x="10058400" y="6382512"/>
            <a:ext cx="1401775" cy="274320"/>
          </a:xfrm>
          <a:prstGeom prst="rect">
            <a:avLst/>
          </a:prstGeom>
          <a:noFill/>
        </p:spPr>
        <p:txBody>
          <a:bodyPr wrap="none" lIns="0" tIns="0" rIns="0" bIns="0">
            <a:spAutoFit/>
          </a:bodyPr>
          <a:lstStyle/>
          <a:p>
            <a:pPr algn="r">
              <a:defRPr sz="900" b="1">
                <a:solidFill>
                  <a:srgbClr val="94A3B8"/>
                </a:solidFill>
                <a:latin typeface="Arial"/>
              </a:defRPr>
            </a:pPr>
            <a:r>
              <a:t>Slide 9 of 16</a:t>
            </a:r>
          </a:p>
        </p:txBody>
      </p:sp>
      <p:sp>
        <p:nvSpPr>
          <p:cNvPr id="9" name="Rounded Rectangle 8"/>
          <p:cNvSpPr/>
          <p:nvPr/>
        </p:nvSpPr>
        <p:spPr>
          <a:xfrm>
            <a:off x="731520" y="1645920"/>
            <a:ext cx="333756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10512"/>
            <a:ext cx="2971800" cy="4105656"/>
          </a:xfrm>
          <a:prstGeom prst="rect">
            <a:avLst/>
          </a:prstGeom>
          <a:noFill/>
        </p:spPr>
        <p:txBody>
          <a:bodyPr wrap="square" lIns="0" tIns="0" rIns="0" bIns="0">
            <a:spAutoFit/>
          </a:bodyPr>
          <a:lstStyle/>
          <a:p>
            <a:pPr>
              <a:spcAft>
                <a:spcPts val="800"/>
              </a:spcAft>
              <a:defRPr sz="1300" b="1">
                <a:solidFill>
                  <a:srgbClr val="38BDF8"/>
                </a:solidFill>
                <a:latin typeface="Helvetica"/>
              </a:defRPr>
            </a:pPr>
            <a:r>
              <a:t>Tier 1: Multi-Quantile Cones</a:t>
            </a:r>
          </a:p>
          <a:p>
            <a:pPr>
              <a:spcAft>
                <a:spcPts val="600"/>
              </a:spcAft>
            </a:pPr>
            <a:r>
              <a:rPr sz="1050" b="1">
                <a:solidFill>
                  <a:srgbClr val="FFFFFF"/>
                </a:solidFill>
                <a:latin typeface="Arial"/>
              </a:rPr>
              <a:t>• P10 Pessimistic Cone: </a:t>
            </a:r>
            <a:r>
              <a:rPr sz="1000">
                <a:solidFill>
                  <a:srgbClr val="94A3B8"/>
                </a:solidFill>
                <a:latin typeface="Arial"/>
              </a:rPr>
              <a:t>Models severe overcast or sudden wind drop. Used for defensive reserve sizing.</a:t>
            </a:r>
          </a:p>
          <a:p>
            <a:pPr>
              <a:spcAft>
                <a:spcPts val="600"/>
              </a:spcAft>
            </a:pPr>
            <a:r>
              <a:rPr sz="1050" b="1">
                <a:solidFill>
                  <a:srgbClr val="FFFFFF"/>
                </a:solidFill>
                <a:latin typeface="Arial"/>
              </a:rPr>
              <a:t>• P50 Expected Baseline: </a:t>
            </a:r>
            <a:r>
              <a:rPr sz="1000">
                <a:solidFill>
                  <a:srgbClr val="94A3B8"/>
                </a:solidFill>
                <a:latin typeface="Arial"/>
              </a:rPr>
              <a:t>Central forecast driving the primary rolling MILP horizon.</a:t>
            </a:r>
          </a:p>
          <a:p>
            <a:pPr>
              <a:spcAft>
                <a:spcPts val="600"/>
              </a:spcAft>
            </a:pPr>
            <a:r>
              <a:rPr sz="1050" b="1">
                <a:solidFill>
                  <a:srgbClr val="FFFFFF"/>
                </a:solidFill>
                <a:latin typeface="Arial"/>
              </a:rPr>
              <a:t>• P90 Optimistic Cone: </a:t>
            </a:r>
            <a:r>
              <a:rPr sz="1000">
                <a:solidFill>
                  <a:srgbClr val="94A3B8"/>
                </a:solidFill>
                <a:latin typeface="Arial"/>
              </a:rPr>
              <a:t>High generation trajectory used to schedule pre-charging and export bids.</a:t>
            </a:r>
          </a:p>
          <a:p>
            <a:pPr>
              <a:spcAft>
                <a:spcPts val="600"/>
              </a:spcAft>
            </a:pPr>
            <a:r>
              <a:rPr sz="1050" b="1">
                <a:solidFill>
                  <a:srgbClr val="FFFFFF"/>
                </a:solidFill>
                <a:latin typeface="Arial"/>
              </a:rPr>
              <a:t>• Rolling Update: </a:t>
            </a:r>
            <a:r>
              <a:rPr sz="1000">
                <a:solidFill>
                  <a:srgbClr val="94A3B8"/>
                </a:solidFill>
                <a:latin typeface="Arial"/>
              </a:rPr>
              <a:t>Regenerated every 15 minutes across all 10 generation and load nodes.</a:t>
            </a:r>
          </a:p>
        </p:txBody>
      </p:sp>
      <p:sp>
        <p:nvSpPr>
          <p:cNvPr id="11" name="Rounded Rectangle 10"/>
          <p:cNvSpPr/>
          <p:nvPr/>
        </p:nvSpPr>
        <p:spPr>
          <a:xfrm>
            <a:off x="4425696" y="1645920"/>
            <a:ext cx="333756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810512"/>
            <a:ext cx="2971800" cy="4105656"/>
          </a:xfrm>
          <a:prstGeom prst="rect">
            <a:avLst/>
          </a:prstGeom>
          <a:noFill/>
        </p:spPr>
        <p:txBody>
          <a:bodyPr wrap="square" lIns="0" tIns="0" rIns="0" bIns="0">
            <a:spAutoFit/>
          </a:bodyPr>
          <a:lstStyle/>
          <a:p>
            <a:pPr>
              <a:spcAft>
                <a:spcPts val="800"/>
              </a:spcAft>
              <a:defRPr sz="1300" b="1">
                <a:solidFill>
                  <a:srgbClr val="818CF8"/>
                </a:solidFill>
                <a:latin typeface="Helvetica"/>
              </a:defRPr>
            </a:pPr>
            <a:r>
              <a:t>Tier 2: Monte Carlo Risk Evaluation</a:t>
            </a:r>
          </a:p>
          <a:p>
            <a:pPr>
              <a:spcAft>
                <a:spcPts val="600"/>
              </a:spcAft>
            </a:pPr>
            <a:r>
              <a:rPr sz="1050" b="1">
                <a:solidFill>
                  <a:srgbClr val="FFFFFF"/>
                </a:solidFill>
                <a:latin typeface="Arial"/>
              </a:rPr>
              <a:t>• Tool-Calling Tool: </a:t>
            </a:r>
            <a:r>
              <a:rPr sz="1000">
                <a:solidFill>
                  <a:srgbClr val="94A3B8"/>
                </a:solidFill>
                <a:latin typeface="Arial"/>
              </a:rPr>
              <a:t>Strategy agent calls evaluate_risk(plan_id) during candidate evaluation.</a:t>
            </a:r>
          </a:p>
          <a:p>
            <a:pPr>
              <a:spcAft>
                <a:spcPts val="600"/>
              </a:spcAft>
            </a:pPr>
            <a:r>
              <a:rPr sz="1050" b="1">
                <a:solidFill>
                  <a:srgbClr val="FFFFFF"/>
                </a:solidFill>
                <a:latin typeface="Arial"/>
              </a:rPr>
              <a:t>• 20 Stochastic Scenarios: </a:t>
            </a:r>
            <a:r>
              <a:rPr sz="1000">
                <a:solidFill>
                  <a:srgbClr val="94A3B8"/>
                </a:solidFill>
                <a:latin typeface="Arial"/>
              </a:rPr>
              <a:t>Simulates candidate dispatch against 20 perturbed weather and price curves.</a:t>
            </a:r>
          </a:p>
          <a:p>
            <a:pPr>
              <a:spcAft>
                <a:spcPts val="600"/>
              </a:spcAft>
            </a:pPr>
            <a:r>
              <a:rPr sz="1050" b="1">
                <a:solidFill>
                  <a:srgbClr val="FFFFFF"/>
                </a:solidFill>
                <a:latin typeface="Arial"/>
              </a:rPr>
              <a:t>• P90 Tail Risk Metrics: </a:t>
            </a:r>
            <a:r>
              <a:rPr sz="1000">
                <a:solidFill>
                  <a:srgbClr val="94A3B8"/>
                </a:solidFill>
                <a:latin typeface="Arial"/>
              </a:rPr>
              <a:t>Measures expected cost, P90 tail risk cost, and shortfall probability (P_shortfall).</a:t>
            </a:r>
          </a:p>
          <a:p>
            <a:pPr>
              <a:spcAft>
                <a:spcPts val="600"/>
              </a:spcAft>
            </a:pPr>
            <a:r>
              <a:rPr sz="1050" b="1">
                <a:solidFill>
                  <a:srgbClr val="FFFFFF"/>
                </a:solidFill>
                <a:latin typeface="Arial"/>
              </a:rPr>
              <a:t>• Risk-Aware Selection: </a:t>
            </a:r>
            <a:r>
              <a:rPr sz="1000">
                <a:solidFill>
                  <a:srgbClr val="94A3B8"/>
                </a:solidFill>
                <a:latin typeface="Arial"/>
              </a:rPr>
              <a:t>Rejects candidate plans with &gt;5% risk of breaching battery reserve floors.</a:t>
            </a:r>
          </a:p>
        </p:txBody>
      </p:sp>
      <p:sp>
        <p:nvSpPr>
          <p:cNvPr id="13" name="Rounded Rectangle 12"/>
          <p:cNvSpPr/>
          <p:nvPr/>
        </p:nvSpPr>
        <p:spPr>
          <a:xfrm>
            <a:off x="8119872" y="1645920"/>
            <a:ext cx="333756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810512"/>
            <a:ext cx="2971800" cy="4105656"/>
          </a:xfrm>
          <a:prstGeom prst="rect">
            <a:avLst/>
          </a:prstGeom>
          <a:noFill/>
        </p:spPr>
        <p:txBody>
          <a:bodyPr wrap="square" lIns="0" tIns="0" rIns="0" bIns="0">
            <a:spAutoFit/>
          </a:bodyPr>
          <a:lstStyle/>
          <a:p>
            <a:pPr>
              <a:spcAft>
                <a:spcPts val="800"/>
              </a:spcAft>
              <a:defRPr sz="1300" b="1">
                <a:solidFill>
                  <a:srgbClr val="10B981"/>
                </a:solidFill>
                <a:latin typeface="Helvetica"/>
              </a:defRPr>
            </a:pPr>
            <a:r>
              <a:t>Tier 3: Receding Horizon MPC</a:t>
            </a:r>
          </a:p>
          <a:p>
            <a:pPr>
              <a:spcAft>
                <a:spcPts val="600"/>
              </a:spcAft>
            </a:pPr>
            <a:r>
              <a:rPr sz="1050" b="1">
                <a:solidFill>
                  <a:srgbClr val="FFFFFF"/>
                </a:solidFill>
                <a:latin typeface="Arial"/>
              </a:rPr>
              <a:t>• 32-Interval Horizon: </a:t>
            </a:r>
            <a:r>
              <a:rPr sz="1000">
                <a:solidFill>
                  <a:srgbClr val="94A3B8"/>
                </a:solidFill>
                <a:latin typeface="Arial"/>
              </a:rPr>
              <a:t>Optimizes dispatch across a forward 8-hour window (32 steps of 15 min).</a:t>
            </a:r>
          </a:p>
          <a:p>
            <a:pPr>
              <a:spcAft>
                <a:spcPts val="600"/>
              </a:spcAft>
            </a:pPr>
            <a:r>
              <a:rPr sz="1050" b="1">
                <a:solidFill>
                  <a:srgbClr val="FFFFFF"/>
                </a:solidFill>
                <a:latin typeface="Arial"/>
              </a:rPr>
              <a:t>• Execute Only t=0: </a:t>
            </a:r>
            <a:r>
              <a:rPr sz="1000">
                <a:solidFill>
                  <a:srgbClr val="94A3B8"/>
                </a:solidFill>
                <a:latin typeface="Arial"/>
              </a:rPr>
              <a:t>Crucial: Only the immediate first interval setpoint is committed to physical assets.</a:t>
            </a:r>
          </a:p>
          <a:p>
            <a:pPr>
              <a:spcAft>
                <a:spcPts val="600"/>
              </a:spcAft>
            </a:pPr>
            <a:r>
              <a:rPr sz="1050" b="1">
                <a:solidFill>
                  <a:srgbClr val="FFFFFF"/>
                </a:solidFill>
                <a:latin typeface="Arial"/>
              </a:rPr>
              <a:t>• Dynamic Feedback: </a:t>
            </a:r>
            <a:r>
              <a:rPr sz="1000">
                <a:solidFill>
                  <a:srgbClr val="94A3B8"/>
                </a:solidFill>
                <a:latin typeface="Arial"/>
              </a:rPr>
              <a:t>At t=1, real telemetry updates asset SoC and actual output, and solver re-runs.</a:t>
            </a:r>
          </a:p>
          <a:p>
            <a:pPr>
              <a:spcAft>
                <a:spcPts val="600"/>
              </a:spcAft>
            </a:pPr>
            <a:r>
              <a:rPr sz="1050" b="1">
                <a:solidFill>
                  <a:srgbClr val="FFFFFF"/>
                </a:solidFill>
                <a:latin typeface="Arial"/>
              </a:rPr>
              <a:t>• Zero Error Drift: </a:t>
            </a:r>
            <a:r>
              <a:rPr sz="1000">
                <a:solidFill>
                  <a:srgbClr val="94A3B8"/>
                </a:solidFill>
                <a:latin typeface="Arial"/>
              </a:rPr>
              <a:t>Prevents compounding errors from long-range forecast inaccuracies.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950" b="1">
                <a:solidFill>
                  <a:srgbClr val="38BDF8"/>
                </a:solidFill>
                <a:latin typeface="Helvetica"/>
              </a:defRPr>
            </a:pPr>
            <a:r>
              <a:t>SAFETY ENGINEERING &amp; RELIABILITY</a:t>
            </a:r>
          </a:p>
        </p:txBody>
      </p:sp>
      <p:sp>
        <p:nvSpPr>
          <p:cNvPr id="4" name="TextBox 3"/>
          <p:cNvSpPr txBox="1"/>
          <p:nvPr/>
        </p:nvSpPr>
        <p:spPr>
          <a:xfrm>
            <a:off x="731520" y="640080"/>
            <a:ext cx="10698480" cy="502920"/>
          </a:xfrm>
          <a:prstGeom prst="rect">
            <a:avLst/>
          </a:prstGeom>
          <a:noFill/>
        </p:spPr>
        <p:txBody>
          <a:bodyPr wrap="square" lIns="0" tIns="0" rIns="0" bIns="0">
            <a:spAutoFit/>
          </a:bodyPr>
          <a:lstStyle/>
          <a:p>
            <a:pPr>
              <a:defRPr sz="2200" b="1">
                <a:solidFill>
                  <a:srgbClr val="FFFFFF"/>
                </a:solidFill>
                <a:latin typeface="Helvetica"/>
              </a:defRPr>
            </a:pPr>
            <a:r>
              <a:t>Deterministic Guardrails, Self-Healing &amp; 100% Offline Mode</a:t>
            </a:r>
          </a:p>
        </p:txBody>
      </p:sp>
      <p:sp>
        <p:nvSpPr>
          <p:cNvPr id="5" name="TextBox 4"/>
          <p:cNvSpPr txBox="1"/>
          <p:nvPr/>
        </p:nvSpPr>
        <p:spPr>
          <a:xfrm>
            <a:off x="731520" y="1170432"/>
            <a:ext cx="10698480" cy="365760"/>
          </a:xfrm>
          <a:prstGeom prst="rect">
            <a:avLst/>
          </a:prstGeom>
          <a:noFill/>
        </p:spPr>
        <p:txBody>
          <a:bodyPr wrap="square" lIns="0" tIns="0" rIns="0" bIns="0">
            <a:spAutoFit/>
          </a:bodyPr>
          <a:lstStyle/>
          <a:p>
            <a:pPr>
              <a:defRPr sz="1200">
                <a:solidFill>
                  <a:srgbClr val="94A3B8"/>
                </a:solidFill>
                <a:latin typeface="Arial"/>
              </a:defRPr>
            </a:pPr>
            <a:r>
              <a:t>Multi-layer defense ensuring zero physical damage and seamless operation without internet connectivity</a:t>
            </a:r>
          </a:p>
        </p:txBody>
      </p:sp>
      <p:sp>
        <p:nvSpPr>
          <p:cNvPr id="6" name="Rectangle 5"/>
          <p:cNvSpPr/>
          <p:nvPr/>
        </p:nvSpPr>
        <p:spPr>
          <a:xfrm>
            <a:off x="731520" y="6309360"/>
            <a:ext cx="10728655" cy="13716"/>
          </a:xfrm>
          <a:prstGeom prst="rect">
            <a:avLst/>
          </a:prstGeom>
          <a:solidFill>
            <a:srgbClr val="2D3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8229600" cy="274320"/>
          </a:xfrm>
          <a:prstGeom prst="rect">
            <a:avLst/>
          </a:prstGeom>
          <a:noFill/>
        </p:spPr>
        <p:txBody>
          <a:bodyPr wrap="none" lIns="0" tIns="0" rIns="0" bIns="0">
            <a:spAutoFit/>
          </a:bodyPr>
          <a:lstStyle/>
          <a:p>
            <a:pPr>
              <a:defRPr sz="900">
                <a:solidFill>
                  <a:srgbClr val="64748B"/>
                </a:solidFill>
                <a:latin typeface="Arial"/>
              </a:defRPr>
            </a:pPr>
            <a:r>
              <a:t>GridMind | Deccan Renewables Pvt. Ltd. (Karnataka) | Self-Assessment Claim: D2 / F3</a:t>
            </a:r>
          </a:p>
        </p:txBody>
      </p:sp>
      <p:sp>
        <p:nvSpPr>
          <p:cNvPr id="8" name="TextBox 7"/>
          <p:cNvSpPr txBox="1"/>
          <p:nvPr/>
        </p:nvSpPr>
        <p:spPr>
          <a:xfrm>
            <a:off x="10058400" y="6382512"/>
            <a:ext cx="1401775" cy="274320"/>
          </a:xfrm>
          <a:prstGeom prst="rect">
            <a:avLst/>
          </a:prstGeom>
          <a:noFill/>
        </p:spPr>
        <p:txBody>
          <a:bodyPr wrap="none" lIns="0" tIns="0" rIns="0" bIns="0">
            <a:spAutoFit/>
          </a:bodyPr>
          <a:lstStyle/>
          <a:p>
            <a:pPr algn="r">
              <a:defRPr sz="900" b="1">
                <a:solidFill>
                  <a:srgbClr val="94A3B8"/>
                </a:solidFill>
                <a:latin typeface="Arial"/>
              </a:defRPr>
            </a:pPr>
            <a:r>
              <a:t>Slide 10 of 16</a:t>
            </a:r>
          </a:p>
        </p:txBody>
      </p:sp>
      <p:sp>
        <p:nvSpPr>
          <p:cNvPr id="9" name="Rounded Rectangle 8"/>
          <p:cNvSpPr/>
          <p:nvPr/>
        </p:nvSpPr>
        <p:spPr>
          <a:xfrm>
            <a:off x="731520" y="1645920"/>
            <a:ext cx="333756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10512"/>
            <a:ext cx="2971800" cy="4105656"/>
          </a:xfrm>
          <a:prstGeom prst="rect">
            <a:avLst/>
          </a:prstGeom>
          <a:noFill/>
        </p:spPr>
        <p:txBody>
          <a:bodyPr wrap="square" lIns="0" tIns="0" rIns="0" bIns="0">
            <a:spAutoFit/>
          </a:bodyPr>
          <a:lstStyle/>
          <a:p>
            <a:pPr>
              <a:spcAft>
                <a:spcPts val="800"/>
              </a:spcAft>
              <a:defRPr sz="1300" b="1">
                <a:solidFill>
                  <a:srgbClr val="F43F5E"/>
                </a:solidFill>
                <a:latin typeface="Helvetica"/>
              </a:defRPr>
            </a:pPr>
            <a:r>
              <a:t>7 Hard Safety Interlocks</a:t>
            </a:r>
          </a:p>
          <a:p>
            <a:pPr>
              <a:spcAft>
                <a:spcPts val="600"/>
              </a:spcAft>
            </a:pPr>
            <a:r>
              <a:rPr sz="1050" b="1">
                <a:solidFill>
                  <a:srgbClr val="FFFFFF"/>
                </a:solidFill>
                <a:latin typeface="Arial"/>
              </a:rPr>
              <a:t>• BESS Mutex: </a:t>
            </a:r>
            <a:r>
              <a:rPr sz="1000">
                <a:solidFill>
                  <a:srgbClr val="94A3B8"/>
                </a:solidFill>
                <a:latin typeface="Arial"/>
              </a:rPr>
              <a:t>Charge &lt;= P_max * u, Discharge &lt;= P_max * (1-u). Zero simultaneous charge/discharge.</a:t>
            </a:r>
          </a:p>
          <a:p>
            <a:pPr>
              <a:spcAft>
                <a:spcPts val="600"/>
              </a:spcAft>
            </a:pPr>
            <a:r>
              <a:rPr sz="1050" b="1">
                <a:solidFill>
                  <a:srgbClr val="FFFFFF"/>
                </a:solidFill>
                <a:latin typeface="Arial"/>
              </a:rPr>
              <a:t>• Grid Mutex: </a:t>
            </a:r>
            <a:r>
              <a:rPr sz="1000">
                <a:solidFill>
                  <a:srgbClr val="94A3B8"/>
                </a:solidFill>
                <a:latin typeface="Arial"/>
              </a:rPr>
              <a:t>Import &lt;= 150 * y, Export &lt;= 200 * (1-y). Zero simultaneous import/export.</a:t>
            </a:r>
          </a:p>
          <a:p>
            <a:pPr>
              <a:spcAft>
                <a:spcPts val="600"/>
              </a:spcAft>
            </a:pPr>
            <a:r>
              <a:rPr sz="1050" b="1">
                <a:solidFill>
                  <a:srgbClr val="FFFFFF"/>
                </a:solidFill>
                <a:latin typeface="Arial"/>
              </a:rPr>
              <a:t>• SoC Physical Bounds: </a:t>
            </a:r>
            <a:r>
              <a:rPr sz="1000">
                <a:solidFill>
                  <a:srgbClr val="94A3B8"/>
                </a:solidFill>
                <a:latin typeface="Arial"/>
              </a:rPr>
              <a:t>Strictly enforces 10% &lt;= SoC &lt;= 95% at every interval.</a:t>
            </a:r>
          </a:p>
          <a:p>
            <a:pPr>
              <a:spcAft>
                <a:spcPts val="600"/>
              </a:spcAft>
            </a:pPr>
            <a:r>
              <a:rPr sz="1050" b="1">
                <a:solidFill>
                  <a:srgbClr val="FFFFFF"/>
                </a:solidFill>
                <a:latin typeface="Arial"/>
              </a:rPr>
              <a:t>• Critical Load Protection: </a:t>
            </a:r>
            <a:r>
              <a:rPr sz="1000">
                <a:solidFill>
                  <a:srgbClr val="94A3B8"/>
                </a:solidFill>
                <a:latin typeface="Arial"/>
              </a:rPr>
              <a:t>Zero unserved load allowed for non-sheddable customer fractions.</a:t>
            </a:r>
          </a:p>
          <a:p>
            <a:pPr>
              <a:spcAft>
                <a:spcPts val="600"/>
              </a:spcAft>
            </a:pPr>
            <a:r>
              <a:rPr sz="1050" b="1">
                <a:solidFill>
                  <a:srgbClr val="FFFFFF"/>
                </a:solidFill>
                <a:latin typeface="Arial"/>
              </a:rPr>
              <a:t>• Asset Power Limits: </a:t>
            </a:r>
            <a:r>
              <a:rPr sz="1000">
                <a:solidFill>
                  <a:srgbClr val="94A3B8"/>
                </a:solidFill>
                <a:latin typeface="Arial"/>
              </a:rPr>
              <a:t>Never exceeds inverter ratings or generator thermal capacities.</a:t>
            </a:r>
          </a:p>
        </p:txBody>
      </p:sp>
      <p:sp>
        <p:nvSpPr>
          <p:cNvPr id="11" name="Rounded Rectangle 10"/>
          <p:cNvSpPr/>
          <p:nvPr/>
        </p:nvSpPr>
        <p:spPr>
          <a:xfrm>
            <a:off x="4425696" y="1645920"/>
            <a:ext cx="333756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810512"/>
            <a:ext cx="2971800" cy="4105656"/>
          </a:xfrm>
          <a:prstGeom prst="rect">
            <a:avLst/>
          </a:prstGeom>
          <a:noFill/>
        </p:spPr>
        <p:txBody>
          <a:bodyPr wrap="square" lIns="0" tIns="0" rIns="0" bIns="0">
            <a:spAutoFit/>
          </a:bodyPr>
          <a:lstStyle/>
          <a:p>
            <a:pPr>
              <a:spcAft>
                <a:spcPts val="800"/>
              </a:spcAft>
              <a:defRPr sz="1300" b="1">
                <a:solidFill>
                  <a:srgbClr val="F59E0B"/>
                </a:solidFill>
                <a:latin typeface="Helvetica"/>
              </a:defRPr>
            </a:pPr>
            <a:r>
              <a:t>Self-Healing Recovery Loop</a:t>
            </a:r>
          </a:p>
          <a:p>
            <a:pPr>
              <a:spcAft>
                <a:spcPts val="600"/>
              </a:spcAft>
            </a:pPr>
            <a:r>
              <a:rPr sz="1050" b="1">
                <a:solidFill>
                  <a:srgbClr val="FFFFFF"/>
                </a:solidFill>
                <a:latin typeface="Arial"/>
              </a:rPr>
              <a:t>• Validation Rejection: </a:t>
            </a:r>
            <a:r>
              <a:rPr sz="1000">
                <a:solidFill>
                  <a:srgbClr val="94A3B8"/>
                </a:solidFill>
                <a:latin typeface="Arial"/>
              </a:rPr>
              <a:t>Deterministic guardrail intercepts invalid plans with structured error codes.</a:t>
            </a:r>
          </a:p>
          <a:p>
            <a:pPr>
              <a:spcAft>
                <a:spcPts val="600"/>
              </a:spcAft>
            </a:pPr>
            <a:r>
              <a:rPr sz="1050" b="1">
                <a:solidFill>
                  <a:srgbClr val="FFFFFF"/>
                </a:solidFill>
                <a:latin typeface="Arial"/>
              </a:rPr>
              <a:t>• Strategist Self-Correction: </a:t>
            </a:r>
            <a:r>
              <a:rPr sz="1000">
                <a:solidFill>
                  <a:srgbClr val="94A3B8"/>
                </a:solidFill>
                <a:latin typeface="Arial"/>
              </a:rPr>
              <a:t>Feedback prompt injected into Strategy Agent with violation context.</a:t>
            </a:r>
          </a:p>
          <a:p>
            <a:pPr>
              <a:spcAft>
                <a:spcPts val="600"/>
              </a:spcAft>
            </a:pPr>
            <a:r>
              <a:rPr sz="1050" b="1">
                <a:solidFill>
                  <a:srgbClr val="FFFFFF"/>
                </a:solidFill>
                <a:latin typeface="Arial"/>
              </a:rPr>
              <a:t>• Bounded Retries: </a:t>
            </a:r>
            <a:r>
              <a:rPr sz="1000">
                <a:solidFill>
                  <a:srgbClr val="94A3B8"/>
                </a:solidFill>
                <a:latin typeface="Arial"/>
              </a:rPr>
              <a:t>Up to 2 autonomous recovery attempts with reinforced reliability weights.</a:t>
            </a:r>
          </a:p>
          <a:p>
            <a:pPr>
              <a:spcAft>
                <a:spcPts val="600"/>
              </a:spcAft>
            </a:pPr>
            <a:r>
              <a:rPr sz="1050" b="1">
                <a:solidFill>
                  <a:srgbClr val="FFFFFF"/>
                </a:solidFill>
                <a:latin typeface="Arial"/>
              </a:rPr>
              <a:t>• Safe-Mode Fallback: </a:t>
            </a:r>
            <a:r>
              <a:rPr sz="1000">
                <a:solidFill>
                  <a:srgbClr val="94A3B8"/>
                </a:solidFill>
                <a:latin typeface="Arial"/>
              </a:rPr>
              <a:t>If retries fail, executes deterministic Safe-Mode: holding 40% BESS reserve, zero exports, direct customer supply.</a:t>
            </a:r>
          </a:p>
        </p:txBody>
      </p:sp>
      <p:sp>
        <p:nvSpPr>
          <p:cNvPr id="13" name="Rounded Rectangle 12"/>
          <p:cNvSpPr/>
          <p:nvPr/>
        </p:nvSpPr>
        <p:spPr>
          <a:xfrm>
            <a:off x="8119872" y="1645920"/>
            <a:ext cx="333756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810512"/>
            <a:ext cx="2971800" cy="4105656"/>
          </a:xfrm>
          <a:prstGeom prst="rect">
            <a:avLst/>
          </a:prstGeom>
          <a:noFill/>
        </p:spPr>
        <p:txBody>
          <a:bodyPr wrap="square" lIns="0" tIns="0" rIns="0" bIns="0">
            <a:spAutoFit/>
          </a:bodyPr>
          <a:lstStyle/>
          <a:p>
            <a:pPr>
              <a:spcAft>
                <a:spcPts val="800"/>
              </a:spcAft>
              <a:defRPr sz="1300" b="1">
                <a:solidFill>
                  <a:srgbClr val="10B981"/>
                </a:solidFill>
                <a:latin typeface="Helvetica"/>
              </a:defRPr>
            </a:pPr>
            <a:r>
              <a:t>100% Offline Resilience</a:t>
            </a:r>
          </a:p>
          <a:p>
            <a:pPr>
              <a:spcAft>
                <a:spcPts val="600"/>
              </a:spcAft>
            </a:pPr>
            <a:r>
              <a:rPr sz="1050" b="1">
                <a:solidFill>
                  <a:srgbClr val="FFFFFF"/>
                </a:solidFill>
                <a:latin typeface="Arial"/>
              </a:rPr>
              <a:t>• Zero API Lock-in: </a:t>
            </a:r>
            <a:r>
              <a:rPr sz="1000">
                <a:solidFill>
                  <a:srgbClr val="94A3B8"/>
                </a:solidFill>
                <a:latin typeface="Arial"/>
              </a:rPr>
              <a:t>Operates with MOCK_LLM=true producing identical Pydantic JSON shapes.</a:t>
            </a:r>
          </a:p>
          <a:p>
            <a:pPr>
              <a:spcAft>
                <a:spcPts val="600"/>
              </a:spcAft>
            </a:pPr>
            <a:r>
              <a:rPr sz="1050" b="1">
                <a:solidFill>
                  <a:srgbClr val="FFFFFF"/>
                </a:solidFill>
                <a:latin typeface="Arial"/>
              </a:rPr>
              <a:t>• Instant Fallback: </a:t>
            </a:r>
            <a:r>
              <a:rPr sz="1000">
                <a:solidFill>
                  <a:srgbClr val="94A3B8"/>
                </a:solidFill>
                <a:latin typeface="Arial"/>
              </a:rPr>
              <a:t>Any Gemini API network timeout or rate limit automatically triggers mock logic.</a:t>
            </a:r>
          </a:p>
          <a:p>
            <a:pPr>
              <a:spcAft>
                <a:spcPts val="600"/>
              </a:spcAft>
            </a:pPr>
            <a:r>
              <a:rPr sz="1050" b="1">
                <a:solidFill>
                  <a:srgbClr val="FFFFFF"/>
                </a:solidFill>
                <a:latin typeface="Arial"/>
              </a:rPr>
              <a:t>• Bundled Solvers: </a:t>
            </a:r>
            <a:r>
              <a:rPr sz="1000">
                <a:solidFill>
                  <a:srgbClr val="94A3B8"/>
                </a:solidFill>
                <a:latin typeface="Arial"/>
              </a:rPr>
              <a:t>PuLP uses bundled Coin-OR CBC binary. Zero external server dependencies.</a:t>
            </a:r>
          </a:p>
          <a:p>
            <a:pPr>
              <a:spcAft>
                <a:spcPts val="600"/>
              </a:spcAft>
            </a:pPr>
            <a:r>
              <a:rPr sz="1050" b="1">
                <a:solidFill>
                  <a:srgbClr val="FFFFFF"/>
                </a:solidFill>
                <a:latin typeface="Arial"/>
              </a:rPr>
              <a:t>• Control Room Guarantee: </a:t>
            </a:r>
            <a:r>
              <a:rPr sz="1000">
                <a:solidFill>
                  <a:srgbClr val="94A3B8"/>
                </a:solidFill>
                <a:latin typeface="Arial"/>
              </a:rPr>
              <a:t>The system will NEVER freeze or crash in the control room desk.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950" b="1">
                <a:solidFill>
                  <a:srgbClr val="38BDF8"/>
                </a:solidFill>
                <a:latin typeface="Helvetica"/>
              </a:defRPr>
            </a:pPr>
            <a:r>
              <a:t>RESPONSIBLE AI &amp; GOVERNANCE</a:t>
            </a:r>
          </a:p>
        </p:txBody>
      </p:sp>
      <p:sp>
        <p:nvSpPr>
          <p:cNvPr id="4" name="TextBox 3"/>
          <p:cNvSpPr txBox="1"/>
          <p:nvPr/>
        </p:nvSpPr>
        <p:spPr>
          <a:xfrm>
            <a:off x="731520" y="640080"/>
            <a:ext cx="10698480" cy="502920"/>
          </a:xfrm>
          <a:prstGeom prst="rect">
            <a:avLst/>
          </a:prstGeom>
          <a:noFill/>
        </p:spPr>
        <p:txBody>
          <a:bodyPr wrap="square" lIns="0" tIns="0" rIns="0" bIns="0">
            <a:spAutoFit/>
          </a:bodyPr>
          <a:lstStyle/>
          <a:p>
            <a:pPr>
              <a:defRPr sz="2200" b="1">
                <a:solidFill>
                  <a:srgbClr val="FFFFFF"/>
                </a:solidFill>
                <a:latin typeface="Helvetica"/>
              </a:defRPr>
            </a:pPr>
            <a:r>
              <a:t>Human-in-the-Loop Oversight &amp; Decision Auditability</a:t>
            </a:r>
          </a:p>
        </p:txBody>
      </p:sp>
      <p:sp>
        <p:nvSpPr>
          <p:cNvPr id="5" name="TextBox 4"/>
          <p:cNvSpPr txBox="1"/>
          <p:nvPr/>
        </p:nvSpPr>
        <p:spPr>
          <a:xfrm>
            <a:off x="731520" y="1170432"/>
            <a:ext cx="10698480" cy="365760"/>
          </a:xfrm>
          <a:prstGeom prst="rect">
            <a:avLst/>
          </a:prstGeom>
          <a:noFill/>
        </p:spPr>
        <p:txBody>
          <a:bodyPr wrap="square" lIns="0" tIns="0" rIns="0" bIns="0">
            <a:spAutoFit/>
          </a:bodyPr>
          <a:lstStyle/>
          <a:p>
            <a:pPr>
              <a:defRPr sz="1200">
                <a:solidFill>
                  <a:srgbClr val="94A3B8"/>
                </a:solidFill>
                <a:latin typeface="Arial"/>
              </a:defRPr>
            </a:pPr>
            <a:r>
              <a:t>Balancing agentic autonomy with operator authority, transparency, and complete compliance tracing</a:t>
            </a:r>
          </a:p>
        </p:txBody>
      </p:sp>
      <p:sp>
        <p:nvSpPr>
          <p:cNvPr id="6" name="Rectangle 5"/>
          <p:cNvSpPr/>
          <p:nvPr/>
        </p:nvSpPr>
        <p:spPr>
          <a:xfrm>
            <a:off x="731520" y="6309360"/>
            <a:ext cx="10728655" cy="13716"/>
          </a:xfrm>
          <a:prstGeom prst="rect">
            <a:avLst/>
          </a:prstGeom>
          <a:solidFill>
            <a:srgbClr val="2D3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8229600" cy="274320"/>
          </a:xfrm>
          <a:prstGeom prst="rect">
            <a:avLst/>
          </a:prstGeom>
          <a:noFill/>
        </p:spPr>
        <p:txBody>
          <a:bodyPr wrap="none" lIns="0" tIns="0" rIns="0" bIns="0">
            <a:spAutoFit/>
          </a:bodyPr>
          <a:lstStyle/>
          <a:p>
            <a:pPr>
              <a:defRPr sz="900">
                <a:solidFill>
                  <a:srgbClr val="64748B"/>
                </a:solidFill>
                <a:latin typeface="Arial"/>
              </a:defRPr>
            </a:pPr>
            <a:r>
              <a:t>GridMind | Deccan Renewables Pvt. Ltd. (Karnataka) | Self-Assessment Claim: D2 / F3</a:t>
            </a:r>
          </a:p>
        </p:txBody>
      </p:sp>
      <p:sp>
        <p:nvSpPr>
          <p:cNvPr id="8" name="TextBox 7"/>
          <p:cNvSpPr txBox="1"/>
          <p:nvPr/>
        </p:nvSpPr>
        <p:spPr>
          <a:xfrm>
            <a:off x="10058400" y="6382512"/>
            <a:ext cx="1401775" cy="274320"/>
          </a:xfrm>
          <a:prstGeom prst="rect">
            <a:avLst/>
          </a:prstGeom>
          <a:noFill/>
        </p:spPr>
        <p:txBody>
          <a:bodyPr wrap="none" lIns="0" tIns="0" rIns="0" bIns="0">
            <a:spAutoFit/>
          </a:bodyPr>
          <a:lstStyle/>
          <a:p>
            <a:pPr algn="r">
              <a:defRPr sz="900" b="1">
                <a:solidFill>
                  <a:srgbClr val="94A3B8"/>
                </a:solidFill>
                <a:latin typeface="Arial"/>
              </a:defRPr>
            </a:pPr>
            <a:r>
              <a:t>Slide 11 of 16</a:t>
            </a:r>
          </a:p>
        </p:txBody>
      </p:sp>
      <p:sp>
        <p:nvSpPr>
          <p:cNvPr id="9" name="Rounded Rectangle 8"/>
          <p:cNvSpPr/>
          <p:nvPr/>
        </p:nvSpPr>
        <p:spPr>
          <a:xfrm>
            <a:off x="731520" y="1645920"/>
            <a:ext cx="333756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10512"/>
            <a:ext cx="2971800" cy="4105656"/>
          </a:xfrm>
          <a:prstGeom prst="rect">
            <a:avLst/>
          </a:prstGeom>
          <a:noFill/>
        </p:spPr>
        <p:txBody>
          <a:bodyPr wrap="square" lIns="0" tIns="0" rIns="0" bIns="0">
            <a:spAutoFit/>
          </a:bodyPr>
          <a:lstStyle/>
          <a:p>
            <a:pPr>
              <a:spcAft>
                <a:spcPts val="800"/>
              </a:spcAft>
              <a:defRPr sz="1300" b="1">
                <a:solidFill>
                  <a:srgbClr val="38BDF8"/>
                </a:solidFill>
                <a:latin typeface="Helvetica"/>
              </a:defRPr>
            </a:pPr>
            <a:r>
              <a:t>Human Approval Gates</a:t>
            </a:r>
          </a:p>
          <a:p>
            <a:pPr>
              <a:spcAft>
                <a:spcPts val="600"/>
              </a:spcAft>
            </a:pPr>
            <a:r>
              <a:rPr sz="1050" b="1">
                <a:solidFill>
                  <a:srgbClr val="FFFFFF"/>
                </a:solidFill>
                <a:latin typeface="Arial"/>
              </a:rPr>
              <a:t>• Configurable Governance: </a:t>
            </a:r>
            <a:r>
              <a:rPr sz="1000">
                <a:solidFill>
                  <a:srgbClr val="94A3B8"/>
                </a:solidFill>
                <a:latin typeface="Arial"/>
              </a:rPr>
              <a:t>Operator can toggle between Full Autonomous mode and Manual Approval mode.</a:t>
            </a:r>
          </a:p>
          <a:p>
            <a:pPr>
              <a:spcAft>
                <a:spcPts val="600"/>
              </a:spcAft>
            </a:pPr>
            <a:r>
              <a:rPr sz="1050" b="1">
                <a:solidFill>
                  <a:srgbClr val="FFFFFF"/>
                </a:solidFill>
                <a:latin typeface="Arial"/>
              </a:rPr>
              <a:t>• High-Impact Intercepts: </a:t>
            </a:r>
            <a:r>
              <a:rPr sz="1000">
                <a:solidFill>
                  <a:srgbClr val="94A3B8"/>
                </a:solidFill>
                <a:latin typeface="Arial"/>
              </a:rPr>
              <a:t>Voluntary customer load shedding (Demand Response) or emergency reserve releases require explicit operator sign-off.</a:t>
            </a:r>
          </a:p>
          <a:p>
            <a:pPr>
              <a:spcAft>
                <a:spcPts val="600"/>
              </a:spcAft>
            </a:pPr>
            <a:r>
              <a:rPr sz="1050" b="1">
                <a:solidFill>
                  <a:srgbClr val="FFFFFF"/>
                </a:solidFill>
                <a:latin typeface="Arial"/>
              </a:rPr>
              <a:t>• Contextual Decision Card: </a:t>
            </a:r>
            <a:r>
              <a:rPr sz="1000">
                <a:solidFill>
                  <a:srgbClr val="94A3B8"/>
                </a:solidFill>
                <a:latin typeface="Arial"/>
              </a:rPr>
              <a:t>UI presents trade-off summary, financial impact, and alternative options before execution.</a:t>
            </a:r>
          </a:p>
        </p:txBody>
      </p:sp>
      <p:sp>
        <p:nvSpPr>
          <p:cNvPr id="11" name="Rounded Rectangle 10"/>
          <p:cNvSpPr/>
          <p:nvPr/>
        </p:nvSpPr>
        <p:spPr>
          <a:xfrm>
            <a:off x="4425696" y="1645920"/>
            <a:ext cx="333756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810512"/>
            <a:ext cx="2971800" cy="4105656"/>
          </a:xfrm>
          <a:prstGeom prst="rect">
            <a:avLst/>
          </a:prstGeom>
          <a:noFill/>
        </p:spPr>
        <p:txBody>
          <a:bodyPr wrap="square" lIns="0" tIns="0" rIns="0" bIns="0">
            <a:spAutoFit/>
          </a:bodyPr>
          <a:lstStyle/>
          <a:p>
            <a:pPr>
              <a:spcAft>
                <a:spcPts val="800"/>
              </a:spcAft>
              <a:defRPr sz="1300" b="1">
                <a:solidFill>
                  <a:srgbClr val="F59E0B"/>
                </a:solidFill>
                <a:latin typeface="Helvetica"/>
              </a:defRPr>
            </a:pPr>
            <a:r>
              <a:t>Live Operator Overrides</a:t>
            </a:r>
          </a:p>
          <a:p>
            <a:pPr>
              <a:spcAft>
                <a:spcPts val="600"/>
              </a:spcAft>
            </a:pPr>
            <a:r>
              <a:rPr sz="1050" b="1">
                <a:solidFill>
                  <a:srgbClr val="FFFFFF"/>
                </a:solidFill>
                <a:latin typeface="Arial"/>
              </a:rPr>
              <a:t>• Full Operational Control: </a:t>
            </a:r>
            <a:r>
              <a:rPr sz="1000">
                <a:solidFill>
                  <a:srgbClr val="94A3B8"/>
                </a:solidFill>
                <a:latin typeface="Arial"/>
              </a:rPr>
              <a:t>Shift Dispatch Manager can step, pause, or manually override any asset setpoint in real time.</a:t>
            </a:r>
          </a:p>
          <a:p>
            <a:pPr>
              <a:spcAft>
                <a:spcPts val="600"/>
              </a:spcAft>
            </a:pPr>
            <a:r>
              <a:rPr sz="1050" b="1">
                <a:solidFill>
                  <a:srgbClr val="FFFFFF"/>
                </a:solidFill>
                <a:latin typeface="Arial"/>
              </a:rPr>
              <a:t>• Safety Cross-Check: </a:t>
            </a:r>
            <a:r>
              <a:rPr sz="1000">
                <a:solidFill>
                  <a:srgbClr val="94A3B8"/>
                </a:solidFill>
                <a:latin typeface="Arial"/>
              </a:rPr>
              <a:t>Operator overrides are still validated through guardrails to prevent accidental equipment damage.</a:t>
            </a:r>
          </a:p>
          <a:p>
            <a:pPr>
              <a:spcAft>
                <a:spcPts val="600"/>
              </a:spcAft>
            </a:pPr>
            <a:r>
              <a:rPr sz="1050" b="1">
                <a:solidFill>
                  <a:srgbClr val="FFFFFF"/>
                </a:solidFill>
                <a:latin typeface="Arial"/>
              </a:rPr>
              <a:t>• Reason Capture: </a:t>
            </a:r>
            <a:r>
              <a:rPr sz="1000">
                <a:solidFill>
                  <a:srgbClr val="94A3B8"/>
                </a:solidFill>
                <a:latin typeface="Arial"/>
              </a:rPr>
              <a:t>Operator must enter a operational justification, permanently recorded in the audit trail.</a:t>
            </a:r>
          </a:p>
        </p:txBody>
      </p:sp>
      <p:sp>
        <p:nvSpPr>
          <p:cNvPr id="13" name="Rounded Rectangle 12"/>
          <p:cNvSpPr/>
          <p:nvPr/>
        </p:nvSpPr>
        <p:spPr>
          <a:xfrm>
            <a:off x="8119872" y="1645920"/>
            <a:ext cx="333756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810512"/>
            <a:ext cx="2971800" cy="4105656"/>
          </a:xfrm>
          <a:prstGeom prst="rect">
            <a:avLst/>
          </a:prstGeom>
          <a:noFill/>
        </p:spPr>
        <p:txBody>
          <a:bodyPr wrap="square" lIns="0" tIns="0" rIns="0" bIns="0">
            <a:spAutoFit/>
          </a:bodyPr>
          <a:lstStyle/>
          <a:p>
            <a:pPr>
              <a:spcAft>
                <a:spcPts val="800"/>
              </a:spcAft>
              <a:defRPr sz="1300" b="1">
                <a:solidFill>
                  <a:srgbClr val="10B981"/>
                </a:solidFill>
                <a:latin typeface="Helvetica"/>
              </a:defRPr>
            </a:pPr>
            <a:r>
              <a:t>Immutable JSONL Audit Trail</a:t>
            </a:r>
          </a:p>
          <a:p>
            <a:pPr>
              <a:spcAft>
                <a:spcPts val="600"/>
              </a:spcAft>
            </a:pPr>
            <a:r>
              <a:rPr sz="1050" b="1">
                <a:solidFill>
                  <a:srgbClr val="FFFFFF"/>
                </a:solidFill>
                <a:latin typeface="Arial"/>
              </a:rPr>
              <a:t>• Full Traceability: </a:t>
            </a:r>
            <a:r>
              <a:rPr sz="1000">
                <a:solidFill>
                  <a:srgbClr val="94A3B8"/>
                </a:solidFill>
                <a:latin typeface="Arial"/>
              </a:rPr>
              <a:t>Every 15-minute interval appends an immutable JSONL record with inputs, signals, weights, tool calls, and executed setpoints.</a:t>
            </a:r>
          </a:p>
          <a:p>
            <a:pPr>
              <a:spcAft>
                <a:spcPts val="600"/>
              </a:spcAft>
            </a:pPr>
            <a:r>
              <a:rPr sz="1050" b="1">
                <a:solidFill>
                  <a:srgbClr val="FFFFFF"/>
                </a:solidFill>
                <a:latin typeface="Arial"/>
              </a:rPr>
              <a:t>• Regulatory Replay: </a:t>
            </a:r>
            <a:r>
              <a:rPr sz="1000">
                <a:solidFill>
                  <a:srgbClr val="94A3B8"/>
                </a:solidFill>
                <a:latin typeface="Arial"/>
              </a:rPr>
              <a:t>Enables post-incident forensic replay for Indian Electricity Regulatory Commission (CERC/KERC) compliance.</a:t>
            </a:r>
          </a:p>
          <a:p>
            <a:pPr>
              <a:spcAft>
                <a:spcPts val="600"/>
              </a:spcAft>
            </a:pPr>
            <a:r>
              <a:rPr sz="1050" b="1">
                <a:solidFill>
                  <a:srgbClr val="FFFFFF"/>
                </a:solidFill>
                <a:latin typeface="Arial"/>
              </a:rPr>
              <a:t>• Zero Personal Data: </a:t>
            </a:r>
            <a:r>
              <a:rPr sz="1000">
                <a:solidFill>
                  <a:srgbClr val="94A3B8"/>
                </a:solidFill>
                <a:latin typeface="Arial"/>
              </a:rPr>
              <a:t>Strictly processes physical engineering and market numbers (MW, MWh, ₹, °C). Zero PII exposure.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950" b="1">
                <a:solidFill>
                  <a:srgbClr val="38BDF8"/>
                </a:solidFill>
                <a:latin typeface="Helvetica"/>
              </a:defRPr>
            </a:pPr>
            <a:r>
              <a:t>EMPIRICAL BENCHMARK &amp; BUSINESS PROOF</a:t>
            </a:r>
          </a:p>
        </p:txBody>
      </p:sp>
      <p:sp>
        <p:nvSpPr>
          <p:cNvPr id="4" name="TextBox 3"/>
          <p:cNvSpPr txBox="1"/>
          <p:nvPr/>
        </p:nvSpPr>
        <p:spPr>
          <a:xfrm>
            <a:off x="731520" y="640080"/>
            <a:ext cx="10698480" cy="502920"/>
          </a:xfrm>
          <a:prstGeom prst="rect">
            <a:avLst/>
          </a:prstGeom>
          <a:noFill/>
        </p:spPr>
        <p:txBody>
          <a:bodyPr wrap="square" lIns="0" tIns="0" rIns="0" bIns="0">
            <a:spAutoFit/>
          </a:bodyPr>
          <a:lstStyle/>
          <a:p>
            <a:pPr>
              <a:defRPr sz="2200" b="1">
                <a:solidFill>
                  <a:srgbClr val="FFFFFF"/>
                </a:solidFill>
                <a:latin typeface="Helvetica"/>
              </a:defRPr>
            </a:pPr>
            <a:r>
              <a:t>24-Hour Comparative Head-to-Head Performance</a:t>
            </a:r>
          </a:p>
        </p:txBody>
      </p:sp>
      <p:sp>
        <p:nvSpPr>
          <p:cNvPr id="5" name="TextBox 4"/>
          <p:cNvSpPr txBox="1"/>
          <p:nvPr/>
        </p:nvSpPr>
        <p:spPr>
          <a:xfrm>
            <a:off x="731520" y="1170432"/>
            <a:ext cx="10698480" cy="365760"/>
          </a:xfrm>
          <a:prstGeom prst="rect">
            <a:avLst/>
          </a:prstGeom>
          <a:noFill/>
        </p:spPr>
        <p:txBody>
          <a:bodyPr wrap="square" lIns="0" tIns="0" rIns="0" bIns="0">
            <a:spAutoFit/>
          </a:bodyPr>
          <a:lstStyle/>
          <a:p>
            <a:pPr>
              <a:defRPr sz="1200">
                <a:solidFill>
                  <a:srgbClr val="94A3B8"/>
                </a:solidFill>
                <a:latin typeface="Arial"/>
              </a:defRPr>
            </a:pPr>
            <a:r>
              <a:t>Evaluating GridMind Agent vs Fixed MILP vs Traditional Rule-Based Baseline under identical Summer conditions</a:t>
            </a:r>
          </a:p>
        </p:txBody>
      </p:sp>
      <p:sp>
        <p:nvSpPr>
          <p:cNvPr id="6" name="Rectangle 5"/>
          <p:cNvSpPr/>
          <p:nvPr/>
        </p:nvSpPr>
        <p:spPr>
          <a:xfrm>
            <a:off x="731520" y="6309360"/>
            <a:ext cx="10728655" cy="13716"/>
          </a:xfrm>
          <a:prstGeom prst="rect">
            <a:avLst/>
          </a:prstGeom>
          <a:solidFill>
            <a:srgbClr val="2D3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8229600" cy="274320"/>
          </a:xfrm>
          <a:prstGeom prst="rect">
            <a:avLst/>
          </a:prstGeom>
          <a:noFill/>
        </p:spPr>
        <p:txBody>
          <a:bodyPr wrap="none" lIns="0" tIns="0" rIns="0" bIns="0">
            <a:spAutoFit/>
          </a:bodyPr>
          <a:lstStyle/>
          <a:p>
            <a:pPr>
              <a:defRPr sz="900">
                <a:solidFill>
                  <a:srgbClr val="64748B"/>
                </a:solidFill>
                <a:latin typeface="Arial"/>
              </a:defRPr>
            </a:pPr>
            <a:r>
              <a:t>GridMind | Deccan Renewables Pvt. Ltd. (Karnataka) | Self-Assessment Claim: D2 / F3</a:t>
            </a:r>
          </a:p>
        </p:txBody>
      </p:sp>
      <p:sp>
        <p:nvSpPr>
          <p:cNvPr id="8" name="TextBox 7"/>
          <p:cNvSpPr txBox="1"/>
          <p:nvPr/>
        </p:nvSpPr>
        <p:spPr>
          <a:xfrm>
            <a:off x="10058400" y="6382512"/>
            <a:ext cx="1401775" cy="274320"/>
          </a:xfrm>
          <a:prstGeom prst="rect">
            <a:avLst/>
          </a:prstGeom>
          <a:noFill/>
        </p:spPr>
        <p:txBody>
          <a:bodyPr wrap="none" lIns="0" tIns="0" rIns="0" bIns="0">
            <a:spAutoFit/>
          </a:bodyPr>
          <a:lstStyle/>
          <a:p>
            <a:pPr algn="r">
              <a:defRPr sz="900" b="1">
                <a:solidFill>
                  <a:srgbClr val="94A3B8"/>
                </a:solidFill>
                <a:latin typeface="Arial"/>
              </a:defRPr>
            </a:pPr>
            <a:r>
              <a:t>Slide 12 of 16</a:t>
            </a:r>
          </a:p>
        </p:txBody>
      </p:sp>
      <p:sp>
        <p:nvSpPr>
          <p:cNvPr id="9" name="Rounded Rectangle 8"/>
          <p:cNvSpPr/>
          <p:nvPr/>
        </p:nvSpPr>
        <p:spPr>
          <a:xfrm>
            <a:off x="731520" y="1645920"/>
            <a:ext cx="2423160" cy="1371600"/>
          </a:xfrm>
          <a:prstGeom prst="roundRect">
            <a:avLst/>
          </a:prstGeom>
          <a:solidFill>
            <a:srgbClr val="131D38"/>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83080"/>
            <a:ext cx="2148840" cy="1097280"/>
          </a:xfrm>
          <a:prstGeom prst="rect">
            <a:avLst/>
          </a:prstGeom>
          <a:noFill/>
        </p:spPr>
        <p:txBody>
          <a:bodyPr wrap="square" lIns="0" tIns="0" rIns="0" bIns="0">
            <a:spAutoFit/>
          </a:bodyPr>
          <a:lstStyle/>
          <a:p>
            <a:pPr>
              <a:spcAft>
                <a:spcPts val="300"/>
              </a:spcAft>
              <a:defRPr sz="2600" b="1">
                <a:solidFill>
                  <a:srgbClr val="10B981"/>
                </a:solidFill>
                <a:latin typeface="Helvetica"/>
              </a:defRPr>
            </a:pPr>
            <a:r>
              <a:t>-44.5%</a:t>
            </a:r>
          </a:p>
          <a:p>
            <a:pPr>
              <a:spcAft>
                <a:spcPts val="200"/>
              </a:spcAft>
              <a:defRPr sz="1100" b="1">
                <a:solidFill>
                  <a:srgbClr val="FFFFFF"/>
                </a:solidFill>
                <a:latin typeface="Arial"/>
              </a:defRPr>
            </a:pPr>
            <a:r>
              <a:t>Net Operating Cost</a:t>
            </a:r>
          </a:p>
          <a:p>
            <a:pPr>
              <a:defRPr sz="900">
                <a:solidFill>
                  <a:srgbClr val="94A3B8"/>
                </a:solidFill>
                <a:latin typeface="Arial"/>
              </a:defRPr>
            </a:pPr>
            <a:r>
              <a:t>₹18.2 Million daily savings vs rule baseline</a:t>
            </a:r>
          </a:p>
        </p:txBody>
      </p:sp>
      <p:sp>
        <p:nvSpPr>
          <p:cNvPr id="11" name="Rounded Rectangle 10"/>
          <p:cNvSpPr/>
          <p:nvPr/>
        </p:nvSpPr>
        <p:spPr>
          <a:xfrm>
            <a:off x="3547872" y="1645920"/>
            <a:ext cx="2423160" cy="1371600"/>
          </a:xfrm>
          <a:prstGeom prst="roundRect">
            <a:avLst/>
          </a:prstGeom>
          <a:solidFill>
            <a:srgbClr val="131D38"/>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85032" y="1783080"/>
            <a:ext cx="2148840" cy="1097280"/>
          </a:xfrm>
          <a:prstGeom prst="rect">
            <a:avLst/>
          </a:prstGeom>
          <a:noFill/>
        </p:spPr>
        <p:txBody>
          <a:bodyPr wrap="square" lIns="0" tIns="0" rIns="0" bIns="0">
            <a:spAutoFit/>
          </a:bodyPr>
          <a:lstStyle/>
          <a:p>
            <a:pPr>
              <a:spcAft>
                <a:spcPts val="300"/>
              </a:spcAft>
              <a:defRPr sz="2600" b="1">
                <a:solidFill>
                  <a:srgbClr val="38BDF8"/>
                </a:solidFill>
                <a:latin typeface="Helvetica"/>
              </a:defRPr>
            </a:pPr>
            <a:r>
              <a:t>-88.7%</a:t>
            </a:r>
          </a:p>
          <a:p>
            <a:pPr>
              <a:spcAft>
                <a:spcPts val="200"/>
              </a:spcAft>
              <a:defRPr sz="1100" b="1">
                <a:solidFill>
                  <a:srgbClr val="FFFFFF"/>
                </a:solidFill>
                <a:latin typeface="Arial"/>
              </a:defRPr>
            </a:pPr>
            <a:r>
              <a:t>Contract Shortfall</a:t>
            </a:r>
          </a:p>
          <a:p>
            <a:pPr>
              <a:defRPr sz="900">
                <a:solidFill>
                  <a:srgbClr val="94A3B8"/>
                </a:solidFill>
                <a:latin typeface="Arial"/>
              </a:defRPr>
            </a:pPr>
            <a:r>
              <a:t>From 1,312.4 MWh down to 148.4 MWh</a:t>
            </a:r>
          </a:p>
        </p:txBody>
      </p:sp>
      <p:sp>
        <p:nvSpPr>
          <p:cNvPr id="13" name="Rounded Rectangle 12"/>
          <p:cNvSpPr/>
          <p:nvPr/>
        </p:nvSpPr>
        <p:spPr>
          <a:xfrm>
            <a:off x="6181344" y="1645920"/>
            <a:ext cx="2423160" cy="1371600"/>
          </a:xfrm>
          <a:prstGeom prst="roundRect">
            <a:avLst/>
          </a:prstGeom>
          <a:solidFill>
            <a:srgbClr val="131D38"/>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18504" y="1783080"/>
            <a:ext cx="2148840" cy="1097280"/>
          </a:xfrm>
          <a:prstGeom prst="rect">
            <a:avLst/>
          </a:prstGeom>
          <a:noFill/>
        </p:spPr>
        <p:txBody>
          <a:bodyPr wrap="square" lIns="0" tIns="0" rIns="0" bIns="0">
            <a:spAutoFit/>
          </a:bodyPr>
          <a:lstStyle/>
          <a:p>
            <a:pPr>
              <a:spcAft>
                <a:spcPts val="300"/>
              </a:spcAft>
              <a:defRPr sz="2600" b="1">
                <a:solidFill>
                  <a:srgbClr val="F59E0B"/>
                </a:solidFill>
                <a:latin typeface="Helvetica"/>
              </a:defRPr>
            </a:pPr>
            <a:r>
              <a:t>100%</a:t>
            </a:r>
          </a:p>
          <a:p>
            <a:pPr>
              <a:spcAft>
                <a:spcPts val="200"/>
              </a:spcAft>
              <a:defRPr sz="1100" b="1">
                <a:solidFill>
                  <a:srgbClr val="FFFFFF"/>
                </a:solidFill>
                <a:latin typeface="Arial"/>
              </a:defRPr>
            </a:pPr>
            <a:r>
              <a:t>Critical Load Protected</a:t>
            </a:r>
          </a:p>
          <a:p>
            <a:pPr>
              <a:defRPr sz="900">
                <a:solidFill>
                  <a:srgbClr val="94A3B8"/>
                </a:solidFill>
                <a:latin typeface="Arial"/>
              </a:defRPr>
            </a:pPr>
            <a:r>
              <a:t>0.000 MWh shed (vs 43.2 MWh in baseline)</a:t>
            </a:r>
          </a:p>
        </p:txBody>
      </p:sp>
      <p:sp>
        <p:nvSpPr>
          <p:cNvPr id="15" name="Rounded Rectangle 14"/>
          <p:cNvSpPr/>
          <p:nvPr/>
        </p:nvSpPr>
        <p:spPr>
          <a:xfrm>
            <a:off x="8814816" y="1645920"/>
            <a:ext cx="2423160" cy="1371600"/>
          </a:xfrm>
          <a:prstGeom prst="roundRect">
            <a:avLst/>
          </a:prstGeom>
          <a:solidFill>
            <a:srgbClr val="131D38"/>
          </a:solidFill>
          <a:ln w="1524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51976" y="1783080"/>
            <a:ext cx="2148840" cy="1097280"/>
          </a:xfrm>
          <a:prstGeom prst="rect">
            <a:avLst/>
          </a:prstGeom>
          <a:noFill/>
        </p:spPr>
        <p:txBody>
          <a:bodyPr wrap="square" lIns="0" tIns="0" rIns="0" bIns="0">
            <a:spAutoFit/>
          </a:bodyPr>
          <a:lstStyle/>
          <a:p>
            <a:pPr>
              <a:spcAft>
                <a:spcPts val="300"/>
              </a:spcAft>
              <a:defRPr sz="2600" b="1">
                <a:solidFill>
                  <a:srgbClr val="818CF8"/>
                </a:solidFill>
                <a:latin typeface="Helvetica"/>
              </a:defRPr>
            </a:pPr>
            <a:r>
              <a:t>0</a:t>
            </a:r>
          </a:p>
          <a:p>
            <a:pPr>
              <a:spcAft>
                <a:spcPts val="200"/>
              </a:spcAft>
              <a:defRPr sz="1100" b="1">
                <a:solidFill>
                  <a:srgbClr val="FFFFFF"/>
                </a:solidFill>
                <a:latin typeface="Arial"/>
              </a:defRPr>
            </a:pPr>
            <a:r>
              <a:t>Safety Violations</a:t>
            </a:r>
          </a:p>
          <a:p>
            <a:pPr>
              <a:defRPr sz="900">
                <a:solidFill>
                  <a:srgbClr val="94A3B8"/>
                </a:solidFill>
                <a:latin typeface="Arial"/>
              </a:defRPr>
            </a:pPr>
            <a:r>
              <a:t>Zero constraint violations across all runs</a:t>
            </a:r>
          </a:p>
        </p:txBody>
      </p:sp>
      <p:graphicFrame>
        <p:nvGraphicFramePr>
          <p:cNvPr id="17" name="Table 16"/>
          <p:cNvGraphicFramePr>
            <a:graphicFrameLocks noGrp="1"/>
          </p:cNvGraphicFramePr>
          <p:nvPr/>
        </p:nvGraphicFramePr>
        <p:xfrm>
          <a:off x="731520" y="3200400"/>
          <a:ext cx="10728655" cy="2880360"/>
        </p:xfrm>
        <a:graphic>
          <a:graphicData uri="http://schemas.openxmlformats.org/drawingml/2006/table">
            <a:tbl>
              <a:tblPr firstRow="1" bandRow="1">
                <a:tableStyleId>{5C22544A-7EE6-4342-B048-85BDC9FD1C3A}</a:tableStyleId>
              </a:tblPr>
              <a:tblGrid>
                <a:gridCol w="3017520"/>
                <a:gridCol w="1828800"/>
                <a:gridCol w="1828800"/>
                <a:gridCol w="2011680"/>
                <a:gridCol w="2041855"/>
              </a:tblGrid>
              <a:tr h="320040">
                <a:tc>
                  <a:txBody>
                    <a:bodyPr lIns="36576" tIns="36576"/>
                    <a:lstStyle/>
                    <a:p>
                      <a:pPr>
                        <a:defRPr sz="1000" b="1">
                          <a:solidFill>
                            <a:srgbClr val="38BDF8"/>
                          </a:solidFill>
                          <a:latin typeface="Helvetica"/>
                        </a:defRPr>
                      </a:pPr>
                      <a:r>
                        <a:t>Operational Performance Metric</a:t>
                      </a:r>
                    </a:p>
                  </a:txBody>
                  <a:tcPr>
                    <a:solidFill>
                      <a:srgbClr val="2D3A5D"/>
                    </a:solidFill>
                  </a:tcPr>
                </a:tc>
                <a:tc>
                  <a:txBody>
                    <a:bodyPr lIns="36576" tIns="36576"/>
                    <a:lstStyle/>
                    <a:p>
                      <a:pPr>
                        <a:defRPr sz="1000" b="1">
                          <a:solidFill>
                            <a:srgbClr val="38BDF8"/>
                          </a:solidFill>
                          <a:latin typeface="Helvetica"/>
                        </a:defRPr>
                      </a:pPr>
                      <a:r>
                        <a:t>1. Rule Baseline</a:t>
                      </a:r>
                    </a:p>
                  </a:txBody>
                  <a:tcPr>
                    <a:solidFill>
                      <a:srgbClr val="2D3A5D"/>
                    </a:solidFill>
                  </a:tcPr>
                </a:tc>
                <a:tc>
                  <a:txBody>
                    <a:bodyPr lIns="36576" tIns="36576"/>
                    <a:lstStyle/>
                    <a:p>
                      <a:pPr>
                        <a:defRPr sz="1000" b="1">
                          <a:solidFill>
                            <a:srgbClr val="38BDF8"/>
                          </a:solidFill>
                          <a:latin typeface="Helvetica"/>
                        </a:defRPr>
                      </a:pPr>
                      <a:r>
                        <a:t>2. Fixed MILP</a:t>
                      </a:r>
                    </a:p>
                  </a:txBody>
                  <a:tcPr>
                    <a:solidFill>
                      <a:srgbClr val="2D3A5D"/>
                    </a:solidFill>
                  </a:tcPr>
                </a:tc>
                <a:tc>
                  <a:txBody>
                    <a:bodyPr lIns="36576" tIns="36576"/>
                    <a:lstStyle/>
                    <a:p>
                      <a:pPr>
                        <a:defRPr sz="1000" b="1">
                          <a:solidFill>
                            <a:srgbClr val="38BDF8"/>
                          </a:solidFill>
                          <a:latin typeface="Helvetica"/>
                        </a:defRPr>
                      </a:pPr>
                      <a:r>
                        <a:t>3. GridMind Agent</a:t>
                      </a:r>
                    </a:p>
                  </a:txBody>
                  <a:tcPr>
                    <a:solidFill>
                      <a:srgbClr val="2D3A5D"/>
                    </a:solidFill>
                  </a:tcPr>
                </a:tc>
                <a:tc>
                  <a:txBody>
                    <a:bodyPr lIns="36576" tIns="36576"/>
                    <a:lstStyle/>
                    <a:p>
                      <a:pPr>
                        <a:defRPr sz="1000" b="1">
                          <a:solidFill>
                            <a:srgbClr val="38BDF8"/>
                          </a:solidFill>
                          <a:latin typeface="Helvetica"/>
                        </a:defRPr>
                      </a:pPr>
                      <a:r>
                        <a:t>GridMind vs Baseline</a:t>
                      </a:r>
                    </a:p>
                  </a:txBody>
                  <a:tcPr>
                    <a:solidFill>
                      <a:srgbClr val="2D3A5D"/>
                    </a:solidFill>
                  </a:tcPr>
                </a:tc>
              </a:tr>
              <a:tr h="320040">
                <a:tc>
                  <a:txBody>
                    <a:bodyPr lIns="36576" tIns="36576"/>
                    <a:lstStyle/>
                    <a:p>
                      <a:pPr>
                        <a:defRPr sz="950">
                          <a:solidFill>
                            <a:srgbClr val="FFFFFF"/>
                          </a:solidFill>
                          <a:latin typeface="Arial"/>
                        </a:defRPr>
                      </a:pPr>
                      <a:r>
                        <a:t>Total Net Operating Cost (₹)</a:t>
                      </a:r>
                    </a:p>
                  </a:txBody>
                  <a:tcPr>
                    <a:solidFill>
                      <a:srgbClr val="131D38"/>
                    </a:solidFill>
                  </a:tcPr>
                </a:tc>
                <a:tc>
                  <a:txBody>
                    <a:bodyPr lIns="36576" tIns="36576"/>
                    <a:lstStyle/>
                    <a:p>
                      <a:pPr>
                        <a:defRPr sz="950">
                          <a:solidFill>
                            <a:srgbClr val="94A3B8"/>
                          </a:solidFill>
                          <a:latin typeface="Arial"/>
                        </a:defRPr>
                      </a:pPr>
                      <a:r>
                        <a:t>₹40,900,584</a:t>
                      </a:r>
                    </a:p>
                  </a:txBody>
                  <a:tcPr>
                    <a:solidFill>
                      <a:srgbClr val="131D38"/>
                    </a:solidFill>
                  </a:tcPr>
                </a:tc>
                <a:tc>
                  <a:txBody>
                    <a:bodyPr lIns="36576" tIns="36576"/>
                    <a:lstStyle/>
                    <a:p>
                      <a:pPr>
                        <a:defRPr sz="950">
                          <a:solidFill>
                            <a:srgbClr val="94A3B8"/>
                          </a:solidFill>
                          <a:latin typeface="Arial"/>
                        </a:defRPr>
                      </a:pPr>
                      <a:r>
                        <a:t>₹22,770,752</a:t>
                      </a:r>
                    </a:p>
                  </a:txBody>
                  <a:tcPr>
                    <a:solidFill>
                      <a:srgbClr val="131D38"/>
                    </a:solidFill>
                  </a:tcPr>
                </a:tc>
                <a:tc>
                  <a:txBody>
                    <a:bodyPr lIns="36576" tIns="36576"/>
                    <a:lstStyle/>
                    <a:p>
                      <a:pPr>
                        <a:defRPr sz="950" b="1">
                          <a:solidFill>
                            <a:srgbClr val="10B981"/>
                          </a:solidFill>
                          <a:latin typeface="Arial"/>
                        </a:defRPr>
                      </a:pPr>
                      <a:r>
                        <a:t>₹22,686,441</a:t>
                      </a:r>
                    </a:p>
                  </a:txBody>
                  <a:tcPr>
                    <a:solidFill>
                      <a:srgbClr val="131D38"/>
                    </a:solidFill>
                  </a:tcPr>
                </a:tc>
                <a:tc>
                  <a:txBody>
                    <a:bodyPr lIns="36576" tIns="36576"/>
                    <a:lstStyle/>
                    <a:p>
                      <a:pPr>
                        <a:defRPr sz="950" b="1">
                          <a:solidFill>
                            <a:srgbClr val="38BDF8"/>
                          </a:solidFill>
                          <a:latin typeface="Arial"/>
                        </a:defRPr>
                      </a:pPr>
                      <a:r>
                        <a:t>-44.5% (-₹18.2M)</a:t>
                      </a:r>
                    </a:p>
                  </a:txBody>
                  <a:tcPr>
                    <a:solidFill>
                      <a:srgbClr val="131D38"/>
                    </a:solidFill>
                  </a:tcPr>
                </a:tc>
              </a:tr>
              <a:tr h="320040">
                <a:tc>
                  <a:txBody>
                    <a:bodyPr lIns="36576" tIns="36576"/>
                    <a:lstStyle/>
                    <a:p>
                      <a:pPr>
                        <a:defRPr sz="950">
                          <a:solidFill>
                            <a:srgbClr val="FFFFFF"/>
                          </a:solidFill>
                          <a:latin typeface="Arial"/>
                        </a:defRPr>
                      </a:pPr>
                      <a:r>
                        <a:t>Grid Import Energy Cost (₹)</a:t>
                      </a:r>
                    </a:p>
                  </a:txBody>
                  <a:tcPr>
                    <a:solidFill>
                      <a:srgbClr val="0F172A"/>
                    </a:solidFill>
                  </a:tcPr>
                </a:tc>
                <a:tc>
                  <a:txBody>
                    <a:bodyPr lIns="36576" tIns="36576"/>
                    <a:lstStyle/>
                    <a:p>
                      <a:pPr>
                        <a:defRPr sz="950">
                          <a:solidFill>
                            <a:srgbClr val="94A3B8"/>
                          </a:solidFill>
                          <a:latin typeface="Arial"/>
                        </a:defRPr>
                      </a:pPr>
                      <a:r>
                        <a:t>₹13,908,012</a:t>
                      </a:r>
                    </a:p>
                  </a:txBody>
                  <a:tcPr>
                    <a:solidFill>
                      <a:srgbClr val="0F172A"/>
                    </a:solidFill>
                  </a:tcPr>
                </a:tc>
                <a:tc>
                  <a:txBody>
                    <a:bodyPr lIns="36576" tIns="36576"/>
                    <a:lstStyle/>
                    <a:p>
                      <a:pPr>
                        <a:defRPr sz="950">
                          <a:solidFill>
                            <a:srgbClr val="94A3B8"/>
                          </a:solidFill>
                          <a:latin typeface="Arial"/>
                        </a:defRPr>
                      </a:pPr>
                      <a:r>
                        <a:t>₹13,343,759</a:t>
                      </a:r>
                    </a:p>
                  </a:txBody>
                  <a:tcPr>
                    <a:solidFill>
                      <a:srgbClr val="0F172A"/>
                    </a:solidFill>
                  </a:tcPr>
                </a:tc>
                <a:tc>
                  <a:txBody>
                    <a:bodyPr lIns="36576" tIns="36576"/>
                    <a:lstStyle/>
                    <a:p>
                      <a:pPr>
                        <a:defRPr sz="950" b="1">
                          <a:solidFill>
                            <a:srgbClr val="10B981"/>
                          </a:solidFill>
                          <a:latin typeface="Arial"/>
                        </a:defRPr>
                      </a:pPr>
                      <a:r>
                        <a:t>₹13,190,232</a:t>
                      </a:r>
                    </a:p>
                  </a:txBody>
                  <a:tcPr>
                    <a:solidFill>
                      <a:srgbClr val="0F172A"/>
                    </a:solidFill>
                  </a:tcPr>
                </a:tc>
                <a:tc>
                  <a:txBody>
                    <a:bodyPr lIns="36576" tIns="36576"/>
                    <a:lstStyle/>
                    <a:p>
                      <a:pPr>
                        <a:defRPr sz="950" b="1">
                          <a:solidFill>
                            <a:srgbClr val="38BDF8"/>
                          </a:solidFill>
                          <a:latin typeface="Arial"/>
                        </a:defRPr>
                      </a:pPr>
                      <a:r>
                        <a:t>-5.2%</a:t>
                      </a:r>
                    </a:p>
                  </a:txBody>
                  <a:tcPr>
                    <a:solidFill>
                      <a:srgbClr val="0F172A"/>
                    </a:solidFill>
                  </a:tcPr>
                </a:tc>
              </a:tr>
              <a:tr h="320040">
                <a:tc>
                  <a:txBody>
                    <a:bodyPr lIns="36576" tIns="36576"/>
                    <a:lstStyle/>
                    <a:p>
                      <a:pPr>
                        <a:defRPr sz="950">
                          <a:solidFill>
                            <a:srgbClr val="FFFFFF"/>
                          </a:solidFill>
                          <a:latin typeface="Arial"/>
                        </a:defRPr>
                      </a:pPr>
                      <a:r>
                        <a:t>Export Market Revenue (₹)</a:t>
                      </a:r>
                    </a:p>
                  </a:txBody>
                  <a:tcPr>
                    <a:solidFill>
                      <a:srgbClr val="131D38"/>
                    </a:solidFill>
                  </a:tcPr>
                </a:tc>
                <a:tc>
                  <a:txBody>
                    <a:bodyPr lIns="36576" tIns="36576"/>
                    <a:lstStyle/>
                    <a:p>
                      <a:pPr>
                        <a:defRPr sz="950">
                          <a:solidFill>
                            <a:srgbClr val="94A3B8"/>
                          </a:solidFill>
                          <a:latin typeface="Arial"/>
                        </a:defRPr>
                      </a:pPr>
                      <a:r>
                        <a:t>₹0</a:t>
                      </a:r>
                    </a:p>
                  </a:txBody>
                  <a:tcPr>
                    <a:solidFill>
                      <a:srgbClr val="131D38"/>
                    </a:solidFill>
                  </a:tcPr>
                </a:tc>
                <a:tc>
                  <a:txBody>
                    <a:bodyPr lIns="36576" tIns="36576"/>
                    <a:lstStyle/>
                    <a:p>
                      <a:pPr>
                        <a:defRPr sz="950">
                          <a:solidFill>
                            <a:srgbClr val="94A3B8"/>
                          </a:solidFill>
                          <a:latin typeface="Arial"/>
                        </a:defRPr>
                      </a:pPr>
                      <a:r>
                        <a:t>₹370,138</a:t>
                      </a:r>
                    </a:p>
                  </a:txBody>
                  <a:tcPr>
                    <a:solidFill>
                      <a:srgbClr val="131D38"/>
                    </a:solidFill>
                  </a:tcPr>
                </a:tc>
                <a:tc>
                  <a:txBody>
                    <a:bodyPr lIns="36576" tIns="36576"/>
                    <a:lstStyle/>
                    <a:p>
                      <a:pPr>
                        <a:defRPr sz="950" b="1">
                          <a:solidFill>
                            <a:srgbClr val="10B981"/>
                          </a:solidFill>
                          <a:latin typeface="Arial"/>
                        </a:defRPr>
                      </a:pPr>
                      <a:r>
                        <a:t>₹188,489</a:t>
                      </a:r>
                    </a:p>
                  </a:txBody>
                  <a:tcPr>
                    <a:solidFill>
                      <a:srgbClr val="131D38"/>
                    </a:solidFill>
                  </a:tcPr>
                </a:tc>
                <a:tc>
                  <a:txBody>
                    <a:bodyPr lIns="36576" tIns="36576"/>
                    <a:lstStyle/>
                    <a:p>
                      <a:pPr>
                        <a:defRPr sz="950" b="1">
                          <a:solidFill>
                            <a:srgbClr val="38BDF8"/>
                          </a:solidFill>
                          <a:latin typeface="Arial"/>
                        </a:defRPr>
                      </a:pPr>
                      <a:r>
                        <a:t>+₹188,489</a:t>
                      </a:r>
                    </a:p>
                  </a:txBody>
                  <a:tcPr>
                    <a:solidFill>
                      <a:srgbClr val="131D38"/>
                    </a:solidFill>
                  </a:tcPr>
                </a:tc>
              </a:tr>
              <a:tr h="320040">
                <a:tc>
                  <a:txBody>
                    <a:bodyPr lIns="36576" tIns="36576"/>
                    <a:lstStyle/>
                    <a:p>
                      <a:pPr>
                        <a:defRPr sz="950">
                          <a:solidFill>
                            <a:srgbClr val="FFFFFF"/>
                          </a:solidFill>
                          <a:latin typeface="Arial"/>
                        </a:defRPr>
                      </a:pPr>
                      <a:r>
                        <a:t>Contract Delivery Shortfall (MWh)</a:t>
                      </a:r>
                    </a:p>
                  </a:txBody>
                  <a:tcPr>
                    <a:solidFill>
                      <a:srgbClr val="0F172A"/>
                    </a:solidFill>
                  </a:tcPr>
                </a:tc>
                <a:tc>
                  <a:txBody>
                    <a:bodyPr lIns="36576" tIns="36576"/>
                    <a:lstStyle/>
                    <a:p>
                      <a:pPr>
                        <a:defRPr sz="950">
                          <a:solidFill>
                            <a:srgbClr val="94A3B8"/>
                          </a:solidFill>
                          <a:latin typeface="Arial"/>
                        </a:defRPr>
                      </a:pPr>
                      <a:r>
                        <a:t>1,312.40 MWh</a:t>
                      </a:r>
                    </a:p>
                  </a:txBody>
                  <a:tcPr>
                    <a:solidFill>
                      <a:srgbClr val="0F172A"/>
                    </a:solidFill>
                  </a:tcPr>
                </a:tc>
                <a:tc>
                  <a:txBody>
                    <a:bodyPr lIns="36576" tIns="36576"/>
                    <a:lstStyle/>
                    <a:p>
                      <a:pPr>
                        <a:defRPr sz="950">
                          <a:solidFill>
                            <a:srgbClr val="94A3B8"/>
                          </a:solidFill>
                          <a:latin typeface="Arial"/>
                        </a:defRPr>
                      </a:pPr>
                      <a:r>
                        <a:t>154.21 MWh</a:t>
                      </a:r>
                    </a:p>
                  </a:txBody>
                  <a:tcPr>
                    <a:solidFill>
                      <a:srgbClr val="0F172A"/>
                    </a:solidFill>
                  </a:tcPr>
                </a:tc>
                <a:tc>
                  <a:txBody>
                    <a:bodyPr lIns="36576" tIns="36576"/>
                    <a:lstStyle/>
                    <a:p>
                      <a:pPr>
                        <a:defRPr sz="950" b="1">
                          <a:solidFill>
                            <a:srgbClr val="10B981"/>
                          </a:solidFill>
                          <a:latin typeface="Arial"/>
                        </a:defRPr>
                      </a:pPr>
                      <a:r>
                        <a:t>148.36 MWh</a:t>
                      </a:r>
                    </a:p>
                  </a:txBody>
                  <a:tcPr>
                    <a:solidFill>
                      <a:srgbClr val="0F172A"/>
                    </a:solidFill>
                  </a:tcPr>
                </a:tc>
                <a:tc>
                  <a:txBody>
                    <a:bodyPr lIns="36576" tIns="36576"/>
                    <a:lstStyle/>
                    <a:p>
                      <a:pPr>
                        <a:defRPr sz="950" b="1">
                          <a:solidFill>
                            <a:srgbClr val="38BDF8"/>
                          </a:solidFill>
                          <a:latin typeface="Arial"/>
                        </a:defRPr>
                      </a:pPr>
                      <a:r>
                        <a:t>-88.7% Reduction</a:t>
                      </a:r>
                    </a:p>
                  </a:txBody>
                  <a:tcPr>
                    <a:solidFill>
                      <a:srgbClr val="0F172A"/>
                    </a:solidFill>
                  </a:tcPr>
                </a:tc>
              </a:tr>
              <a:tr h="320040">
                <a:tc>
                  <a:txBody>
                    <a:bodyPr lIns="36576" tIns="36576"/>
                    <a:lstStyle/>
                    <a:p>
                      <a:pPr>
                        <a:defRPr sz="950">
                          <a:solidFill>
                            <a:srgbClr val="FFFFFF"/>
                          </a:solidFill>
                          <a:latin typeface="Arial"/>
                        </a:defRPr>
                      </a:pPr>
                      <a:r>
                        <a:t>Shortfall Penalties (₹)</a:t>
                      </a:r>
                    </a:p>
                  </a:txBody>
                  <a:tcPr>
                    <a:solidFill>
                      <a:srgbClr val="131D38"/>
                    </a:solidFill>
                  </a:tcPr>
                </a:tc>
                <a:tc>
                  <a:txBody>
                    <a:bodyPr lIns="36576" tIns="36576"/>
                    <a:lstStyle/>
                    <a:p>
                      <a:pPr>
                        <a:defRPr sz="950">
                          <a:solidFill>
                            <a:srgbClr val="94A3B8"/>
                          </a:solidFill>
                          <a:latin typeface="Arial"/>
                        </a:defRPr>
                      </a:pPr>
                      <a:r>
                        <a:t>₹19,686,008</a:t>
                      </a:r>
                    </a:p>
                  </a:txBody>
                  <a:tcPr>
                    <a:solidFill>
                      <a:srgbClr val="131D38"/>
                    </a:solidFill>
                  </a:tcPr>
                </a:tc>
                <a:tc>
                  <a:txBody>
                    <a:bodyPr lIns="36576" tIns="36576"/>
                    <a:lstStyle/>
                    <a:p>
                      <a:pPr>
                        <a:defRPr sz="950">
                          <a:solidFill>
                            <a:srgbClr val="94A3B8"/>
                          </a:solidFill>
                          <a:latin typeface="Arial"/>
                        </a:defRPr>
                      </a:pPr>
                      <a:r>
                        <a:t>₹2,313,176</a:t>
                      </a:r>
                    </a:p>
                  </a:txBody>
                  <a:tcPr>
                    <a:solidFill>
                      <a:srgbClr val="131D38"/>
                    </a:solidFill>
                  </a:tcPr>
                </a:tc>
                <a:tc>
                  <a:txBody>
                    <a:bodyPr lIns="36576" tIns="36576"/>
                    <a:lstStyle/>
                    <a:p>
                      <a:pPr>
                        <a:defRPr sz="950" b="1">
                          <a:solidFill>
                            <a:srgbClr val="10B981"/>
                          </a:solidFill>
                          <a:latin typeface="Arial"/>
                        </a:defRPr>
                      </a:pPr>
                      <a:r>
                        <a:t>₹2,225,422</a:t>
                      </a:r>
                    </a:p>
                  </a:txBody>
                  <a:tcPr>
                    <a:solidFill>
                      <a:srgbClr val="131D38"/>
                    </a:solidFill>
                  </a:tcPr>
                </a:tc>
                <a:tc>
                  <a:txBody>
                    <a:bodyPr lIns="36576" tIns="36576"/>
                    <a:lstStyle/>
                    <a:p>
                      <a:pPr>
                        <a:defRPr sz="950" b="1">
                          <a:solidFill>
                            <a:srgbClr val="38BDF8"/>
                          </a:solidFill>
                          <a:latin typeface="Arial"/>
                        </a:defRPr>
                      </a:pPr>
                      <a:r>
                        <a:t>-88.7% (-₹17.4M)</a:t>
                      </a:r>
                    </a:p>
                  </a:txBody>
                  <a:tcPr>
                    <a:solidFill>
                      <a:srgbClr val="131D38"/>
                    </a:solidFill>
                  </a:tcPr>
                </a:tc>
              </a:tr>
              <a:tr h="320040">
                <a:tc>
                  <a:txBody>
                    <a:bodyPr lIns="36576" tIns="36576"/>
                    <a:lstStyle/>
                    <a:p>
                      <a:pPr>
                        <a:defRPr sz="950">
                          <a:solidFill>
                            <a:srgbClr val="FFFFFF"/>
                          </a:solidFill>
                          <a:latin typeface="Arial"/>
                        </a:defRPr>
                      </a:pPr>
                      <a:r>
                        <a:t>Unserved Critical Customer Load</a:t>
                      </a:r>
                    </a:p>
                  </a:txBody>
                  <a:tcPr>
                    <a:solidFill>
                      <a:srgbClr val="0F172A"/>
                    </a:solidFill>
                  </a:tcPr>
                </a:tc>
                <a:tc>
                  <a:txBody>
                    <a:bodyPr lIns="36576" tIns="36576"/>
                    <a:lstStyle/>
                    <a:p>
                      <a:pPr>
                        <a:defRPr sz="950">
                          <a:solidFill>
                            <a:srgbClr val="F43F5E"/>
                          </a:solidFill>
                          <a:latin typeface="Arial"/>
                        </a:defRPr>
                      </a:pPr>
                      <a:r>
                        <a:t>43.247 MWh</a:t>
                      </a:r>
                    </a:p>
                  </a:txBody>
                  <a:tcPr>
                    <a:solidFill>
                      <a:srgbClr val="0F172A"/>
                    </a:solidFill>
                  </a:tcPr>
                </a:tc>
                <a:tc>
                  <a:txBody>
                    <a:bodyPr lIns="36576" tIns="36576"/>
                    <a:lstStyle/>
                    <a:p>
                      <a:pPr>
                        <a:defRPr sz="950">
                          <a:solidFill>
                            <a:srgbClr val="94A3B8"/>
                          </a:solidFill>
                          <a:latin typeface="Arial"/>
                        </a:defRPr>
                      </a:pPr>
                      <a:r>
                        <a:t>0.000 MWh</a:t>
                      </a:r>
                    </a:p>
                  </a:txBody>
                  <a:tcPr>
                    <a:solidFill>
                      <a:srgbClr val="0F172A"/>
                    </a:solidFill>
                  </a:tcPr>
                </a:tc>
                <a:tc>
                  <a:txBody>
                    <a:bodyPr lIns="36576" tIns="36576"/>
                    <a:lstStyle/>
                    <a:p>
                      <a:pPr>
                        <a:defRPr sz="950" b="1">
                          <a:solidFill>
                            <a:srgbClr val="10B981"/>
                          </a:solidFill>
                          <a:latin typeface="Arial"/>
                        </a:defRPr>
                      </a:pPr>
                      <a:r>
                        <a:t>0.000 MWh</a:t>
                      </a:r>
                    </a:p>
                  </a:txBody>
                  <a:tcPr>
                    <a:solidFill>
                      <a:srgbClr val="0F172A"/>
                    </a:solidFill>
                  </a:tcPr>
                </a:tc>
                <a:tc>
                  <a:txBody>
                    <a:bodyPr lIns="36576" tIns="36576"/>
                    <a:lstStyle/>
                    <a:p>
                      <a:pPr>
                        <a:defRPr sz="950" b="1">
                          <a:solidFill>
                            <a:srgbClr val="38BDF8"/>
                          </a:solidFill>
                          <a:latin typeface="Arial"/>
                        </a:defRPr>
                      </a:pPr>
                      <a:r>
                        <a:t>100% Protected (0 VOLL)</a:t>
                      </a:r>
                    </a:p>
                  </a:txBody>
                  <a:tcPr>
                    <a:solidFill>
                      <a:srgbClr val="0F172A"/>
                    </a:solidFill>
                  </a:tcPr>
                </a:tc>
              </a:tr>
              <a:tr h="320040">
                <a:tc>
                  <a:txBody>
                    <a:bodyPr lIns="36576" tIns="36576"/>
                    <a:lstStyle/>
                    <a:p>
                      <a:pPr>
                        <a:defRPr sz="950">
                          <a:solidFill>
                            <a:srgbClr val="FFFFFF"/>
                          </a:solidFill>
                          <a:latin typeface="Arial"/>
                        </a:defRPr>
                      </a:pPr>
                      <a:r>
                        <a:t>Carbon Footprint (tCO₂)</a:t>
                      </a:r>
                    </a:p>
                  </a:txBody>
                  <a:tcPr>
                    <a:solidFill>
                      <a:srgbClr val="131D38"/>
                    </a:solidFill>
                  </a:tcPr>
                </a:tc>
                <a:tc>
                  <a:txBody>
                    <a:bodyPr lIns="36576" tIns="36576"/>
                    <a:lstStyle/>
                    <a:p>
                      <a:pPr>
                        <a:defRPr sz="950">
                          <a:solidFill>
                            <a:srgbClr val="94A3B8"/>
                          </a:solidFill>
                          <a:latin typeface="Arial"/>
                        </a:defRPr>
                      </a:pPr>
                      <a:r>
                        <a:t>1,874.5 tCO₂</a:t>
                      </a:r>
                    </a:p>
                  </a:txBody>
                  <a:tcPr>
                    <a:solidFill>
                      <a:srgbClr val="131D38"/>
                    </a:solidFill>
                  </a:tcPr>
                </a:tc>
                <a:tc>
                  <a:txBody>
                    <a:bodyPr lIns="36576" tIns="36576"/>
                    <a:lstStyle/>
                    <a:p>
                      <a:pPr>
                        <a:defRPr sz="950">
                          <a:solidFill>
                            <a:srgbClr val="94A3B8"/>
                          </a:solidFill>
                          <a:latin typeface="Arial"/>
                        </a:defRPr>
                      </a:pPr>
                      <a:r>
                        <a:t>1,803.2 tCO₂</a:t>
                      </a:r>
                    </a:p>
                  </a:txBody>
                  <a:tcPr>
                    <a:solidFill>
                      <a:srgbClr val="131D38"/>
                    </a:solidFill>
                  </a:tcPr>
                </a:tc>
                <a:tc>
                  <a:txBody>
                    <a:bodyPr lIns="36576" tIns="36576"/>
                    <a:lstStyle/>
                    <a:p>
                      <a:pPr>
                        <a:defRPr sz="950" b="1">
                          <a:solidFill>
                            <a:srgbClr val="10B981"/>
                          </a:solidFill>
                          <a:latin typeface="Arial"/>
                        </a:defRPr>
                      </a:pPr>
                      <a:r>
                        <a:t>1,769.0 tCO₂</a:t>
                      </a:r>
                    </a:p>
                  </a:txBody>
                  <a:tcPr>
                    <a:solidFill>
                      <a:srgbClr val="131D38"/>
                    </a:solidFill>
                  </a:tcPr>
                </a:tc>
                <a:tc>
                  <a:txBody>
                    <a:bodyPr lIns="36576" tIns="36576"/>
                    <a:lstStyle/>
                    <a:p>
                      <a:pPr>
                        <a:defRPr sz="950" b="1">
                          <a:solidFill>
                            <a:srgbClr val="38BDF8"/>
                          </a:solidFill>
                          <a:latin typeface="Arial"/>
                        </a:defRPr>
                      </a:pPr>
                      <a:r>
                        <a:t>-5.6% (-105.5 tCO₂)</a:t>
                      </a:r>
                    </a:p>
                  </a:txBody>
                  <a:tcPr>
                    <a:solidFill>
                      <a:srgbClr val="131D38"/>
                    </a:solidFill>
                  </a:tcPr>
                </a:tc>
              </a:tr>
              <a:tr h="320040">
                <a:tc>
                  <a:txBody>
                    <a:bodyPr lIns="36576" tIns="36576"/>
                    <a:lstStyle/>
                    <a:p>
                      <a:pPr>
                        <a:defRPr sz="950">
                          <a:solidFill>
                            <a:srgbClr val="FFFFFF"/>
                          </a:solidFill>
                          <a:latin typeface="Arial"/>
                        </a:defRPr>
                      </a:pPr>
                      <a:r>
                        <a:t>Renewable Energy Utilization</a:t>
                      </a:r>
                    </a:p>
                  </a:txBody>
                  <a:tcPr>
                    <a:solidFill>
                      <a:srgbClr val="0F172A"/>
                    </a:solidFill>
                  </a:tcPr>
                </a:tc>
                <a:tc>
                  <a:txBody>
                    <a:bodyPr lIns="36576" tIns="36576"/>
                    <a:lstStyle/>
                    <a:p>
                      <a:pPr>
                        <a:defRPr sz="950">
                          <a:solidFill>
                            <a:srgbClr val="94A3B8"/>
                          </a:solidFill>
                          <a:latin typeface="Arial"/>
                        </a:defRPr>
                      </a:pPr>
                      <a:r>
                        <a:t>100.0%</a:t>
                      </a:r>
                    </a:p>
                  </a:txBody>
                  <a:tcPr>
                    <a:solidFill>
                      <a:srgbClr val="0F172A"/>
                    </a:solidFill>
                  </a:tcPr>
                </a:tc>
                <a:tc>
                  <a:txBody>
                    <a:bodyPr lIns="36576" tIns="36576"/>
                    <a:lstStyle/>
                    <a:p>
                      <a:pPr>
                        <a:defRPr sz="950">
                          <a:solidFill>
                            <a:srgbClr val="94A3B8"/>
                          </a:solidFill>
                          <a:latin typeface="Arial"/>
                        </a:defRPr>
                      </a:pPr>
                      <a:r>
                        <a:t>100.0%</a:t>
                      </a:r>
                    </a:p>
                  </a:txBody>
                  <a:tcPr>
                    <a:solidFill>
                      <a:srgbClr val="0F172A"/>
                    </a:solidFill>
                  </a:tcPr>
                </a:tc>
                <a:tc>
                  <a:txBody>
                    <a:bodyPr lIns="36576" tIns="36576"/>
                    <a:lstStyle/>
                    <a:p>
                      <a:pPr>
                        <a:defRPr sz="950" b="1">
                          <a:solidFill>
                            <a:srgbClr val="10B981"/>
                          </a:solidFill>
                          <a:latin typeface="Arial"/>
                        </a:defRPr>
                      </a:pPr>
                      <a:r>
                        <a:t>100.0%</a:t>
                      </a:r>
                    </a:p>
                  </a:txBody>
                  <a:tcPr>
                    <a:solidFill>
                      <a:srgbClr val="0F172A"/>
                    </a:solidFill>
                  </a:tcPr>
                </a:tc>
                <a:tc>
                  <a:txBody>
                    <a:bodyPr lIns="36576" tIns="36576"/>
                    <a:lstStyle/>
                    <a:p>
                      <a:pPr>
                        <a:defRPr sz="950" b="1">
                          <a:solidFill>
                            <a:srgbClr val="38BDF8"/>
                          </a:solidFill>
                          <a:latin typeface="Arial"/>
                        </a:defRPr>
                      </a:pPr>
                      <a:r>
                        <a:t>0.0% Curtailment</a:t>
                      </a:r>
                    </a:p>
                  </a:txBody>
                  <a:tcPr>
                    <a:solidFill>
                      <a:srgbClr val="0F172A"/>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950" b="1">
                <a:solidFill>
                  <a:srgbClr val="38BDF8"/>
                </a:solidFill>
                <a:latin typeface="Helvetica"/>
              </a:defRPr>
            </a:pPr>
            <a:r>
              <a:t>RIGOROUS STRESS-TESTING &amp; AUDIT</a:t>
            </a:r>
          </a:p>
        </p:txBody>
      </p:sp>
      <p:sp>
        <p:nvSpPr>
          <p:cNvPr id="4" name="TextBox 3"/>
          <p:cNvSpPr txBox="1"/>
          <p:nvPr/>
        </p:nvSpPr>
        <p:spPr>
          <a:xfrm>
            <a:off x="731520" y="640080"/>
            <a:ext cx="10698480" cy="502920"/>
          </a:xfrm>
          <a:prstGeom prst="rect">
            <a:avLst/>
          </a:prstGeom>
          <a:noFill/>
        </p:spPr>
        <p:txBody>
          <a:bodyPr wrap="square" lIns="0" tIns="0" rIns="0" bIns="0">
            <a:spAutoFit/>
          </a:bodyPr>
          <a:lstStyle/>
          <a:p>
            <a:pPr>
              <a:defRPr sz="2200" b="1">
                <a:solidFill>
                  <a:srgbClr val="FFFFFF"/>
                </a:solidFill>
                <a:latin typeface="Helvetica"/>
              </a:defRPr>
            </a:pPr>
            <a:r>
              <a:t>Multi-Day Reliability Stress-Test: D2 Verifiable Proof</a:t>
            </a:r>
          </a:p>
        </p:txBody>
      </p:sp>
      <p:sp>
        <p:nvSpPr>
          <p:cNvPr id="5" name="TextBox 4"/>
          <p:cNvSpPr txBox="1"/>
          <p:nvPr/>
        </p:nvSpPr>
        <p:spPr>
          <a:xfrm>
            <a:off x="731520" y="1170432"/>
            <a:ext cx="10698480" cy="365760"/>
          </a:xfrm>
          <a:prstGeom prst="rect">
            <a:avLst/>
          </a:prstGeom>
          <a:noFill/>
        </p:spPr>
        <p:txBody>
          <a:bodyPr wrap="square" lIns="0" tIns="0" rIns="0" bIns="0">
            <a:spAutoFit/>
          </a:bodyPr>
          <a:lstStyle/>
          <a:p>
            <a:pPr>
              <a:defRPr sz="1200">
                <a:solidFill>
                  <a:srgbClr val="94A3B8"/>
                </a:solidFill>
                <a:latin typeface="Arial"/>
              </a:defRPr>
            </a:pPr>
            <a:r>
              <a:t>Continuous 30-day simulation suite across 2,880 consecutive intervals with 21 injected severe disturbances</a:t>
            </a:r>
          </a:p>
        </p:txBody>
      </p:sp>
      <p:sp>
        <p:nvSpPr>
          <p:cNvPr id="6" name="Rectangle 5"/>
          <p:cNvSpPr/>
          <p:nvPr/>
        </p:nvSpPr>
        <p:spPr>
          <a:xfrm>
            <a:off x="731520" y="6309360"/>
            <a:ext cx="10728655" cy="13716"/>
          </a:xfrm>
          <a:prstGeom prst="rect">
            <a:avLst/>
          </a:prstGeom>
          <a:solidFill>
            <a:srgbClr val="2D3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8229600" cy="274320"/>
          </a:xfrm>
          <a:prstGeom prst="rect">
            <a:avLst/>
          </a:prstGeom>
          <a:noFill/>
        </p:spPr>
        <p:txBody>
          <a:bodyPr wrap="none" lIns="0" tIns="0" rIns="0" bIns="0">
            <a:spAutoFit/>
          </a:bodyPr>
          <a:lstStyle/>
          <a:p>
            <a:pPr>
              <a:defRPr sz="900">
                <a:solidFill>
                  <a:srgbClr val="64748B"/>
                </a:solidFill>
                <a:latin typeface="Arial"/>
              </a:defRPr>
            </a:pPr>
            <a:r>
              <a:t>GridMind | Deccan Renewables Pvt. Ltd. (Karnataka) | Self-Assessment Claim: D2 / F3</a:t>
            </a:r>
          </a:p>
        </p:txBody>
      </p:sp>
      <p:sp>
        <p:nvSpPr>
          <p:cNvPr id="8" name="TextBox 7"/>
          <p:cNvSpPr txBox="1"/>
          <p:nvPr/>
        </p:nvSpPr>
        <p:spPr>
          <a:xfrm>
            <a:off x="10058400" y="6382512"/>
            <a:ext cx="1401775" cy="274320"/>
          </a:xfrm>
          <a:prstGeom prst="rect">
            <a:avLst/>
          </a:prstGeom>
          <a:noFill/>
        </p:spPr>
        <p:txBody>
          <a:bodyPr wrap="none" lIns="0" tIns="0" rIns="0" bIns="0">
            <a:spAutoFit/>
          </a:bodyPr>
          <a:lstStyle/>
          <a:p>
            <a:pPr algn="r">
              <a:defRPr sz="900" b="1">
                <a:solidFill>
                  <a:srgbClr val="94A3B8"/>
                </a:solidFill>
                <a:latin typeface="Arial"/>
              </a:defRPr>
            </a:pPr>
            <a:r>
              <a:t>Slide 13 of 16</a:t>
            </a:r>
          </a:p>
        </p:txBody>
      </p:sp>
      <p:sp>
        <p:nvSpPr>
          <p:cNvPr id="9" name="Rounded Rectangle 8"/>
          <p:cNvSpPr/>
          <p:nvPr/>
        </p:nvSpPr>
        <p:spPr>
          <a:xfrm>
            <a:off x="731520" y="1645920"/>
            <a:ext cx="4114800" cy="4434840"/>
          </a:xfrm>
          <a:prstGeom prst="roundRect">
            <a:avLst/>
          </a:prstGeom>
          <a:solidFill>
            <a:srgbClr val="131D38"/>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10512"/>
            <a:ext cx="3749040" cy="4105656"/>
          </a:xfrm>
          <a:prstGeom prst="rect">
            <a:avLst/>
          </a:prstGeom>
          <a:noFill/>
        </p:spPr>
        <p:txBody>
          <a:bodyPr wrap="square" lIns="0" tIns="0" rIns="0" bIns="0">
            <a:spAutoFit/>
          </a:bodyPr>
          <a:lstStyle/>
          <a:p>
            <a:pPr>
              <a:spcAft>
                <a:spcPts val="800"/>
              </a:spcAft>
              <a:defRPr sz="1300" b="1">
                <a:solidFill>
                  <a:srgbClr val="10B981"/>
                </a:solidFill>
                <a:latin typeface="Helvetica"/>
              </a:defRPr>
            </a:pPr>
            <a:r>
              <a:t>30-Day Audit Summary</a:t>
            </a:r>
          </a:p>
          <a:p>
            <a:pPr>
              <a:spcAft>
                <a:spcPts val="600"/>
              </a:spcAft>
            </a:pPr>
            <a:r>
              <a:rPr sz="1050" b="1">
                <a:solidFill>
                  <a:srgbClr val="FFFFFF"/>
                </a:solidFill>
                <a:latin typeface="Arial"/>
              </a:rPr>
              <a:t>• Total Simulated Intervals: </a:t>
            </a:r>
            <a:r>
              <a:rPr sz="1000">
                <a:solidFill>
                  <a:srgbClr val="94A3B8"/>
                </a:solidFill>
                <a:latin typeface="Arial"/>
              </a:rPr>
              <a:t>2,880 intervals (720 hours) across Summer (Season A) and Monsoon (Season B).</a:t>
            </a:r>
          </a:p>
          <a:p>
            <a:pPr>
              <a:spcAft>
                <a:spcPts val="600"/>
              </a:spcAft>
            </a:pPr>
            <a:r>
              <a:rPr sz="1050" b="1">
                <a:solidFill>
                  <a:srgbClr val="FFFFFF"/>
                </a:solidFill>
                <a:latin typeface="Arial"/>
              </a:rPr>
              <a:t>• Stochastic Disturbances: </a:t>
            </a:r>
            <a:r>
              <a:rPr sz="1000">
                <a:solidFill>
                  <a:srgbClr val="94A3B8"/>
                </a:solidFill>
                <a:latin typeface="Arial"/>
              </a:rPr>
              <a:t>21 severe events injected (cloud banks, price spikes, transmission limits, inverter trips, storm alerts).</a:t>
            </a:r>
          </a:p>
          <a:p>
            <a:pPr>
              <a:spcAft>
                <a:spcPts val="600"/>
              </a:spcAft>
            </a:pPr>
            <a:r>
              <a:rPr sz="1050" b="1">
                <a:solidFill>
                  <a:srgbClr val="FFFFFF"/>
                </a:solidFill>
                <a:latin typeface="Arial"/>
              </a:rPr>
              <a:t>• Hard Safety Violations: </a:t>
            </a:r>
            <a:r>
              <a:rPr sz="1000">
                <a:solidFill>
                  <a:srgbClr val="94A3B8"/>
                </a:solidFill>
                <a:latin typeface="Arial"/>
              </a:rPr>
              <a:t>0 (Target: 0) — 100% verified compliance.</a:t>
            </a:r>
          </a:p>
          <a:p>
            <a:pPr>
              <a:spcAft>
                <a:spcPts val="600"/>
              </a:spcAft>
            </a:pPr>
            <a:r>
              <a:rPr sz="1050" b="1">
                <a:solidFill>
                  <a:srgbClr val="FFFFFF"/>
                </a:solidFill>
                <a:latin typeface="Arial"/>
              </a:rPr>
              <a:t>• Unserved Critical Load: </a:t>
            </a:r>
            <a:r>
              <a:rPr sz="1000">
                <a:solidFill>
                  <a:srgbClr val="94A3B8"/>
                </a:solidFill>
                <a:latin typeface="Arial"/>
              </a:rPr>
              <a:t>0.000000 MWh (Target: 0) — Zero blackouts.</a:t>
            </a:r>
          </a:p>
          <a:p>
            <a:pPr>
              <a:spcAft>
                <a:spcPts val="600"/>
              </a:spcAft>
            </a:pPr>
            <a:r>
              <a:rPr sz="1050" b="1">
                <a:solidFill>
                  <a:srgbClr val="FFFFFF"/>
                </a:solidFill>
                <a:latin typeface="Arial"/>
              </a:rPr>
              <a:t>• Safe-Mode Fallbacks: </a:t>
            </a:r>
            <a:r>
              <a:rPr sz="1000">
                <a:solidFill>
                  <a:srgbClr val="94A3B8"/>
                </a:solidFill>
                <a:latin typeface="Arial"/>
              </a:rPr>
              <a:t>0 intervals required emergency safe-mode fallback.</a:t>
            </a:r>
          </a:p>
          <a:p>
            <a:pPr>
              <a:spcAft>
                <a:spcPts val="600"/>
              </a:spcAft>
            </a:pPr>
            <a:r>
              <a:rPr sz="1050" b="1">
                <a:solidFill>
                  <a:srgbClr val="FFFFFF"/>
                </a:solidFill>
                <a:latin typeface="Arial"/>
              </a:rPr>
              <a:t>• Mean Daily Operating Cost: </a:t>
            </a:r>
            <a:r>
              <a:rPr sz="1000">
                <a:solidFill>
                  <a:srgbClr val="94A3B8"/>
                </a:solidFill>
                <a:latin typeface="Arial"/>
              </a:rPr>
              <a:t>₹14,447,206.53 (P90: ₹22,040,643.76).</a:t>
            </a:r>
          </a:p>
          <a:p>
            <a:pPr>
              <a:spcAft>
                <a:spcPts val="600"/>
              </a:spcAft>
            </a:pPr>
            <a:r>
              <a:rPr sz="1050" b="1">
                <a:solidFill>
                  <a:srgbClr val="FFFFFF"/>
                </a:solidFill>
                <a:latin typeface="Arial"/>
              </a:rPr>
              <a:t>• Mean Clean Utilization: </a:t>
            </a:r>
            <a:r>
              <a:rPr sz="1000">
                <a:solidFill>
                  <a:srgbClr val="94A3B8"/>
                </a:solidFill>
                <a:latin typeface="Arial"/>
              </a:rPr>
              <a:t>100.0% (Zero clean energy wasted).</a:t>
            </a:r>
          </a:p>
          <a:p>
            <a:pPr>
              <a:spcAft>
                <a:spcPts val="600"/>
              </a:spcAft>
            </a:pPr>
            <a:r>
              <a:rPr sz="1050" b="1">
                <a:solidFill>
                  <a:srgbClr val="FFFFFF"/>
                </a:solidFill>
                <a:latin typeface="Arial"/>
              </a:rPr>
              <a:t>• Elapsed Runtime: </a:t>
            </a:r>
            <a:r>
              <a:rPr sz="1000">
                <a:solidFill>
                  <a:srgbClr val="94A3B8"/>
                </a:solidFill>
                <a:latin typeface="Arial"/>
              </a:rPr>
              <a:t>356.4 seconds for entire 30-day simulation suite.</a:t>
            </a:r>
          </a:p>
        </p:txBody>
      </p:sp>
      <p:sp>
        <p:nvSpPr>
          <p:cNvPr id="11" name="Rounded Rectangle 10"/>
          <p:cNvSpPr/>
          <p:nvPr/>
        </p:nvSpPr>
        <p:spPr>
          <a:xfrm>
            <a:off x="5029200" y="1645920"/>
            <a:ext cx="6430975" cy="210312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1810512"/>
            <a:ext cx="6065215" cy="1773936"/>
          </a:xfrm>
          <a:prstGeom prst="rect">
            <a:avLst/>
          </a:prstGeom>
          <a:noFill/>
        </p:spPr>
        <p:txBody>
          <a:bodyPr wrap="square" lIns="0" tIns="0" rIns="0" bIns="0">
            <a:spAutoFit/>
          </a:bodyPr>
          <a:lstStyle/>
          <a:p>
            <a:pPr>
              <a:spcAft>
                <a:spcPts val="800"/>
              </a:spcAft>
              <a:defRPr sz="1300" b="1">
                <a:solidFill>
                  <a:srgbClr val="38BDF8"/>
                </a:solidFill>
                <a:latin typeface="Helvetica"/>
              </a:defRPr>
            </a:pPr>
            <a:r>
              <a:t>Disturbance Handling Performance (21 Injected Events)</a:t>
            </a:r>
          </a:p>
          <a:p>
            <a:pPr>
              <a:spcAft>
                <a:spcPts val="600"/>
              </a:spcAft>
            </a:pPr>
            <a:r>
              <a:rPr sz="1050" b="1">
                <a:solidFill>
                  <a:srgbClr val="FFFFFF"/>
                </a:solidFill>
                <a:latin typeface="Arial"/>
              </a:rPr>
              <a:t>• Cloud Cover Shock (Pavagada): </a:t>
            </a:r>
            <a:r>
              <a:rPr sz="1000">
                <a:solidFill>
                  <a:srgbClr val="94A3B8"/>
                </a:solidFill>
                <a:latin typeface="Arial"/>
              </a:rPr>
              <a:t>Solar drops 70% in 15 min -&gt; Agent immediately ramps B1 discharge and triggers industrial DR, absorbing shock without shortfall.</a:t>
            </a:r>
          </a:p>
          <a:p>
            <a:pPr>
              <a:spcAft>
                <a:spcPts val="600"/>
              </a:spcAft>
            </a:pPr>
            <a:r>
              <a:rPr sz="1050" b="1">
                <a:solidFill>
                  <a:srgbClr val="FFFFFF"/>
                </a:solidFill>
                <a:latin typeface="Arial"/>
              </a:rPr>
              <a:t>• IEX Price Spike (₹9,800/MWh): </a:t>
            </a:r>
            <a:r>
              <a:rPr sz="1000">
                <a:solidFill>
                  <a:srgbClr val="94A3B8"/>
                </a:solidFill>
                <a:latin typeface="Arial"/>
              </a:rPr>
              <a:t>Peak evening tariff spike -&gt; Agent halts grid import, shifts entirely to stored BESS, and exports surplus power to capture revenue.</a:t>
            </a:r>
          </a:p>
          <a:p>
            <a:pPr>
              <a:spcAft>
                <a:spcPts val="600"/>
              </a:spcAft>
            </a:pPr>
            <a:r>
              <a:rPr sz="1050" b="1">
                <a:solidFill>
                  <a:srgbClr val="FFFFFF"/>
                </a:solidFill>
                <a:latin typeface="Arial"/>
              </a:rPr>
              <a:t>• Transmission Line Derating: </a:t>
            </a:r>
            <a:r>
              <a:rPr sz="1000">
                <a:solidFill>
                  <a:srgbClr val="94A3B8"/>
                </a:solidFill>
                <a:latin typeface="Arial"/>
              </a:rPr>
              <a:t>Line limit derated from 150MW to 60MW -&gt; Dynamic congestion management mode activated, rebalancing localized generation.</a:t>
            </a:r>
          </a:p>
        </p:txBody>
      </p:sp>
      <p:sp>
        <p:nvSpPr>
          <p:cNvPr id="13" name="Rounded Rectangle 12"/>
          <p:cNvSpPr/>
          <p:nvPr/>
        </p:nvSpPr>
        <p:spPr>
          <a:xfrm>
            <a:off x="5029200" y="3977639"/>
            <a:ext cx="6430975" cy="210312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4142231"/>
            <a:ext cx="6065215" cy="1773936"/>
          </a:xfrm>
          <a:prstGeom prst="rect">
            <a:avLst/>
          </a:prstGeom>
          <a:noFill/>
        </p:spPr>
        <p:txBody>
          <a:bodyPr wrap="square" lIns="0" tIns="0" rIns="0" bIns="0">
            <a:spAutoFit/>
          </a:bodyPr>
          <a:lstStyle/>
          <a:p>
            <a:pPr>
              <a:spcAft>
                <a:spcPts val="800"/>
              </a:spcAft>
              <a:defRPr sz="1300" b="1">
                <a:solidFill>
                  <a:srgbClr val="F59E0B"/>
                </a:solidFill>
                <a:latin typeface="Helvetica"/>
              </a:defRPr>
            </a:pPr>
            <a:r>
              <a:t>Audit Artifact &amp; Reproducibility</a:t>
            </a:r>
          </a:p>
          <a:p>
            <a:pPr>
              <a:spcAft>
                <a:spcPts val="600"/>
              </a:spcAft>
            </a:pPr>
            <a:r>
              <a:rPr sz="1050" b="1">
                <a:solidFill>
                  <a:srgbClr val="FFFFFF"/>
                </a:solidFill>
                <a:latin typeface="Arial"/>
              </a:rPr>
              <a:t>• Verified JSON Artifact: </a:t>
            </a:r>
            <a:r>
              <a:rPr sz="1000">
                <a:solidFill>
                  <a:srgbClr val="94A3B8"/>
                </a:solidFill>
                <a:latin typeface="Arial"/>
              </a:rPr>
              <a:t>Full breakdown saved in data/processed/reliability_summary.json with complete interval logs.</a:t>
            </a:r>
          </a:p>
          <a:p>
            <a:pPr>
              <a:spcAft>
                <a:spcPts val="600"/>
              </a:spcAft>
            </a:pPr>
            <a:r>
              <a:rPr sz="1050" b="1">
                <a:solidFill>
                  <a:srgbClr val="FFFFFF"/>
                </a:solidFill>
                <a:latin typeface="Arial"/>
              </a:rPr>
              <a:t>• One-Command Execution: </a:t>
            </a:r>
            <a:r>
              <a:rPr sz="1000">
                <a:solidFill>
                  <a:srgbClr val="94A3B8"/>
                </a:solidFill>
                <a:latin typeface="Arial"/>
              </a:rPr>
              <a:t>Anyone can reproduce this audit locally in 5 minutes via: python scripts/run_reliability.py</a:t>
            </a:r>
          </a:p>
          <a:p>
            <a:pPr>
              <a:spcAft>
                <a:spcPts val="600"/>
              </a:spcAft>
            </a:pPr>
            <a:r>
              <a:rPr sz="1050" b="1">
                <a:solidFill>
                  <a:srgbClr val="FFFFFF"/>
                </a:solidFill>
                <a:latin typeface="Arial"/>
              </a:rPr>
              <a:t>• Defensible Claim: </a:t>
            </a:r>
            <a:r>
              <a:rPr sz="1000">
                <a:solidFill>
                  <a:srgbClr val="94A3B8"/>
                </a:solidFill>
                <a:latin typeface="Arial"/>
              </a:rPr>
              <a:t>This mathematical and empirical proof provides unassailable justification for our D2 (High Demonstrable Reliability) claim.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950" b="1">
                <a:solidFill>
                  <a:srgbClr val="38BDF8"/>
                </a:solidFill>
                <a:latin typeface="Helvetica"/>
              </a:defRPr>
            </a:pPr>
            <a:r>
              <a:t>WORKING PROTOTYPE DEMONSTRATION</a:t>
            </a:r>
          </a:p>
        </p:txBody>
      </p:sp>
      <p:sp>
        <p:nvSpPr>
          <p:cNvPr id="4" name="TextBox 3"/>
          <p:cNvSpPr txBox="1"/>
          <p:nvPr/>
        </p:nvSpPr>
        <p:spPr>
          <a:xfrm>
            <a:off x="731520" y="640080"/>
            <a:ext cx="10698480" cy="502920"/>
          </a:xfrm>
          <a:prstGeom prst="rect">
            <a:avLst/>
          </a:prstGeom>
          <a:noFill/>
        </p:spPr>
        <p:txBody>
          <a:bodyPr wrap="square" lIns="0" tIns="0" rIns="0" bIns="0">
            <a:spAutoFit/>
          </a:bodyPr>
          <a:lstStyle/>
          <a:p>
            <a:pPr>
              <a:defRPr sz="2200" b="1">
                <a:solidFill>
                  <a:srgbClr val="FFFFFF"/>
                </a:solidFill>
                <a:latin typeface="Helvetica"/>
              </a:defRPr>
            </a:pPr>
            <a:r>
              <a:t>The Control Room Dashboard Walkthrough</a:t>
            </a:r>
          </a:p>
        </p:txBody>
      </p:sp>
      <p:sp>
        <p:nvSpPr>
          <p:cNvPr id="5" name="TextBox 4"/>
          <p:cNvSpPr txBox="1"/>
          <p:nvPr/>
        </p:nvSpPr>
        <p:spPr>
          <a:xfrm>
            <a:off x="731520" y="1170432"/>
            <a:ext cx="10698480" cy="365760"/>
          </a:xfrm>
          <a:prstGeom prst="rect">
            <a:avLst/>
          </a:prstGeom>
          <a:noFill/>
        </p:spPr>
        <p:txBody>
          <a:bodyPr wrap="square" lIns="0" tIns="0" rIns="0" bIns="0">
            <a:spAutoFit/>
          </a:bodyPr>
          <a:lstStyle/>
          <a:p>
            <a:pPr>
              <a:defRPr sz="1200">
                <a:solidFill>
                  <a:srgbClr val="94A3B8"/>
                </a:solidFill>
                <a:latin typeface="Arial"/>
              </a:defRPr>
            </a:pPr>
            <a:r>
              <a:t>An 8-page interactive operational application built for Shift Dispatch Managers and Operations Executives</a:t>
            </a:r>
          </a:p>
        </p:txBody>
      </p:sp>
      <p:sp>
        <p:nvSpPr>
          <p:cNvPr id="6" name="Rectangle 5"/>
          <p:cNvSpPr/>
          <p:nvPr/>
        </p:nvSpPr>
        <p:spPr>
          <a:xfrm>
            <a:off x="731520" y="6309360"/>
            <a:ext cx="10728655" cy="13716"/>
          </a:xfrm>
          <a:prstGeom prst="rect">
            <a:avLst/>
          </a:prstGeom>
          <a:solidFill>
            <a:srgbClr val="2D3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8229600" cy="274320"/>
          </a:xfrm>
          <a:prstGeom prst="rect">
            <a:avLst/>
          </a:prstGeom>
          <a:noFill/>
        </p:spPr>
        <p:txBody>
          <a:bodyPr wrap="none" lIns="0" tIns="0" rIns="0" bIns="0">
            <a:spAutoFit/>
          </a:bodyPr>
          <a:lstStyle/>
          <a:p>
            <a:pPr>
              <a:defRPr sz="900">
                <a:solidFill>
                  <a:srgbClr val="64748B"/>
                </a:solidFill>
                <a:latin typeface="Arial"/>
              </a:defRPr>
            </a:pPr>
            <a:r>
              <a:t>GridMind | Deccan Renewables Pvt. Ltd. (Karnataka) | Self-Assessment Claim: D2 / F3</a:t>
            </a:r>
          </a:p>
        </p:txBody>
      </p:sp>
      <p:sp>
        <p:nvSpPr>
          <p:cNvPr id="8" name="TextBox 7"/>
          <p:cNvSpPr txBox="1"/>
          <p:nvPr/>
        </p:nvSpPr>
        <p:spPr>
          <a:xfrm>
            <a:off x="10058400" y="6382512"/>
            <a:ext cx="1401775" cy="274320"/>
          </a:xfrm>
          <a:prstGeom prst="rect">
            <a:avLst/>
          </a:prstGeom>
          <a:noFill/>
        </p:spPr>
        <p:txBody>
          <a:bodyPr wrap="none" lIns="0" tIns="0" rIns="0" bIns="0">
            <a:spAutoFit/>
          </a:bodyPr>
          <a:lstStyle/>
          <a:p>
            <a:pPr algn="r">
              <a:defRPr sz="900" b="1">
                <a:solidFill>
                  <a:srgbClr val="94A3B8"/>
                </a:solidFill>
                <a:latin typeface="Arial"/>
              </a:defRPr>
            </a:pPr>
            <a:r>
              <a:t>Slide 14 of 16</a:t>
            </a:r>
          </a:p>
        </p:txBody>
      </p:sp>
      <p:sp>
        <p:nvSpPr>
          <p:cNvPr id="9" name="Rounded Rectangle 8"/>
          <p:cNvSpPr/>
          <p:nvPr/>
        </p:nvSpPr>
        <p:spPr>
          <a:xfrm>
            <a:off x="731520" y="1645920"/>
            <a:ext cx="2514600" cy="210312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10512"/>
            <a:ext cx="2148840" cy="1773936"/>
          </a:xfrm>
          <a:prstGeom prst="rect">
            <a:avLst/>
          </a:prstGeom>
          <a:noFill/>
        </p:spPr>
        <p:txBody>
          <a:bodyPr wrap="square" lIns="0" tIns="0" rIns="0" bIns="0">
            <a:spAutoFit/>
          </a:bodyPr>
          <a:lstStyle/>
          <a:p>
            <a:pPr>
              <a:spcAft>
                <a:spcPts val="800"/>
              </a:spcAft>
              <a:defRPr sz="1300" b="1">
                <a:solidFill>
                  <a:srgbClr val="38BDF8"/>
                </a:solidFill>
                <a:latin typeface="Helvetica"/>
              </a:defRPr>
            </a:pPr>
            <a:r>
              <a:t>1. Control Room</a:t>
            </a:r>
          </a:p>
          <a:p>
            <a:pPr>
              <a:spcAft>
                <a:spcPts val="600"/>
              </a:spcAft>
            </a:pPr>
            <a:r>
              <a:rPr sz="1050" b="1">
                <a:solidFill>
                  <a:srgbClr val="FFFFFF"/>
                </a:solidFill>
                <a:latin typeface="Arial"/>
              </a:rPr>
              <a:t>• Live Power Stack: </a:t>
            </a:r>
            <a:r>
              <a:rPr sz="1000">
                <a:solidFill>
                  <a:srgbClr val="94A3B8"/>
                </a:solidFill>
                <a:latin typeface="Arial"/>
              </a:rPr>
              <a:t>Real-time dispatch stacked area chart (Solar, Wind, BESS, Grid).</a:t>
            </a:r>
          </a:p>
          <a:p>
            <a:pPr>
              <a:spcAft>
                <a:spcPts val="600"/>
              </a:spcAft>
            </a:pPr>
            <a:r>
              <a:rPr sz="1050" b="1">
                <a:solidFill>
                  <a:srgbClr val="FFFFFF"/>
                </a:solidFill>
                <a:latin typeface="Arial"/>
              </a:rPr>
              <a:t>• Asset Health Gauges: </a:t>
            </a:r>
            <a:r>
              <a:rPr sz="1000">
                <a:solidFill>
                  <a:srgbClr val="94A3B8"/>
                </a:solidFill>
                <a:latin typeface="Arial"/>
              </a:rPr>
              <a:t>Live BESS SoC gauges (B1, B2) and line loading.</a:t>
            </a:r>
          </a:p>
          <a:p>
            <a:pPr>
              <a:spcAft>
                <a:spcPts val="600"/>
              </a:spcAft>
            </a:pPr>
            <a:r>
              <a:rPr sz="1050" b="1">
                <a:solidFill>
                  <a:srgbClr val="FFFFFF"/>
                </a:solidFill>
                <a:latin typeface="Arial"/>
              </a:rPr>
              <a:t>• Simulation Controls: </a:t>
            </a:r>
            <a:r>
              <a:rPr sz="1000">
                <a:solidFill>
                  <a:srgbClr val="94A3B8"/>
                </a:solidFill>
                <a:latin typeface="Arial"/>
              </a:rPr>
              <a:t>Step forward, Auto-run (1s/interval), or Reset.</a:t>
            </a:r>
          </a:p>
        </p:txBody>
      </p:sp>
      <p:sp>
        <p:nvSpPr>
          <p:cNvPr id="11" name="Rounded Rectangle 10"/>
          <p:cNvSpPr/>
          <p:nvPr/>
        </p:nvSpPr>
        <p:spPr>
          <a:xfrm>
            <a:off x="3465576" y="1645920"/>
            <a:ext cx="2514600" cy="210312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48456" y="1810512"/>
            <a:ext cx="2148840" cy="1773936"/>
          </a:xfrm>
          <a:prstGeom prst="rect">
            <a:avLst/>
          </a:prstGeom>
          <a:noFill/>
        </p:spPr>
        <p:txBody>
          <a:bodyPr wrap="square" lIns="0" tIns="0" rIns="0" bIns="0">
            <a:spAutoFit/>
          </a:bodyPr>
          <a:lstStyle/>
          <a:p>
            <a:pPr>
              <a:spcAft>
                <a:spcPts val="800"/>
              </a:spcAft>
              <a:defRPr sz="1300" b="1">
                <a:solidFill>
                  <a:srgbClr val="F59E0B"/>
                </a:solidFill>
                <a:latin typeface="Helvetica"/>
              </a:defRPr>
            </a:pPr>
            <a:r>
              <a:t>2. Event Injector</a:t>
            </a:r>
          </a:p>
          <a:p>
            <a:pPr>
              <a:spcAft>
                <a:spcPts val="600"/>
              </a:spcAft>
            </a:pPr>
            <a:r>
              <a:rPr sz="1050" b="1">
                <a:solidFill>
                  <a:srgbClr val="FFFFFF"/>
                </a:solidFill>
                <a:latin typeface="Arial"/>
              </a:rPr>
              <a:t>• Interactive Shocks: </a:t>
            </a:r>
            <a:r>
              <a:rPr sz="1000">
                <a:solidFill>
                  <a:srgbClr val="94A3B8"/>
                </a:solidFill>
                <a:latin typeface="Arial"/>
              </a:rPr>
              <a:t>Inject cloud cover, price spikes, line deratings, or storm alerts.</a:t>
            </a:r>
          </a:p>
          <a:p>
            <a:pPr>
              <a:spcAft>
                <a:spcPts val="600"/>
              </a:spcAft>
            </a:pPr>
            <a:r>
              <a:rPr sz="1050" b="1">
                <a:solidFill>
                  <a:srgbClr val="FFFFFF"/>
                </a:solidFill>
                <a:latin typeface="Arial"/>
              </a:rPr>
              <a:t>• Preset Scenarios: </a:t>
            </a:r>
            <a:r>
              <a:rPr sz="1000">
                <a:solidFill>
                  <a:srgbClr val="94A3B8"/>
                </a:solidFill>
                <a:latin typeface="Arial"/>
              </a:rPr>
              <a:t>One-click triggers for severe summer &amp; monsoon events.</a:t>
            </a:r>
          </a:p>
          <a:p>
            <a:pPr>
              <a:spcAft>
                <a:spcPts val="600"/>
              </a:spcAft>
            </a:pPr>
            <a:r>
              <a:rPr sz="1050" b="1">
                <a:solidFill>
                  <a:srgbClr val="FFFFFF"/>
                </a:solidFill>
                <a:latin typeface="Arial"/>
              </a:rPr>
              <a:t>• Real-Time Actuation: </a:t>
            </a:r>
            <a:r>
              <a:rPr sz="1000">
                <a:solidFill>
                  <a:srgbClr val="94A3B8"/>
                </a:solidFill>
                <a:latin typeface="Arial"/>
              </a:rPr>
              <a:t>Instant observation of agent adaptive responses.</a:t>
            </a:r>
          </a:p>
        </p:txBody>
      </p:sp>
      <p:sp>
        <p:nvSpPr>
          <p:cNvPr id="13" name="Rounded Rectangle 12"/>
          <p:cNvSpPr/>
          <p:nvPr/>
        </p:nvSpPr>
        <p:spPr>
          <a:xfrm>
            <a:off x="6199632" y="1645920"/>
            <a:ext cx="2514600" cy="210312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810512"/>
            <a:ext cx="2148840" cy="1773936"/>
          </a:xfrm>
          <a:prstGeom prst="rect">
            <a:avLst/>
          </a:prstGeom>
          <a:noFill/>
        </p:spPr>
        <p:txBody>
          <a:bodyPr wrap="square" lIns="0" tIns="0" rIns="0" bIns="0">
            <a:spAutoFit/>
          </a:bodyPr>
          <a:lstStyle/>
          <a:p>
            <a:pPr>
              <a:spcAft>
                <a:spcPts val="800"/>
              </a:spcAft>
              <a:defRPr sz="1300" b="1">
                <a:solidFill>
                  <a:srgbClr val="818CF8"/>
                </a:solidFill>
                <a:latin typeface="Helvetica"/>
              </a:defRPr>
            </a:pPr>
            <a:r>
              <a:t>3. Agent Reasoning</a:t>
            </a:r>
          </a:p>
          <a:p>
            <a:pPr>
              <a:spcAft>
                <a:spcPts val="600"/>
              </a:spcAft>
            </a:pPr>
            <a:r>
              <a:rPr sz="1050" b="1">
                <a:solidFill>
                  <a:srgbClr val="FFFFFF"/>
                </a:solidFill>
                <a:latin typeface="Arial"/>
              </a:rPr>
              <a:t>• Telemetry Delta View: </a:t>
            </a:r>
            <a:r>
              <a:rPr sz="1000">
                <a:solidFill>
                  <a:srgbClr val="94A3B8"/>
                </a:solidFill>
                <a:latin typeface="Arial"/>
              </a:rPr>
              <a:t>Inspects monitored asset divergences.</a:t>
            </a:r>
          </a:p>
          <a:p>
            <a:pPr>
              <a:spcAft>
                <a:spcPts val="600"/>
              </a:spcAft>
            </a:pPr>
            <a:r>
              <a:rPr sz="1050" b="1">
                <a:solidFill>
                  <a:srgbClr val="FFFFFF"/>
                </a:solidFill>
                <a:latin typeface="Arial"/>
              </a:rPr>
              <a:t>• Tool-Calling Trace: </a:t>
            </a:r>
            <a:r>
              <a:rPr sz="1000">
                <a:solidFill>
                  <a:srgbClr val="94A3B8"/>
                </a:solidFill>
                <a:latin typeface="Arial"/>
              </a:rPr>
              <a:t>Full trace of run_milp, evaluate_risk, compare_plans.</a:t>
            </a:r>
          </a:p>
          <a:p>
            <a:pPr>
              <a:spcAft>
                <a:spcPts val="600"/>
              </a:spcAft>
            </a:pPr>
            <a:r>
              <a:rPr sz="1050" b="1">
                <a:solidFill>
                  <a:srgbClr val="FFFFFF"/>
                </a:solidFill>
                <a:latin typeface="Arial"/>
              </a:rPr>
              <a:t>• Shift Briefing Card: </a:t>
            </a:r>
            <a:r>
              <a:rPr sz="1000">
                <a:solidFill>
                  <a:srgbClr val="94A3B8"/>
                </a:solidFill>
                <a:latin typeface="Arial"/>
              </a:rPr>
              <a:t>Plain-English explanation with accepted trade-offs.</a:t>
            </a:r>
          </a:p>
        </p:txBody>
      </p:sp>
      <p:sp>
        <p:nvSpPr>
          <p:cNvPr id="15" name="Rounded Rectangle 14"/>
          <p:cNvSpPr/>
          <p:nvPr/>
        </p:nvSpPr>
        <p:spPr>
          <a:xfrm>
            <a:off x="8933688" y="1645920"/>
            <a:ext cx="2514600" cy="210312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16568" y="1810512"/>
            <a:ext cx="2148840" cy="1773936"/>
          </a:xfrm>
          <a:prstGeom prst="rect">
            <a:avLst/>
          </a:prstGeom>
          <a:noFill/>
        </p:spPr>
        <p:txBody>
          <a:bodyPr wrap="square" lIns="0" tIns="0" rIns="0" bIns="0">
            <a:spAutoFit/>
          </a:bodyPr>
          <a:lstStyle/>
          <a:p>
            <a:pPr>
              <a:spcAft>
                <a:spcPts val="800"/>
              </a:spcAft>
              <a:defRPr sz="1300" b="1">
                <a:solidFill>
                  <a:srgbClr val="10B981"/>
                </a:solidFill>
                <a:latin typeface="Helvetica"/>
              </a:defRPr>
            </a:pPr>
            <a:r>
              <a:t>4. Decision Log</a:t>
            </a:r>
          </a:p>
          <a:p>
            <a:pPr>
              <a:spcAft>
                <a:spcPts val="600"/>
              </a:spcAft>
            </a:pPr>
            <a:r>
              <a:rPr sz="1050" b="1">
                <a:solidFill>
                  <a:srgbClr val="FFFFFF"/>
                </a:solidFill>
                <a:latin typeface="Arial"/>
              </a:rPr>
              <a:t>• Historical Timeline: </a:t>
            </a:r>
            <a:r>
              <a:rPr sz="1000">
                <a:solidFill>
                  <a:srgbClr val="94A3B8"/>
                </a:solidFill>
                <a:latin typeface="Arial"/>
              </a:rPr>
              <a:t>Filterable interval-by-interval table.</a:t>
            </a:r>
          </a:p>
          <a:p>
            <a:pPr>
              <a:spcAft>
                <a:spcPts val="600"/>
              </a:spcAft>
            </a:pPr>
            <a:r>
              <a:rPr sz="1050" b="1">
                <a:solidFill>
                  <a:srgbClr val="FFFFFF"/>
                </a:solidFill>
                <a:latin typeface="Arial"/>
              </a:rPr>
              <a:t>• Full JSON Inspection: </a:t>
            </a:r>
            <a:r>
              <a:rPr sz="1000">
                <a:solidFill>
                  <a:srgbClr val="94A3B8"/>
                </a:solidFill>
                <a:latin typeface="Arial"/>
              </a:rPr>
              <a:t>Click any interval to view raw telemetry, plan &amp; validation.</a:t>
            </a:r>
          </a:p>
          <a:p>
            <a:pPr>
              <a:spcAft>
                <a:spcPts val="600"/>
              </a:spcAft>
            </a:pPr>
            <a:r>
              <a:rPr sz="1050" b="1">
                <a:solidFill>
                  <a:srgbClr val="FFFFFF"/>
                </a:solidFill>
                <a:latin typeface="Arial"/>
              </a:rPr>
              <a:t>• Export to CSV/JSON: </a:t>
            </a:r>
            <a:r>
              <a:rPr sz="1000">
                <a:solidFill>
                  <a:srgbClr val="94A3B8"/>
                </a:solidFill>
                <a:latin typeface="Arial"/>
              </a:rPr>
              <a:t>One-click download of audit logs.</a:t>
            </a:r>
          </a:p>
        </p:txBody>
      </p:sp>
      <p:sp>
        <p:nvSpPr>
          <p:cNvPr id="17" name="Rounded Rectangle 16"/>
          <p:cNvSpPr/>
          <p:nvPr/>
        </p:nvSpPr>
        <p:spPr>
          <a:xfrm>
            <a:off x="731520" y="3977639"/>
            <a:ext cx="2514600" cy="210312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142231"/>
            <a:ext cx="2148840" cy="1773936"/>
          </a:xfrm>
          <a:prstGeom prst="rect">
            <a:avLst/>
          </a:prstGeom>
          <a:noFill/>
        </p:spPr>
        <p:txBody>
          <a:bodyPr wrap="square" lIns="0" tIns="0" rIns="0" bIns="0">
            <a:spAutoFit/>
          </a:bodyPr>
          <a:lstStyle/>
          <a:p>
            <a:pPr>
              <a:spcAft>
                <a:spcPts val="800"/>
              </a:spcAft>
              <a:defRPr sz="1300" b="1">
                <a:solidFill>
                  <a:srgbClr val="38BDF8"/>
                </a:solidFill>
                <a:latin typeface="Helvetica"/>
              </a:defRPr>
            </a:pPr>
            <a:r>
              <a:t>5. Scenario Compare</a:t>
            </a:r>
          </a:p>
          <a:p>
            <a:pPr>
              <a:spcAft>
                <a:spcPts val="600"/>
              </a:spcAft>
            </a:pPr>
            <a:r>
              <a:rPr sz="1050" b="1">
                <a:solidFill>
                  <a:srgbClr val="FFFFFF"/>
                </a:solidFill>
                <a:latin typeface="Arial"/>
              </a:rPr>
              <a:t>• 3-Way Benchmark: </a:t>
            </a:r>
            <a:r>
              <a:rPr sz="1000">
                <a:solidFill>
                  <a:srgbClr val="94A3B8"/>
                </a:solidFill>
                <a:latin typeface="Arial"/>
              </a:rPr>
              <a:t>Compares Baseline vs Fixed MILP vs GridMind.</a:t>
            </a:r>
          </a:p>
          <a:p>
            <a:pPr>
              <a:spcAft>
                <a:spcPts val="600"/>
              </a:spcAft>
            </a:pPr>
            <a:r>
              <a:rPr sz="1050" b="1">
                <a:solidFill>
                  <a:srgbClr val="FFFFFF"/>
                </a:solidFill>
                <a:latin typeface="Arial"/>
              </a:rPr>
              <a:t>• Cost &amp; Carbon Charts: </a:t>
            </a:r>
            <a:r>
              <a:rPr sz="1000">
                <a:solidFill>
                  <a:srgbClr val="94A3B8"/>
                </a:solidFill>
                <a:latin typeface="Arial"/>
              </a:rPr>
              <a:t>Cumulative financial savings and emissions curve.</a:t>
            </a:r>
          </a:p>
          <a:p>
            <a:pPr>
              <a:spcAft>
                <a:spcPts val="600"/>
              </a:spcAft>
            </a:pPr>
            <a:r>
              <a:rPr sz="1050" b="1">
                <a:solidFill>
                  <a:srgbClr val="FFFFFF"/>
                </a:solidFill>
                <a:latin typeface="Arial"/>
              </a:rPr>
              <a:t>• KPI Scorecard: </a:t>
            </a:r>
            <a:r>
              <a:rPr sz="1000">
                <a:solidFill>
                  <a:srgbClr val="94A3B8"/>
                </a:solidFill>
                <a:latin typeface="Arial"/>
              </a:rPr>
              <a:t>Direct side-by-side performance table.</a:t>
            </a:r>
          </a:p>
        </p:txBody>
      </p:sp>
      <p:sp>
        <p:nvSpPr>
          <p:cNvPr id="19" name="Rounded Rectangle 18"/>
          <p:cNvSpPr/>
          <p:nvPr/>
        </p:nvSpPr>
        <p:spPr>
          <a:xfrm>
            <a:off x="3465576" y="3977639"/>
            <a:ext cx="2514600" cy="210312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48456" y="4142231"/>
            <a:ext cx="2148840" cy="1773936"/>
          </a:xfrm>
          <a:prstGeom prst="rect">
            <a:avLst/>
          </a:prstGeom>
          <a:noFill/>
        </p:spPr>
        <p:txBody>
          <a:bodyPr wrap="square" lIns="0" tIns="0" rIns="0" bIns="0">
            <a:spAutoFit/>
          </a:bodyPr>
          <a:lstStyle/>
          <a:p>
            <a:pPr>
              <a:spcAft>
                <a:spcPts val="800"/>
              </a:spcAft>
              <a:defRPr sz="1300" b="1">
                <a:solidFill>
                  <a:srgbClr val="F59E0B"/>
                </a:solidFill>
                <a:latin typeface="Helvetica"/>
              </a:defRPr>
            </a:pPr>
            <a:r>
              <a:t>6. Reliability Report</a:t>
            </a:r>
          </a:p>
          <a:p>
            <a:pPr>
              <a:spcAft>
                <a:spcPts val="600"/>
              </a:spcAft>
            </a:pPr>
            <a:r>
              <a:rPr sz="1050" b="1">
                <a:solidFill>
                  <a:srgbClr val="FFFFFF"/>
                </a:solidFill>
                <a:latin typeface="Arial"/>
              </a:rPr>
              <a:t>• 30-Day Stress Audit: </a:t>
            </a:r>
            <a:r>
              <a:rPr sz="1000">
                <a:solidFill>
                  <a:srgbClr val="94A3B8"/>
                </a:solidFill>
                <a:latin typeface="Arial"/>
              </a:rPr>
              <a:t>Interactive inspection of the 2,880-interval test.</a:t>
            </a:r>
          </a:p>
          <a:p>
            <a:pPr>
              <a:spcAft>
                <a:spcPts val="600"/>
              </a:spcAft>
            </a:pPr>
            <a:r>
              <a:rPr sz="1050" b="1">
                <a:solidFill>
                  <a:srgbClr val="FFFFFF"/>
                </a:solidFill>
                <a:latin typeface="Arial"/>
              </a:rPr>
              <a:t>• Daily Cost Histograms: </a:t>
            </a:r>
            <a:r>
              <a:rPr sz="1000">
                <a:solidFill>
                  <a:srgbClr val="94A3B8"/>
                </a:solidFill>
                <a:latin typeface="Arial"/>
              </a:rPr>
              <a:t>P10/P50/P90 cost distributions across seasons.</a:t>
            </a:r>
          </a:p>
          <a:p>
            <a:pPr>
              <a:spcAft>
                <a:spcPts val="600"/>
              </a:spcAft>
            </a:pPr>
            <a:r>
              <a:rPr sz="1050" b="1">
                <a:solidFill>
                  <a:srgbClr val="FFFFFF"/>
                </a:solidFill>
                <a:latin typeface="Arial"/>
              </a:rPr>
              <a:t>• Violation Counter: </a:t>
            </a:r>
            <a:r>
              <a:rPr sz="1000">
                <a:solidFill>
                  <a:srgbClr val="94A3B8"/>
                </a:solidFill>
                <a:latin typeface="Arial"/>
              </a:rPr>
              <a:t>Verified 0 count with badge indicator.</a:t>
            </a:r>
          </a:p>
        </p:txBody>
      </p:sp>
      <p:sp>
        <p:nvSpPr>
          <p:cNvPr id="21" name="Rounded Rectangle 20"/>
          <p:cNvSpPr/>
          <p:nvPr/>
        </p:nvSpPr>
        <p:spPr>
          <a:xfrm>
            <a:off x="6199632" y="3977639"/>
            <a:ext cx="2514600" cy="210312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4142231"/>
            <a:ext cx="2148840" cy="1773936"/>
          </a:xfrm>
          <a:prstGeom prst="rect">
            <a:avLst/>
          </a:prstGeom>
          <a:noFill/>
        </p:spPr>
        <p:txBody>
          <a:bodyPr wrap="square" lIns="0" tIns="0" rIns="0" bIns="0">
            <a:spAutoFit/>
          </a:bodyPr>
          <a:lstStyle/>
          <a:p>
            <a:pPr>
              <a:spcAft>
                <a:spcPts val="800"/>
              </a:spcAft>
              <a:defRPr sz="1300" b="1">
                <a:solidFill>
                  <a:srgbClr val="818CF8"/>
                </a:solidFill>
                <a:latin typeface="Helvetica"/>
              </a:defRPr>
            </a:pPr>
            <a:r>
              <a:t>7. Data &amp; Maps</a:t>
            </a:r>
          </a:p>
          <a:p>
            <a:pPr>
              <a:spcAft>
                <a:spcPts val="600"/>
              </a:spcAft>
            </a:pPr>
            <a:r>
              <a:rPr sz="1050" b="1">
                <a:solidFill>
                  <a:srgbClr val="FFFFFF"/>
                </a:solidFill>
                <a:latin typeface="Arial"/>
              </a:rPr>
              <a:t>• Karnataka Map: </a:t>
            </a:r>
            <a:r>
              <a:rPr sz="1000">
                <a:solidFill>
                  <a:srgbClr val="94A3B8"/>
                </a:solidFill>
                <a:latin typeface="Arial"/>
              </a:rPr>
              <a:t>Interactive PyDeck map of 5 solar, 3 wind &amp; 2 BESS sites.</a:t>
            </a:r>
          </a:p>
          <a:p>
            <a:pPr>
              <a:spcAft>
                <a:spcPts val="600"/>
              </a:spcAft>
            </a:pPr>
            <a:r>
              <a:rPr sz="1050" b="1">
                <a:solidFill>
                  <a:srgbClr val="FFFFFF"/>
                </a:solidFill>
                <a:latin typeface="Arial"/>
              </a:rPr>
              <a:t>• Open-Meteo Ingestion: </a:t>
            </a:r>
            <a:r>
              <a:rPr sz="1000">
                <a:solidFill>
                  <a:srgbClr val="94A3B8"/>
                </a:solidFill>
                <a:latin typeface="Arial"/>
              </a:rPr>
              <a:t>Fetch real meteorological data for custom dates.</a:t>
            </a:r>
          </a:p>
          <a:p>
            <a:pPr>
              <a:spcAft>
                <a:spcPts val="600"/>
              </a:spcAft>
            </a:pPr>
            <a:r>
              <a:rPr sz="1050" b="1">
                <a:solidFill>
                  <a:srgbClr val="FFFFFF"/>
                </a:solidFill>
                <a:latin typeface="Arial"/>
              </a:rPr>
              <a:t>• Custom CSV Upload: </a:t>
            </a:r>
            <a:r>
              <a:rPr sz="1000">
                <a:solidFill>
                  <a:srgbClr val="94A3B8"/>
                </a:solidFill>
                <a:latin typeface="Arial"/>
              </a:rPr>
              <a:t>Upload real IEX price and load timeseries.</a:t>
            </a:r>
          </a:p>
        </p:txBody>
      </p:sp>
      <p:sp>
        <p:nvSpPr>
          <p:cNvPr id="23" name="Rounded Rectangle 22"/>
          <p:cNvSpPr/>
          <p:nvPr/>
        </p:nvSpPr>
        <p:spPr>
          <a:xfrm>
            <a:off x="8933688" y="3977639"/>
            <a:ext cx="2514600" cy="210312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16568" y="4142231"/>
            <a:ext cx="2148840" cy="1773936"/>
          </a:xfrm>
          <a:prstGeom prst="rect">
            <a:avLst/>
          </a:prstGeom>
          <a:noFill/>
        </p:spPr>
        <p:txBody>
          <a:bodyPr wrap="square" lIns="0" tIns="0" rIns="0" bIns="0">
            <a:spAutoFit/>
          </a:bodyPr>
          <a:lstStyle/>
          <a:p>
            <a:pPr>
              <a:spcAft>
                <a:spcPts val="800"/>
              </a:spcAft>
              <a:defRPr sz="1300" b="1">
                <a:solidFill>
                  <a:srgbClr val="10B981"/>
                </a:solidFill>
                <a:latin typeface="Helvetica"/>
              </a:defRPr>
            </a:pPr>
            <a:r>
              <a:t>8. Architecture</a:t>
            </a:r>
          </a:p>
          <a:p>
            <a:pPr>
              <a:spcAft>
                <a:spcPts val="600"/>
              </a:spcAft>
            </a:pPr>
            <a:r>
              <a:rPr sz="1050" b="1">
                <a:solidFill>
                  <a:srgbClr val="FFFFFF"/>
                </a:solidFill>
                <a:latin typeface="Arial"/>
              </a:rPr>
              <a:t>• Interactive Blueprint: </a:t>
            </a:r>
            <a:r>
              <a:rPr sz="1000">
                <a:solidFill>
                  <a:srgbClr val="94A3B8"/>
                </a:solidFill>
                <a:latin typeface="Arial"/>
              </a:rPr>
              <a:t>Explore component roles, inputs, and outputs.</a:t>
            </a:r>
          </a:p>
          <a:p>
            <a:pPr>
              <a:spcAft>
                <a:spcPts val="600"/>
              </a:spcAft>
            </a:pPr>
            <a:r>
              <a:rPr sz="1050" b="1">
                <a:solidFill>
                  <a:srgbClr val="FFFFFF"/>
                </a:solidFill>
                <a:latin typeface="Arial"/>
              </a:rPr>
              <a:t>• Mathematical Docs: </a:t>
            </a:r>
            <a:r>
              <a:rPr sz="1000">
                <a:solidFill>
                  <a:srgbClr val="94A3B8"/>
                </a:solidFill>
                <a:latin typeface="Arial"/>
              </a:rPr>
              <a:t>Complete MILP formulation equations.</a:t>
            </a:r>
          </a:p>
          <a:p>
            <a:pPr>
              <a:spcAft>
                <a:spcPts val="600"/>
              </a:spcAft>
            </a:pPr>
            <a:r>
              <a:rPr sz="1050" b="1">
                <a:solidFill>
                  <a:srgbClr val="FFFFFF"/>
                </a:solidFill>
                <a:latin typeface="Arial"/>
              </a:rPr>
              <a:t>• Prompt Library: </a:t>
            </a:r>
            <a:r>
              <a:rPr sz="1000">
                <a:solidFill>
                  <a:srgbClr val="94A3B8"/>
                </a:solidFill>
                <a:latin typeface="Arial"/>
              </a:rPr>
              <a:t>Inspect system prompts for Monitor, Strategist, Explainer.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950" b="1">
                <a:solidFill>
                  <a:srgbClr val="38BDF8"/>
                </a:solidFill>
                <a:latin typeface="Helvetica"/>
              </a:defRPr>
            </a:pPr>
            <a:r>
              <a:t>ENGINEERING QUALITY &amp; ROADMAP</a:t>
            </a:r>
          </a:p>
        </p:txBody>
      </p:sp>
      <p:sp>
        <p:nvSpPr>
          <p:cNvPr id="4" name="TextBox 3"/>
          <p:cNvSpPr txBox="1"/>
          <p:nvPr/>
        </p:nvSpPr>
        <p:spPr>
          <a:xfrm>
            <a:off x="731520" y="640080"/>
            <a:ext cx="10698480" cy="502920"/>
          </a:xfrm>
          <a:prstGeom prst="rect">
            <a:avLst/>
          </a:prstGeom>
          <a:noFill/>
        </p:spPr>
        <p:txBody>
          <a:bodyPr wrap="square" lIns="0" tIns="0" rIns="0" bIns="0">
            <a:spAutoFit/>
          </a:bodyPr>
          <a:lstStyle/>
          <a:p>
            <a:pPr>
              <a:defRPr sz="2200" b="1">
                <a:solidFill>
                  <a:srgbClr val="FFFFFF"/>
                </a:solidFill>
                <a:latin typeface="Helvetica"/>
              </a:defRPr>
            </a:pPr>
            <a:r>
              <a:t>Scalability, System Integration &amp; Production Roadmap</a:t>
            </a:r>
          </a:p>
        </p:txBody>
      </p:sp>
      <p:sp>
        <p:nvSpPr>
          <p:cNvPr id="5" name="TextBox 4"/>
          <p:cNvSpPr txBox="1"/>
          <p:nvPr/>
        </p:nvSpPr>
        <p:spPr>
          <a:xfrm>
            <a:off x="731520" y="1170432"/>
            <a:ext cx="10698480" cy="365760"/>
          </a:xfrm>
          <a:prstGeom prst="rect">
            <a:avLst/>
          </a:prstGeom>
          <a:noFill/>
        </p:spPr>
        <p:txBody>
          <a:bodyPr wrap="square" lIns="0" tIns="0" rIns="0" bIns="0">
            <a:spAutoFit/>
          </a:bodyPr>
          <a:lstStyle/>
          <a:p>
            <a:pPr>
              <a:defRPr sz="1200">
                <a:solidFill>
                  <a:srgbClr val="94A3B8"/>
                </a:solidFill>
                <a:latin typeface="Arial"/>
              </a:defRPr>
            </a:pPr>
            <a:r>
              <a:t>Linear computational complexity, industrial SCADA connectivity, and commercial solver portability</a:t>
            </a:r>
          </a:p>
        </p:txBody>
      </p:sp>
      <p:sp>
        <p:nvSpPr>
          <p:cNvPr id="6" name="Rectangle 5"/>
          <p:cNvSpPr/>
          <p:nvPr/>
        </p:nvSpPr>
        <p:spPr>
          <a:xfrm>
            <a:off x="731520" y="6309360"/>
            <a:ext cx="10728655" cy="13716"/>
          </a:xfrm>
          <a:prstGeom prst="rect">
            <a:avLst/>
          </a:prstGeom>
          <a:solidFill>
            <a:srgbClr val="2D3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8229600" cy="274320"/>
          </a:xfrm>
          <a:prstGeom prst="rect">
            <a:avLst/>
          </a:prstGeom>
          <a:noFill/>
        </p:spPr>
        <p:txBody>
          <a:bodyPr wrap="none" lIns="0" tIns="0" rIns="0" bIns="0">
            <a:spAutoFit/>
          </a:bodyPr>
          <a:lstStyle/>
          <a:p>
            <a:pPr>
              <a:defRPr sz="900">
                <a:solidFill>
                  <a:srgbClr val="64748B"/>
                </a:solidFill>
                <a:latin typeface="Arial"/>
              </a:defRPr>
            </a:pPr>
            <a:r>
              <a:t>GridMind | Deccan Renewables Pvt. Ltd. (Karnataka) | Self-Assessment Claim: D2 / F3</a:t>
            </a:r>
          </a:p>
        </p:txBody>
      </p:sp>
      <p:sp>
        <p:nvSpPr>
          <p:cNvPr id="8" name="TextBox 7"/>
          <p:cNvSpPr txBox="1"/>
          <p:nvPr/>
        </p:nvSpPr>
        <p:spPr>
          <a:xfrm>
            <a:off x="10058400" y="6382512"/>
            <a:ext cx="1401775" cy="274320"/>
          </a:xfrm>
          <a:prstGeom prst="rect">
            <a:avLst/>
          </a:prstGeom>
          <a:noFill/>
        </p:spPr>
        <p:txBody>
          <a:bodyPr wrap="none" lIns="0" tIns="0" rIns="0" bIns="0">
            <a:spAutoFit/>
          </a:bodyPr>
          <a:lstStyle/>
          <a:p>
            <a:pPr algn="r">
              <a:defRPr sz="900" b="1">
                <a:solidFill>
                  <a:srgbClr val="94A3B8"/>
                </a:solidFill>
                <a:latin typeface="Arial"/>
              </a:defRPr>
            </a:pPr>
            <a:r>
              <a:t>Slide 15 of 16</a:t>
            </a:r>
          </a:p>
        </p:txBody>
      </p:sp>
      <p:sp>
        <p:nvSpPr>
          <p:cNvPr id="9" name="Rounded Rectangle 8"/>
          <p:cNvSpPr/>
          <p:nvPr/>
        </p:nvSpPr>
        <p:spPr>
          <a:xfrm>
            <a:off x="731520" y="1645920"/>
            <a:ext cx="333756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10512"/>
            <a:ext cx="2971800" cy="4105656"/>
          </a:xfrm>
          <a:prstGeom prst="rect">
            <a:avLst/>
          </a:prstGeom>
          <a:noFill/>
        </p:spPr>
        <p:txBody>
          <a:bodyPr wrap="square" lIns="0" tIns="0" rIns="0" bIns="0">
            <a:spAutoFit/>
          </a:bodyPr>
          <a:lstStyle/>
          <a:p>
            <a:pPr>
              <a:spcAft>
                <a:spcPts val="800"/>
              </a:spcAft>
              <a:defRPr sz="1300" b="1">
                <a:solidFill>
                  <a:srgbClr val="38BDF8"/>
                </a:solidFill>
                <a:latin typeface="Helvetica"/>
              </a:defRPr>
            </a:pPr>
            <a:r>
              <a:t>1. Computational Scalability</a:t>
            </a:r>
          </a:p>
          <a:p>
            <a:pPr>
              <a:spcAft>
                <a:spcPts val="600"/>
              </a:spcAft>
            </a:pPr>
            <a:r>
              <a:rPr sz="1050" b="1">
                <a:solidFill>
                  <a:srgbClr val="FFFFFF"/>
                </a:solidFill>
                <a:latin typeface="Arial"/>
              </a:rPr>
              <a:t>• Linear Complexity: </a:t>
            </a:r>
            <a:r>
              <a:rPr sz="1000">
                <a:solidFill>
                  <a:srgbClr val="94A3B8"/>
                </a:solidFill>
                <a:latin typeface="Arial"/>
              </a:rPr>
              <a:t>PuLP MILP variables scale linearly O(T * (N_farms + N_bess + N_consumers)).</a:t>
            </a:r>
          </a:p>
          <a:p>
            <a:pPr>
              <a:spcAft>
                <a:spcPts val="600"/>
              </a:spcAft>
            </a:pPr>
            <a:r>
              <a:rPr sz="1050" b="1">
                <a:solidFill>
                  <a:srgbClr val="FFFFFF"/>
                </a:solidFill>
                <a:latin typeface="Arial"/>
              </a:rPr>
              <a:t>• Sub-Second Solve Times: </a:t>
            </a:r>
            <a:r>
              <a:rPr sz="1000">
                <a:solidFill>
                  <a:srgbClr val="94A3B8"/>
                </a:solidFill>
                <a:latin typeface="Arial"/>
              </a:rPr>
              <a:t>Our 10-asset portfolio solves in ~40 ms. Scaling to 50 farms and 20 BESS takes &lt;250 ms.</a:t>
            </a:r>
          </a:p>
          <a:p>
            <a:pPr>
              <a:spcAft>
                <a:spcPts val="600"/>
              </a:spcAft>
            </a:pPr>
            <a:r>
              <a:rPr sz="1050" b="1">
                <a:solidFill>
                  <a:srgbClr val="FFFFFF"/>
                </a:solidFill>
                <a:latin typeface="Arial"/>
              </a:rPr>
              <a:t>• Solver Portability: </a:t>
            </a:r>
            <a:r>
              <a:rPr sz="1000">
                <a:solidFill>
                  <a:srgbClr val="94A3B8"/>
                </a:solidFill>
                <a:latin typeface="Arial"/>
              </a:rPr>
              <a:t>Thin PuLP interface allows instant drop-in switch to commercial solvers (Gurobi, COPT, HiGHS) with one config flag.</a:t>
            </a:r>
          </a:p>
        </p:txBody>
      </p:sp>
      <p:sp>
        <p:nvSpPr>
          <p:cNvPr id="11" name="Rounded Rectangle 10"/>
          <p:cNvSpPr/>
          <p:nvPr/>
        </p:nvSpPr>
        <p:spPr>
          <a:xfrm>
            <a:off x="4425696" y="1645920"/>
            <a:ext cx="333756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810512"/>
            <a:ext cx="2971800" cy="4105656"/>
          </a:xfrm>
          <a:prstGeom prst="rect">
            <a:avLst/>
          </a:prstGeom>
          <a:noFill/>
        </p:spPr>
        <p:txBody>
          <a:bodyPr wrap="square" lIns="0" tIns="0" rIns="0" bIns="0">
            <a:spAutoFit/>
          </a:bodyPr>
          <a:lstStyle/>
          <a:p>
            <a:pPr>
              <a:spcAft>
                <a:spcPts val="800"/>
              </a:spcAft>
              <a:defRPr sz="1300" b="1">
                <a:solidFill>
                  <a:srgbClr val="818CF8"/>
                </a:solidFill>
                <a:latin typeface="Helvetica"/>
              </a:defRPr>
            </a:pPr>
            <a:r>
              <a:t>2. Industrial Integration</a:t>
            </a:r>
          </a:p>
          <a:p>
            <a:pPr>
              <a:spcAft>
                <a:spcPts val="600"/>
              </a:spcAft>
            </a:pPr>
            <a:r>
              <a:rPr sz="1050" b="1">
                <a:solidFill>
                  <a:srgbClr val="FFFFFF"/>
                </a:solidFill>
                <a:latin typeface="Arial"/>
              </a:rPr>
              <a:t>• SCADA / EMS Protocols: </a:t>
            </a:r>
            <a:r>
              <a:rPr sz="1000">
                <a:solidFill>
                  <a:srgbClr val="94A3B8"/>
                </a:solidFill>
                <a:latin typeface="Arial"/>
              </a:rPr>
              <a:t>Forecaster and Executor abstract telemetry over standard Modbus TCP, OPC-UA, and MQTT streaming.</a:t>
            </a:r>
          </a:p>
          <a:p>
            <a:pPr>
              <a:spcAft>
                <a:spcPts val="600"/>
              </a:spcAft>
            </a:pPr>
            <a:r>
              <a:rPr sz="1050" b="1">
                <a:solidFill>
                  <a:srgbClr val="FFFFFF"/>
                </a:solidFill>
                <a:latin typeface="Arial"/>
              </a:rPr>
              <a:t>• Market Connectors: </a:t>
            </a:r>
            <a:r>
              <a:rPr sz="1000">
                <a:solidFill>
                  <a:srgbClr val="94A3B8"/>
                </a:solidFill>
                <a:latin typeface="Arial"/>
              </a:rPr>
              <a:t>Direct API integration with Indian Energy Exchange (IEX) Day-Ahead Market (DAM) and Real-Time Market (RTM).</a:t>
            </a:r>
          </a:p>
          <a:p>
            <a:pPr>
              <a:spcAft>
                <a:spcPts val="600"/>
              </a:spcAft>
            </a:pPr>
            <a:r>
              <a:rPr sz="1050" b="1">
                <a:solidFill>
                  <a:srgbClr val="FFFFFF"/>
                </a:solidFill>
                <a:latin typeface="Arial"/>
              </a:rPr>
              <a:t>• Edge or Cloud Deploy: </a:t>
            </a:r>
            <a:r>
              <a:rPr sz="1000">
                <a:solidFill>
                  <a:srgbClr val="94A3B8"/>
                </a:solidFill>
                <a:latin typeface="Arial"/>
              </a:rPr>
              <a:t>Stateless orchestration design deploys seamlessly on local control room industrial IPCs or cloud AWS/Azure.</a:t>
            </a:r>
          </a:p>
        </p:txBody>
      </p:sp>
      <p:sp>
        <p:nvSpPr>
          <p:cNvPr id="13" name="Rounded Rectangle 12"/>
          <p:cNvSpPr/>
          <p:nvPr/>
        </p:nvSpPr>
        <p:spPr>
          <a:xfrm>
            <a:off x="8119872" y="1645920"/>
            <a:ext cx="3337560" cy="4434840"/>
          </a:xfrm>
          <a:prstGeom prst="roundRect">
            <a:avLst/>
          </a:prstGeom>
          <a:solidFill>
            <a:srgbClr val="131D38"/>
          </a:solidFill>
          <a:ln w="15240">
            <a:solidFill>
              <a:srgbClr val="2D3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810512"/>
            <a:ext cx="2971800" cy="4105656"/>
          </a:xfrm>
          <a:prstGeom prst="rect">
            <a:avLst/>
          </a:prstGeom>
          <a:noFill/>
        </p:spPr>
        <p:txBody>
          <a:bodyPr wrap="square" lIns="0" tIns="0" rIns="0" bIns="0">
            <a:spAutoFit/>
          </a:bodyPr>
          <a:lstStyle/>
          <a:p>
            <a:pPr>
              <a:spcAft>
                <a:spcPts val="800"/>
              </a:spcAft>
              <a:defRPr sz="1300" b="1">
                <a:solidFill>
                  <a:srgbClr val="10B981"/>
                </a:solidFill>
                <a:latin typeface="Helvetica"/>
              </a:defRPr>
            </a:pPr>
            <a:r>
              <a:t>3. Engineering Rigor</a:t>
            </a:r>
          </a:p>
          <a:p>
            <a:pPr>
              <a:spcAft>
                <a:spcPts val="600"/>
              </a:spcAft>
            </a:pPr>
            <a:r>
              <a:rPr sz="1050" b="1">
                <a:solidFill>
                  <a:srgbClr val="FFFFFF"/>
                </a:solidFill>
                <a:latin typeface="Arial"/>
              </a:rPr>
              <a:t>• 57 Passing Tests: </a:t>
            </a:r>
            <a:r>
              <a:rPr sz="1000">
                <a:solidFill>
                  <a:srgbClr val="94A3B8"/>
                </a:solidFill>
                <a:latin typeface="Arial"/>
              </a:rPr>
              <a:t>Comprehensive test suite verifying physics, simulator, MILP solver, agents, and guardrails (pytest tests/ -v).</a:t>
            </a:r>
          </a:p>
          <a:p>
            <a:pPr>
              <a:spcAft>
                <a:spcPts val="600"/>
              </a:spcAft>
            </a:pPr>
            <a:r>
              <a:rPr sz="1050" b="1">
                <a:solidFill>
                  <a:srgbClr val="FFFFFF"/>
                </a:solidFill>
                <a:latin typeface="Arial"/>
              </a:rPr>
              <a:t>• Strict Config Separation: </a:t>
            </a:r>
            <a:r>
              <a:rPr sz="1000">
                <a:solidFill>
                  <a:srgbClr val="94A3B8"/>
                </a:solidFill>
                <a:latin typeface="Arial"/>
              </a:rPr>
              <a:t>Zero magic numbers; all asset specs, tariffs, and thresholds are isolated in config/*.yaml manifests.</a:t>
            </a:r>
          </a:p>
          <a:p>
            <a:pPr>
              <a:spcAft>
                <a:spcPts val="600"/>
              </a:spcAft>
            </a:pPr>
            <a:r>
              <a:rPr sz="1050" b="1">
                <a:solidFill>
                  <a:srgbClr val="FFFFFF"/>
                </a:solidFill>
                <a:latin typeface="Arial"/>
              </a:rPr>
              <a:t>• Zero Bloat Stack: </a:t>
            </a:r>
            <a:r>
              <a:rPr sz="1000">
                <a:solidFill>
                  <a:srgbClr val="94A3B8"/>
                </a:solidFill>
                <a:latin typeface="Arial"/>
              </a:rPr>
              <a:t>Pure Python, PuLP, Streamlit, and Pydantic. No heavyweight agent framework dependencies.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950" b="1">
                <a:solidFill>
                  <a:srgbClr val="38BDF8"/>
                </a:solidFill>
                <a:latin typeface="Helvetica"/>
              </a:defRPr>
            </a:pPr>
            <a:r>
              <a:t>SUBMISSION SUMMARY &amp; SCORECARD</a:t>
            </a:r>
          </a:p>
        </p:txBody>
      </p:sp>
      <p:sp>
        <p:nvSpPr>
          <p:cNvPr id="4" name="TextBox 3"/>
          <p:cNvSpPr txBox="1"/>
          <p:nvPr/>
        </p:nvSpPr>
        <p:spPr>
          <a:xfrm>
            <a:off x="731520" y="640080"/>
            <a:ext cx="10698480" cy="502920"/>
          </a:xfrm>
          <a:prstGeom prst="rect">
            <a:avLst/>
          </a:prstGeom>
          <a:noFill/>
        </p:spPr>
        <p:txBody>
          <a:bodyPr wrap="square" lIns="0" tIns="0" rIns="0" bIns="0">
            <a:spAutoFit/>
          </a:bodyPr>
          <a:lstStyle/>
          <a:p>
            <a:pPr>
              <a:defRPr sz="2200" b="1">
                <a:solidFill>
                  <a:srgbClr val="FFFFFF"/>
                </a:solidFill>
                <a:latin typeface="Helvetica"/>
              </a:defRPr>
            </a:pPr>
            <a:r>
              <a:t>Hackathon Evaluation Alignment Scorecard</a:t>
            </a:r>
          </a:p>
        </p:txBody>
      </p:sp>
      <p:sp>
        <p:nvSpPr>
          <p:cNvPr id="5" name="TextBox 4"/>
          <p:cNvSpPr txBox="1"/>
          <p:nvPr/>
        </p:nvSpPr>
        <p:spPr>
          <a:xfrm>
            <a:off x="731520" y="1170432"/>
            <a:ext cx="10698480" cy="365760"/>
          </a:xfrm>
          <a:prstGeom prst="rect">
            <a:avLst/>
          </a:prstGeom>
          <a:noFill/>
        </p:spPr>
        <p:txBody>
          <a:bodyPr wrap="square" lIns="0" tIns="0" rIns="0" bIns="0">
            <a:spAutoFit/>
          </a:bodyPr>
          <a:lstStyle/>
          <a:p>
            <a:pPr>
              <a:defRPr sz="1200">
                <a:solidFill>
                  <a:srgbClr val="94A3B8"/>
                </a:solidFill>
                <a:latin typeface="Arial"/>
              </a:defRPr>
            </a:pPr>
            <a:r>
              <a:t>Directly mapping GridMind deliverables against all 8 evaluation criteria and submission requirements</a:t>
            </a:r>
          </a:p>
        </p:txBody>
      </p:sp>
      <p:sp>
        <p:nvSpPr>
          <p:cNvPr id="6" name="Rectangle 5"/>
          <p:cNvSpPr/>
          <p:nvPr/>
        </p:nvSpPr>
        <p:spPr>
          <a:xfrm>
            <a:off x="731520" y="6309360"/>
            <a:ext cx="10728655" cy="13716"/>
          </a:xfrm>
          <a:prstGeom prst="rect">
            <a:avLst/>
          </a:prstGeom>
          <a:solidFill>
            <a:srgbClr val="2D3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82512"/>
            <a:ext cx="8229600" cy="274320"/>
          </a:xfrm>
          <a:prstGeom prst="rect">
            <a:avLst/>
          </a:prstGeom>
          <a:noFill/>
        </p:spPr>
        <p:txBody>
          <a:bodyPr wrap="none" lIns="0" tIns="0" rIns="0" bIns="0">
            <a:spAutoFit/>
          </a:bodyPr>
          <a:lstStyle/>
          <a:p>
            <a:pPr>
              <a:defRPr sz="900">
                <a:solidFill>
                  <a:srgbClr val="64748B"/>
                </a:solidFill>
                <a:latin typeface="Arial"/>
              </a:defRPr>
            </a:pPr>
            <a:r>
              <a:t>GridMind | Deccan Renewables Pvt. Ltd. (Karnataka) | Self-Assessment Claim: D2 / F3</a:t>
            </a:r>
          </a:p>
        </p:txBody>
      </p:sp>
      <p:sp>
        <p:nvSpPr>
          <p:cNvPr id="8" name="TextBox 7"/>
          <p:cNvSpPr txBox="1"/>
          <p:nvPr/>
        </p:nvSpPr>
        <p:spPr>
          <a:xfrm>
            <a:off x="10058400" y="6382512"/>
            <a:ext cx="1401775" cy="274320"/>
          </a:xfrm>
          <a:prstGeom prst="rect">
            <a:avLst/>
          </a:prstGeom>
          <a:noFill/>
        </p:spPr>
        <p:txBody>
          <a:bodyPr wrap="none" lIns="0" tIns="0" rIns="0" bIns="0">
            <a:spAutoFit/>
          </a:bodyPr>
          <a:lstStyle/>
          <a:p>
            <a:pPr algn="r">
              <a:defRPr sz="900" b="1">
                <a:solidFill>
                  <a:srgbClr val="94A3B8"/>
                </a:solidFill>
                <a:latin typeface="Arial"/>
              </a:defRPr>
            </a:pPr>
            <a:r>
              <a:t>Slide 16 of 16</a:t>
            </a:r>
          </a:p>
        </p:txBody>
      </p:sp>
      <p:graphicFrame>
        <p:nvGraphicFramePr>
          <p:cNvPr id="9" name="Table 8"/>
          <p:cNvGraphicFramePr>
            <a:graphicFrameLocks noGrp="1"/>
          </p:cNvGraphicFramePr>
          <p:nvPr/>
        </p:nvGraphicFramePr>
        <p:xfrm>
          <a:off x="731520" y="1645920"/>
          <a:ext cx="10728655" cy="4434840"/>
        </p:xfrm>
        <a:graphic>
          <a:graphicData uri="http://schemas.openxmlformats.org/drawingml/2006/table">
            <a:tbl>
              <a:tblPr firstRow="1" bandRow="1">
                <a:tableStyleId>{5C22544A-7EE6-4342-B048-85BDC9FD1C3A}</a:tableStyleId>
              </a:tblPr>
              <a:tblGrid>
                <a:gridCol w="2011680"/>
                <a:gridCol w="2834640"/>
                <a:gridCol w="3291840"/>
                <a:gridCol w="2590495"/>
              </a:tblGrid>
              <a:tr h="492760">
                <a:tc>
                  <a:txBody>
                    <a:bodyPr lIns="36576" tIns="36576"/>
                    <a:lstStyle/>
                    <a:p>
                      <a:pPr>
                        <a:defRPr sz="950" b="1">
                          <a:solidFill>
                            <a:srgbClr val="38BDF8"/>
                          </a:solidFill>
                          <a:latin typeface="Helvetica"/>
                        </a:defRPr>
                      </a:pPr>
                      <a:r>
                        <a:t>Evaluation Criterion</a:t>
                      </a:r>
                    </a:p>
                  </a:txBody>
                  <a:tcPr>
                    <a:solidFill>
                      <a:srgbClr val="2D3A5D"/>
                    </a:solidFill>
                  </a:tcPr>
                </a:tc>
                <a:tc>
                  <a:txBody>
                    <a:bodyPr lIns="36576" tIns="36576"/>
                    <a:lstStyle/>
                    <a:p>
                      <a:pPr>
                        <a:defRPr sz="950" b="1">
                          <a:solidFill>
                            <a:srgbClr val="38BDF8"/>
                          </a:solidFill>
                          <a:latin typeface="Helvetica"/>
                        </a:defRPr>
                      </a:pPr>
                      <a:r>
                        <a:t>Hackathon Requirement</a:t>
                      </a:r>
                    </a:p>
                  </a:txBody>
                  <a:tcPr>
                    <a:solidFill>
                      <a:srgbClr val="2D3A5D"/>
                    </a:solidFill>
                  </a:tcPr>
                </a:tc>
                <a:tc>
                  <a:txBody>
                    <a:bodyPr lIns="36576" tIns="36576"/>
                    <a:lstStyle/>
                    <a:p>
                      <a:pPr>
                        <a:defRPr sz="950" b="1">
                          <a:solidFill>
                            <a:srgbClr val="38BDF8"/>
                          </a:solidFill>
                          <a:latin typeface="Helvetica"/>
                        </a:defRPr>
                      </a:pPr>
                      <a:r>
                        <a:t>How GridMind Satisfies It</a:t>
                      </a:r>
                    </a:p>
                  </a:txBody>
                  <a:tcPr>
                    <a:solidFill>
                      <a:srgbClr val="2D3A5D"/>
                    </a:solidFill>
                  </a:tcPr>
                </a:tc>
                <a:tc>
                  <a:txBody>
                    <a:bodyPr lIns="36576" tIns="36576"/>
                    <a:lstStyle/>
                    <a:p>
                      <a:pPr>
                        <a:defRPr sz="950" b="1">
                          <a:solidFill>
                            <a:srgbClr val="38BDF8"/>
                          </a:solidFill>
                          <a:latin typeface="Helvetica"/>
                        </a:defRPr>
                      </a:pPr>
                      <a:r>
                        <a:t>Verifiable Evidence</a:t>
                      </a:r>
                    </a:p>
                  </a:txBody>
                  <a:tcPr>
                    <a:solidFill>
                      <a:srgbClr val="2D3A5D"/>
                    </a:solidFill>
                  </a:tcPr>
                </a:tc>
              </a:tr>
              <a:tr h="492760">
                <a:tc>
                  <a:txBody>
                    <a:bodyPr lIns="27432" tIns="27432"/>
                    <a:lstStyle/>
                    <a:p>
                      <a:pPr>
                        <a:defRPr sz="850" b="1">
                          <a:solidFill>
                            <a:srgbClr val="FFFFFF"/>
                          </a:solidFill>
                          <a:latin typeface="Arial"/>
                        </a:defRPr>
                      </a:pPr>
                      <a:r>
                        <a:t>1. Significance &amp; Relevance</a:t>
                      </a:r>
                    </a:p>
                  </a:txBody>
                  <a:tcPr>
                    <a:solidFill>
                      <a:srgbClr val="131D38"/>
                    </a:solidFill>
                  </a:tcPr>
                </a:tc>
                <a:tc>
                  <a:txBody>
                    <a:bodyPr lIns="27432" tIns="27432"/>
                    <a:lstStyle/>
                    <a:p>
                      <a:pPr>
                        <a:defRPr sz="850">
                          <a:solidFill>
                            <a:srgbClr val="94A3B8"/>
                          </a:solidFill>
                          <a:latin typeface="Arial"/>
                        </a:defRPr>
                      </a:pPr>
                      <a:r>
                        <a:t>Genuine business need connected to core problem</a:t>
                      </a:r>
                    </a:p>
                  </a:txBody>
                  <a:tcPr>
                    <a:solidFill>
                      <a:srgbClr val="131D38"/>
                    </a:solidFill>
                  </a:tcPr>
                </a:tc>
                <a:tc>
                  <a:txBody>
                    <a:bodyPr lIns="27432" tIns="27432"/>
                    <a:lstStyle/>
                    <a:p>
                      <a:pPr>
                        <a:defRPr sz="850">
                          <a:solidFill>
                            <a:srgbClr val="94A3B8"/>
                          </a:solidFill>
                          <a:latin typeface="Arial"/>
                        </a:defRPr>
                      </a:pPr>
                      <a:r>
                        <a:t>Solves 15-min dispatch crisis for Deccan Renewables (Karnataka)</a:t>
                      </a:r>
                    </a:p>
                  </a:txBody>
                  <a:tcPr>
                    <a:solidFill>
                      <a:srgbClr val="131D38"/>
                    </a:solidFill>
                  </a:tcPr>
                </a:tc>
                <a:tc>
                  <a:txBody>
                    <a:bodyPr lIns="27432" tIns="27432"/>
                    <a:lstStyle/>
                    <a:p>
                      <a:pPr>
                        <a:defRPr sz="850" b="1">
                          <a:solidFill>
                            <a:srgbClr val="10B981"/>
                          </a:solidFill>
                          <a:latin typeface="Arial"/>
                        </a:defRPr>
                      </a:pPr>
                      <a:r>
                        <a:t>₹18.2M/day operating savings; 88.7% penalty reduction</a:t>
                      </a:r>
                    </a:p>
                  </a:txBody>
                  <a:tcPr>
                    <a:solidFill>
                      <a:srgbClr val="131D38"/>
                    </a:solidFill>
                  </a:tcPr>
                </a:tc>
              </a:tr>
              <a:tr h="492760">
                <a:tc>
                  <a:txBody>
                    <a:bodyPr lIns="27432" tIns="27432"/>
                    <a:lstStyle/>
                    <a:p>
                      <a:pPr>
                        <a:defRPr sz="850" b="1">
                          <a:solidFill>
                            <a:srgbClr val="FFFFFF"/>
                          </a:solidFill>
                          <a:latin typeface="Arial"/>
                        </a:defRPr>
                      </a:pPr>
                      <a:r>
                        <a:t>2. Innovation &amp; Originality</a:t>
                      </a:r>
                    </a:p>
                  </a:txBody>
                  <a:tcPr>
                    <a:solidFill>
                      <a:srgbClr val="0F172A"/>
                    </a:solidFill>
                  </a:tcPr>
                </a:tc>
                <a:tc>
                  <a:txBody>
                    <a:bodyPr lIns="27432" tIns="27432"/>
                    <a:lstStyle/>
                    <a:p>
                      <a:pPr>
                        <a:defRPr sz="850">
                          <a:solidFill>
                            <a:srgbClr val="94A3B8"/>
                          </a:solidFill>
                          <a:latin typeface="Arial"/>
                        </a:defRPr>
                      </a:pPr>
                      <a:r>
                        <a:t>Creative approach vs conventional tools</a:t>
                      </a:r>
                    </a:p>
                  </a:txBody>
                  <a:tcPr>
                    <a:solidFill>
                      <a:srgbClr val="0F172A"/>
                    </a:solidFill>
                  </a:tcPr>
                </a:tc>
                <a:tc>
                  <a:txBody>
                    <a:bodyPr lIns="27432" tIns="27432"/>
                    <a:lstStyle/>
                    <a:p>
                      <a:pPr>
                        <a:defRPr sz="850">
                          <a:solidFill>
                            <a:srgbClr val="94A3B8"/>
                          </a:solidFill>
                          <a:latin typeface="Arial"/>
                        </a:defRPr>
                      </a:pPr>
                      <a:r>
                        <a:t>Neuro-symbolic coupling: Gemini reasoning + PuLP MILP optimization</a:t>
                      </a:r>
                    </a:p>
                  </a:txBody>
                  <a:tcPr>
                    <a:solidFill>
                      <a:srgbClr val="0F172A"/>
                    </a:solidFill>
                  </a:tcPr>
                </a:tc>
                <a:tc>
                  <a:txBody>
                    <a:bodyPr lIns="27432" tIns="27432"/>
                    <a:lstStyle/>
                    <a:p>
                      <a:pPr>
                        <a:defRPr sz="850" b="1">
                          <a:solidFill>
                            <a:srgbClr val="10B981"/>
                          </a:solidFill>
                          <a:latin typeface="Arial"/>
                        </a:defRPr>
                      </a:pPr>
                      <a:r>
                        <a:t>LLM tunes weights &amp; evaluates risk; solver guarantees physics</a:t>
                      </a:r>
                    </a:p>
                  </a:txBody>
                  <a:tcPr>
                    <a:solidFill>
                      <a:srgbClr val="0F172A"/>
                    </a:solidFill>
                  </a:tcPr>
                </a:tc>
              </a:tr>
              <a:tr h="492760">
                <a:tc>
                  <a:txBody>
                    <a:bodyPr lIns="27432" tIns="27432"/>
                    <a:lstStyle/>
                    <a:p>
                      <a:pPr>
                        <a:defRPr sz="850" b="1">
                          <a:solidFill>
                            <a:srgbClr val="FFFFFF"/>
                          </a:solidFill>
                          <a:latin typeface="Arial"/>
                        </a:defRPr>
                      </a:pPr>
                      <a:r>
                        <a:t>3. Effective Use of AI</a:t>
                      </a:r>
                    </a:p>
                  </a:txBody>
                  <a:tcPr>
                    <a:solidFill>
                      <a:srgbClr val="131D38"/>
                    </a:solidFill>
                  </a:tcPr>
                </a:tc>
                <a:tc>
                  <a:txBody>
                    <a:bodyPr lIns="27432" tIns="27432"/>
                    <a:lstStyle/>
                    <a:p>
                      <a:pPr>
                        <a:defRPr sz="850">
                          <a:solidFill>
                            <a:srgbClr val="94A3B8"/>
                          </a:solidFill>
                          <a:latin typeface="Arial"/>
                        </a:defRPr>
                      </a:pPr>
                      <a:r>
                        <a:t>AI is central, not merely bolted on</a:t>
                      </a:r>
                    </a:p>
                  </a:txBody>
                  <a:tcPr>
                    <a:solidFill>
                      <a:srgbClr val="131D38"/>
                    </a:solidFill>
                  </a:tcPr>
                </a:tc>
                <a:tc>
                  <a:txBody>
                    <a:bodyPr lIns="27432" tIns="27432"/>
                    <a:lstStyle/>
                    <a:p>
                      <a:pPr>
                        <a:defRPr sz="850">
                          <a:solidFill>
                            <a:srgbClr val="94A3B8"/>
                          </a:solidFill>
                          <a:latin typeface="Arial"/>
                        </a:defRPr>
                      </a:pPr>
                      <a:r>
                        <a:t>Multi-agent triad (Monitor, Strategist, Explainer) drives adaptive strategy</a:t>
                      </a:r>
                    </a:p>
                  </a:txBody>
                  <a:tcPr>
                    <a:solidFill>
                      <a:srgbClr val="131D38"/>
                    </a:solidFill>
                  </a:tcPr>
                </a:tc>
                <a:tc>
                  <a:txBody>
                    <a:bodyPr lIns="27432" tIns="27432"/>
                    <a:lstStyle/>
                    <a:p>
                      <a:pPr>
                        <a:defRPr sz="850" b="1">
                          <a:solidFill>
                            <a:srgbClr val="10B981"/>
                          </a:solidFill>
                          <a:latin typeface="Arial"/>
                        </a:defRPr>
                      </a:pPr>
                      <a:r>
                        <a:t>Dynamic mode shifts &amp; bounded tool-calling loop</a:t>
                      </a:r>
                    </a:p>
                  </a:txBody>
                  <a:tcPr>
                    <a:solidFill>
                      <a:srgbClr val="131D38"/>
                    </a:solidFill>
                  </a:tcPr>
                </a:tc>
              </a:tr>
              <a:tr h="492760">
                <a:tc>
                  <a:txBody>
                    <a:bodyPr lIns="27432" tIns="27432"/>
                    <a:lstStyle/>
                    <a:p>
                      <a:pPr>
                        <a:defRPr sz="850" b="1">
                          <a:solidFill>
                            <a:srgbClr val="FFFFFF"/>
                          </a:solidFill>
                          <a:latin typeface="Arial"/>
                        </a:defRPr>
                      </a:pPr>
                      <a:r>
                        <a:t>4. Technical Complexity</a:t>
                      </a:r>
                    </a:p>
                  </a:txBody>
                  <a:tcPr>
                    <a:solidFill>
                      <a:srgbClr val="0F172A"/>
                    </a:solidFill>
                  </a:tcPr>
                </a:tc>
                <a:tc>
                  <a:txBody>
                    <a:bodyPr lIns="27432" tIns="27432"/>
                    <a:lstStyle/>
                    <a:p>
                      <a:pPr>
                        <a:defRPr sz="850">
                          <a:solidFill>
                            <a:srgbClr val="94A3B8"/>
                          </a:solidFill>
                          <a:latin typeface="Arial"/>
                        </a:defRPr>
                      </a:pPr>
                      <a:r>
                        <a:t>Quality of architecture, algorithms &amp; pipelines</a:t>
                      </a:r>
                    </a:p>
                  </a:txBody>
                  <a:tcPr>
                    <a:solidFill>
                      <a:srgbClr val="0F172A"/>
                    </a:solidFill>
                  </a:tcPr>
                </a:tc>
                <a:tc>
                  <a:txBody>
                    <a:bodyPr lIns="27432" tIns="27432"/>
                    <a:lstStyle/>
                    <a:p>
                      <a:pPr>
                        <a:defRPr sz="850">
                          <a:solidFill>
                            <a:srgbClr val="94A3B8"/>
                          </a:solidFill>
                          <a:latin typeface="Arial"/>
                        </a:defRPr>
                      </a:pPr>
                      <a:r>
                        <a:t>Rolling 32-interval MPC, multi-quantile cones, Monte Carlo tail risk</a:t>
                      </a:r>
                    </a:p>
                  </a:txBody>
                  <a:tcPr>
                    <a:solidFill>
                      <a:srgbClr val="0F172A"/>
                    </a:solidFill>
                  </a:tcPr>
                </a:tc>
                <a:tc>
                  <a:txBody>
                    <a:bodyPr lIns="27432" tIns="27432"/>
                    <a:lstStyle/>
                    <a:p>
                      <a:pPr>
                        <a:defRPr sz="850" b="1">
                          <a:solidFill>
                            <a:srgbClr val="10B981"/>
                          </a:solidFill>
                          <a:latin typeface="Arial"/>
                        </a:defRPr>
                      </a:pPr>
                      <a:r>
                        <a:t>57 passing pytest unit/integration tests</a:t>
                      </a:r>
                    </a:p>
                  </a:txBody>
                  <a:tcPr>
                    <a:solidFill>
                      <a:srgbClr val="0F172A"/>
                    </a:solidFill>
                  </a:tcPr>
                </a:tc>
              </a:tr>
              <a:tr h="492760">
                <a:tc>
                  <a:txBody>
                    <a:bodyPr lIns="27432" tIns="27432"/>
                    <a:lstStyle/>
                    <a:p>
                      <a:pPr>
                        <a:defRPr sz="850" b="1">
                          <a:solidFill>
                            <a:srgbClr val="FFFFFF"/>
                          </a:solidFill>
                          <a:latin typeface="Arial"/>
                        </a:defRPr>
                      </a:pPr>
                      <a:r>
                        <a:t>5. Agentic Capability</a:t>
                      </a:r>
                    </a:p>
                  </a:txBody>
                  <a:tcPr>
                    <a:solidFill>
                      <a:srgbClr val="131D38"/>
                    </a:solidFill>
                  </a:tcPr>
                </a:tc>
                <a:tc>
                  <a:txBody>
                    <a:bodyPr lIns="27432" tIns="27432"/>
                    <a:lstStyle/>
                    <a:p>
                      <a:pPr>
                        <a:defRPr sz="850">
                          <a:solidFill>
                            <a:srgbClr val="94A3B8"/>
                          </a:solidFill>
                          <a:latin typeface="Arial"/>
                        </a:defRPr>
                      </a:pPr>
                      <a:r>
                        <a:t>Reasons, plans, uses tools, self-heals, operates autonomously</a:t>
                      </a:r>
                    </a:p>
                  </a:txBody>
                  <a:tcPr>
                    <a:solidFill>
                      <a:srgbClr val="131D38"/>
                    </a:solidFill>
                  </a:tcPr>
                </a:tc>
                <a:tc>
                  <a:txBody>
                    <a:bodyPr lIns="27432" tIns="27432"/>
                    <a:lstStyle/>
                    <a:p>
                      <a:pPr>
                        <a:defRPr sz="850">
                          <a:solidFill>
                            <a:srgbClr val="94A3B8"/>
                          </a:solidFill>
                          <a:latin typeface="Arial"/>
                        </a:defRPr>
                      </a:pPr>
                      <a:r>
                        <a:t>Strategy Agent calls tools (run_milp, evaluate_risk) &amp; self-corrects</a:t>
                      </a:r>
                    </a:p>
                  </a:txBody>
                  <a:tcPr>
                    <a:solidFill>
                      <a:srgbClr val="131D38"/>
                    </a:solidFill>
                  </a:tcPr>
                </a:tc>
                <a:tc>
                  <a:txBody>
                    <a:bodyPr lIns="27432" tIns="27432"/>
                    <a:lstStyle/>
                    <a:p>
                      <a:pPr>
                        <a:defRPr sz="850" b="1">
                          <a:solidFill>
                            <a:srgbClr val="10B981"/>
                          </a:solidFill>
                          <a:latin typeface="Arial"/>
                        </a:defRPr>
                      </a:pPr>
                      <a:r>
                        <a:t>Guardrail feedback loop with 2 autonomous retries</a:t>
                      </a:r>
                    </a:p>
                  </a:txBody>
                  <a:tcPr>
                    <a:solidFill>
                      <a:srgbClr val="131D38"/>
                    </a:solidFill>
                  </a:tcPr>
                </a:tc>
              </a:tr>
              <a:tr h="492760">
                <a:tc>
                  <a:txBody>
                    <a:bodyPr lIns="27432" tIns="27432"/>
                    <a:lstStyle/>
                    <a:p>
                      <a:pPr>
                        <a:defRPr sz="850" b="1">
                          <a:solidFill>
                            <a:srgbClr val="FFFFFF"/>
                          </a:solidFill>
                          <a:latin typeface="Arial"/>
                        </a:defRPr>
                      </a:pPr>
                      <a:r>
                        <a:t>6. Business Impact</a:t>
                      </a:r>
                    </a:p>
                  </a:txBody>
                  <a:tcPr>
                    <a:solidFill>
                      <a:srgbClr val="0F172A"/>
                    </a:solidFill>
                  </a:tcPr>
                </a:tc>
                <a:tc>
                  <a:txBody>
                    <a:bodyPr lIns="27432" tIns="27432"/>
                    <a:lstStyle/>
                    <a:p>
                      <a:pPr>
                        <a:defRPr sz="850">
                          <a:solidFill>
                            <a:srgbClr val="94A3B8"/>
                          </a:solidFill>
                          <a:latin typeface="Arial"/>
                        </a:defRPr>
                      </a:pPr>
                      <a:r>
                        <a:t>Measurable improvement in cost, risk, sustainability</a:t>
                      </a:r>
                    </a:p>
                  </a:txBody>
                  <a:tcPr>
                    <a:solidFill>
                      <a:srgbClr val="0F172A"/>
                    </a:solidFill>
                  </a:tcPr>
                </a:tc>
                <a:tc>
                  <a:txBody>
                    <a:bodyPr lIns="27432" tIns="27432"/>
                    <a:lstStyle/>
                    <a:p>
                      <a:pPr>
                        <a:defRPr sz="850">
                          <a:solidFill>
                            <a:srgbClr val="94A3B8"/>
                          </a:solidFill>
                          <a:latin typeface="Arial"/>
                        </a:defRPr>
                      </a:pPr>
                      <a:r>
                        <a:t>Dramatic cost reduction, clean energy utilization, contract delivery</a:t>
                      </a:r>
                    </a:p>
                  </a:txBody>
                  <a:tcPr>
                    <a:solidFill>
                      <a:srgbClr val="0F172A"/>
                    </a:solidFill>
                  </a:tcPr>
                </a:tc>
                <a:tc>
                  <a:txBody>
                    <a:bodyPr lIns="27432" tIns="27432"/>
                    <a:lstStyle/>
                    <a:p>
                      <a:pPr>
                        <a:defRPr sz="850" b="1">
                          <a:solidFill>
                            <a:srgbClr val="10B981"/>
                          </a:solidFill>
                          <a:latin typeface="Arial"/>
                        </a:defRPr>
                      </a:pPr>
                      <a:r>
                        <a:t>-44.5% net cost, -88.7% shortfalls, 100% critical load protection</a:t>
                      </a:r>
                    </a:p>
                  </a:txBody>
                  <a:tcPr>
                    <a:solidFill>
                      <a:srgbClr val="0F172A"/>
                    </a:solidFill>
                  </a:tcPr>
                </a:tc>
              </a:tr>
              <a:tr h="492760">
                <a:tc>
                  <a:txBody>
                    <a:bodyPr lIns="27432" tIns="27432"/>
                    <a:lstStyle/>
                    <a:p>
                      <a:pPr>
                        <a:defRPr sz="850" b="1">
                          <a:solidFill>
                            <a:srgbClr val="FFFFFF"/>
                          </a:solidFill>
                          <a:latin typeface="Arial"/>
                        </a:defRPr>
                      </a:pPr>
                      <a:r>
                        <a:t>7. Prototype Usability</a:t>
                      </a:r>
                    </a:p>
                  </a:txBody>
                  <a:tcPr>
                    <a:solidFill>
                      <a:srgbClr val="131D38"/>
                    </a:solidFill>
                  </a:tcPr>
                </a:tc>
                <a:tc>
                  <a:txBody>
                    <a:bodyPr lIns="27432" tIns="27432"/>
                    <a:lstStyle/>
                    <a:p>
                      <a:pPr>
                        <a:defRPr sz="850">
                          <a:solidFill>
                            <a:srgbClr val="94A3B8"/>
                          </a:solidFill>
                          <a:latin typeface="Arial"/>
                        </a:defRPr>
                      </a:pPr>
                      <a:r>
                        <a:t>Working, intuitive, demonstrable prototype</a:t>
                      </a:r>
                    </a:p>
                  </a:txBody>
                  <a:tcPr>
                    <a:solidFill>
                      <a:srgbClr val="131D38"/>
                    </a:solidFill>
                  </a:tcPr>
                </a:tc>
                <a:tc>
                  <a:txBody>
                    <a:bodyPr lIns="27432" tIns="27432"/>
                    <a:lstStyle/>
                    <a:p>
                      <a:pPr>
                        <a:defRPr sz="850">
                          <a:solidFill>
                            <a:srgbClr val="94A3B8"/>
                          </a:solidFill>
                          <a:latin typeface="Arial"/>
                        </a:defRPr>
                      </a:pPr>
                      <a:r>
                        <a:t>8-page interactive Streamlit Control Room application</a:t>
                      </a:r>
                    </a:p>
                  </a:txBody>
                  <a:tcPr>
                    <a:solidFill>
                      <a:srgbClr val="131D38"/>
                    </a:solidFill>
                  </a:tcPr>
                </a:tc>
                <a:tc>
                  <a:txBody>
                    <a:bodyPr lIns="27432" tIns="27432"/>
                    <a:lstStyle/>
                    <a:p>
                      <a:pPr>
                        <a:defRPr sz="850" b="1">
                          <a:solidFill>
                            <a:srgbClr val="10B981"/>
                          </a:solidFill>
                          <a:latin typeface="Arial"/>
                        </a:defRPr>
                      </a:pPr>
                      <a:r>
                        <a:t>One-command local launch (./scripts/run_demo.sh)</a:t>
                      </a:r>
                    </a:p>
                  </a:txBody>
                  <a:tcPr>
                    <a:solidFill>
                      <a:srgbClr val="131D38"/>
                    </a:solidFill>
                  </a:tcPr>
                </a:tc>
              </a:tr>
              <a:tr h="492760">
                <a:tc>
                  <a:txBody>
                    <a:bodyPr lIns="27432" tIns="27432"/>
                    <a:lstStyle/>
                    <a:p>
                      <a:pPr>
                        <a:defRPr sz="850" b="1">
                          <a:solidFill>
                            <a:srgbClr val="FFFFFF"/>
                          </a:solidFill>
                          <a:latin typeface="Arial"/>
                        </a:defRPr>
                      </a:pPr>
                      <a:r>
                        <a:t>8. Scalability &amp; Governance</a:t>
                      </a:r>
                    </a:p>
                  </a:txBody>
                  <a:tcPr>
                    <a:solidFill>
                      <a:srgbClr val="0F172A"/>
                    </a:solidFill>
                  </a:tcPr>
                </a:tc>
                <a:tc>
                  <a:txBody>
                    <a:bodyPr lIns="27432" tIns="27432"/>
                    <a:lstStyle/>
                    <a:p>
                      <a:pPr>
                        <a:defRPr sz="850">
                          <a:solidFill>
                            <a:srgbClr val="94A3B8"/>
                          </a:solidFill>
                          <a:latin typeface="Arial"/>
                        </a:defRPr>
                      </a:pPr>
                      <a:r>
                        <a:t>Responsible AI, robustness, human oversight</a:t>
                      </a:r>
                    </a:p>
                  </a:txBody>
                  <a:tcPr>
                    <a:solidFill>
                      <a:srgbClr val="0F172A"/>
                    </a:solidFill>
                  </a:tcPr>
                </a:tc>
                <a:tc>
                  <a:txBody>
                    <a:bodyPr lIns="27432" tIns="27432"/>
                    <a:lstStyle/>
                    <a:p>
                      <a:pPr>
                        <a:defRPr sz="850">
                          <a:solidFill>
                            <a:srgbClr val="94A3B8"/>
                          </a:solidFill>
                          <a:latin typeface="Arial"/>
                        </a:defRPr>
                      </a:pPr>
                      <a:r>
                        <a:t>D2/F3 proven, deterministic guardrails, approval gates, offline mode</a:t>
                      </a:r>
                    </a:p>
                  </a:txBody>
                  <a:tcPr>
                    <a:solidFill>
                      <a:srgbClr val="0F172A"/>
                    </a:solidFill>
                  </a:tcPr>
                </a:tc>
                <a:tc>
                  <a:txBody>
                    <a:bodyPr lIns="27432" tIns="27432"/>
                    <a:lstStyle/>
                    <a:p>
                      <a:pPr>
                        <a:defRPr sz="850" b="1">
                          <a:solidFill>
                            <a:srgbClr val="10B981"/>
                          </a:solidFill>
                          <a:latin typeface="Arial"/>
                        </a:defRPr>
                      </a:pPr>
                      <a:r>
                        <a:t>0 violations over 2,880 intervals; 100% offline mock fallback</a:t>
                      </a:r>
                    </a:p>
                  </a:txBody>
                  <a:tcPr>
                    <a:solidFill>
                      <a:srgbClr val="0F172A"/>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